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4" r:id="rId6"/>
    <p:sldId id="260" r:id="rId7"/>
    <p:sldId id="262" r:id="rId8"/>
    <p:sldId id="263" r:id="rId9"/>
    <p:sldId id="266" r:id="rId10"/>
    <p:sldId id="292" r:id="rId11"/>
    <p:sldId id="282" r:id="rId12"/>
    <p:sldId id="283" r:id="rId13"/>
    <p:sldId id="284" r:id="rId14"/>
    <p:sldId id="285" r:id="rId15"/>
    <p:sldId id="293" r:id="rId16"/>
    <p:sldId id="286" r:id="rId17"/>
    <p:sldId id="287" r:id="rId18"/>
    <p:sldId id="288" r:id="rId19"/>
    <p:sldId id="289" r:id="rId20"/>
    <p:sldId id="290" r:id="rId21"/>
    <p:sldId id="291" r:id="rId22"/>
    <p:sldId id="294" r:id="rId23"/>
    <p:sldId id="274" r:id="rId24"/>
    <p:sldId id="275" r:id="rId25"/>
    <p:sldId id="276" r:id="rId26"/>
    <p:sldId id="277" r:id="rId27"/>
    <p:sldId id="278" r:id="rId28"/>
    <p:sldId id="279" r:id="rId29"/>
    <p:sldId id="280" r:id="rId30"/>
    <p:sldId id="281" r:id="rId31"/>
    <p:sldId id="261" r:id="rId32"/>
    <p:sldId id="265" r:id="rId33"/>
  </p:sldIdLst>
  <p:sldSz cx="9144000" cy="5143500" type="screen16x9"/>
  <p:notesSz cx="6858000" cy="9144000"/>
  <p:defaultTextStyle>
    <a:defPPr>
      <a:defRPr lang="en-US"/>
    </a:defPPr>
    <a:lvl1pPr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snapToObjects="1">
      <p:cViewPr>
        <p:scale>
          <a:sx n="106" d="100"/>
          <a:sy n="106" d="100"/>
        </p:scale>
        <p:origin x="802" y="2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480A359-2FB3-4847-9D97-3491754AA7F9}" type="datetimeFigureOut">
              <a:rPr lang="en-US"/>
              <a:pPr>
                <a:defRPr/>
              </a:pPr>
              <a:t>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788444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128603A-2399-D64A-8203-C8F297F981E8}" type="datetimeFigureOut">
              <a:rPr lang="en-US"/>
              <a:pPr>
                <a:defRPr/>
              </a:pPr>
              <a:t>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25754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035563"/>
            <a:ext cx="7772400" cy="1021556"/>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5CF71F39-3D09-F149-B1A1-DC2A7DB4A435}" type="datetimeFigureOut">
              <a:rPr lang="en-US"/>
              <a:pPr>
                <a:defRPr/>
              </a:pPr>
              <a:t>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3944886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76377"/>
            <a:ext cx="4038600" cy="31182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76377"/>
            <a:ext cx="4038600" cy="311824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7E7E973-E761-9943-801C-DE1E51E28431}" type="datetimeFigureOut">
              <a:rPr lang="en-US"/>
              <a:pPr>
                <a:defRPr/>
              </a:pPr>
              <a:t>2/5/2025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1785265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3" y="650504"/>
            <a:ext cx="8229600" cy="801290"/>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18ACE534-2B3A-FA4B-B87A-8AC244117610}" type="datetimeFigureOut">
              <a:rPr lang="en-US"/>
              <a:pPr>
                <a:defRPr/>
              </a:pPr>
              <a:t>2/5/2025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760394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2CDFFB5-C0BC-DE4D-9A38-E0EE75FC9E15}" type="datetimeFigureOut">
              <a:rPr lang="en-US"/>
              <a:pPr>
                <a:defRPr/>
              </a:pPr>
              <a:t>2/5/2025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876286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F42570F-F7E3-1F40-B6F3-59FE945D5A70}" type="datetimeFigureOut">
              <a:rPr lang="en-US"/>
              <a:pPr>
                <a:defRPr/>
              </a:pPr>
              <a:t>2/5/2025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779307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371E9B0-C3DF-544F-BB14-A487ECCC7F43}" type="datetimeFigureOut">
              <a:rPr lang="en-US"/>
              <a:pPr>
                <a:defRPr/>
              </a:pPr>
              <a:t>2/5/2025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4059402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1792288" y="459581"/>
            <a:ext cx="5486400" cy="30861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5C4B1CF-5E0C-5D41-A3E2-D78942339385}" type="datetimeFigureOut">
              <a:rPr lang="en-US"/>
              <a:pPr>
                <a:defRPr/>
              </a:pPr>
              <a:t>2/5/2025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1214909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3BC5DAC-1A13-D34F-9418-D6257772B49C}" type="datetimeFigureOut">
              <a:rPr lang="en-US"/>
              <a:pPr>
                <a:defRPr/>
              </a:pPr>
              <a:t>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2154696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4EC0D93-568E-6D41-8E6D-0963A71A503C}" type="datetimeFigureOut">
              <a:rPr lang="en-US"/>
              <a:pPr>
                <a:defRPr/>
              </a:pPr>
              <a:t>2/5/2025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826510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675085"/>
            <a:ext cx="8229600" cy="8012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457200" y="2266950"/>
            <a:ext cx="8229600" cy="23276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C944504B-B211-B34D-97AF-78446C71FCDD}" type="datetimeFigureOut">
              <a:rPr lang="en-US" smtClean="0"/>
              <a:pPr>
                <a:defRPr/>
              </a:pPr>
              <a:t>2/5/2025</a:t>
            </a:fld>
            <a:endParaRPr lang="en-US" dirty="0"/>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9152194" cy="4572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36.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80.png"/><Relationship Id="rId2" Type="http://schemas.openxmlformats.org/officeDocument/2006/relationships/image" Target="../media/image50.jpe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360.png"/><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90.png"/><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56.png"/><Relationship Id="rId4" Type="http://schemas.openxmlformats.org/officeDocument/2006/relationships/image" Target="../media/image55.png"/></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40.png"/><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8" Type="http://schemas.openxmlformats.org/officeDocument/2006/relationships/hyperlink" Target="https://ieeexplore.ieee.org/stamp/stamp.jsp?tp=&amp;arnumber=8790566" TargetMode="External"/><Relationship Id="rId3" Type="http://schemas.openxmlformats.org/officeDocument/2006/relationships/hyperlink" Target="https://www.mathworks.com/help/simscape-battery/ref/battery_equivalent_circuit_eq_circ.png" TargetMode="External"/><Relationship Id="rId7" Type="http://schemas.openxmlformats.org/officeDocument/2006/relationships/hyperlink" Target="https://www.researchgate.net/publication/224160572_DC-bus_power_quality_for_UAV_systems_during_generator_fault_conditions" TargetMode="External"/><Relationship Id="rId2" Type="http://schemas.openxmlformats.org/officeDocument/2006/relationships/hyperlink" Target="https://www.materialsciencejournal.org/vol17no2/effect-of-temperature-on-the-performance-factors-and-durability-of-proton-exchange-membrane-of-hydrogen-fuel-cell-a-narrative-review/" TargetMode="External"/><Relationship Id="rId1" Type="http://schemas.openxmlformats.org/officeDocument/2006/relationships/slideLayout" Target="../slideLayouts/slideLayout2.xml"/><Relationship Id="rId6" Type="http://schemas.openxmlformats.org/officeDocument/2006/relationships/hyperlink" Target="https://papers.ssrn.com/sol3/papers.cfm?abstract_id=4324196" TargetMode="External"/><Relationship Id="rId11" Type="http://schemas.openxmlformats.org/officeDocument/2006/relationships/hyperlink" Target="https://www.sciencedirect.com/science/article/pii/S2666202721000483?ref=pdf_download&amp;fr=RR-2&amp;rr=909f81bf0d50b06f" TargetMode="External"/><Relationship Id="rId5" Type="http://schemas.openxmlformats.org/officeDocument/2006/relationships/hyperlink" Target="https://encrypted-tbn0.gstatic.com/images?q=tbn:ANd9GcT6kA8P3x9AP0CHlhJGe0KIkXjnj0ySXrv_Ng&amp;s" TargetMode="External"/><Relationship Id="rId10" Type="http://schemas.openxmlformats.org/officeDocument/2006/relationships/hyperlink" Target="https://www.mdpi.com/1996-1073/16/3/1306#:~:text=SPMSMs%20use%20only%20magnetic%20torque,wide%20compared%20with%20the%20SPMSM" TargetMode="External"/><Relationship Id="rId4" Type="http://schemas.openxmlformats.org/officeDocument/2006/relationships/hyperlink" Target="https://www.ufinebattery.com/blog/drone-batteries-everything-you-need-to-know/" TargetMode="External"/><Relationship Id="rId9" Type="http://schemas.openxmlformats.org/officeDocument/2006/relationships/hyperlink" Target="https://www.sciencedirect.com/science/article/pii/S1361920920308531"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Title 1"/>
          <p:cNvSpPr>
            <a:spLocks noGrp="1"/>
          </p:cNvSpPr>
          <p:nvPr>
            <p:ph type="ctrTitle"/>
          </p:nvPr>
        </p:nvSpPr>
        <p:spPr/>
        <p:txBody>
          <a:bodyPr/>
          <a:lstStyle/>
          <a:p>
            <a:r>
              <a:rPr lang="en-US" u="sng" dirty="0">
                <a:latin typeface="Arial" charset="0"/>
              </a:rPr>
              <a:t>Powering The Modern UAV Architecture</a:t>
            </a:r>
          </a:p>
        </p:txBody>
      </p:sp>
      <p:sp>
        <p:nvSpPr>
          <p:cNvPr id="3" name="Subtitle 2"/>
          <p:cNvSpPr>
            <a:spLocks noGrp="1"/>
          </p:cNvSpPr>
          <p:nvPr>
            <p:ph type="subTitle" idx="1"/>
          </p:nvPr>
        </p:nvSpPr>
        <p:spPr/>
        <p:txBody>
          <a:bodyPr rtlCol="0">
            <a:normAutofit fontScale="85000" lnSpcReduction="20000"/>
          </a:bodyPr>
          <a:lstStyle/>
          <a:p>
            <a:pPr fontAlgn="auto">
              <a:spcAft>
                <a:spcPts val="0"/>
              </a:spcAft>
              <a:buFont typeface="Arial"/>
              <a:buNone/>
              <a:defRPr/>
            </a:pPr>
            <a:r>
              <a:rPr lang="en-US" dirty="0">
                <a:ea typeface="+mn-ea"/>
              </a:rPr>
              <a:t>Presented by: Abhishek Deshpande</a:t>
            </a:r>
          </a:p>
          <a:p>
            <a:pPr fontAlgn="auto">
              <a:spcAft>
                <a:spcPts val="0"/>
              </a:spcAft>
              <a:buFont typeface="Arial"/>
              <a:buNone/>
              <a:defRPr/>
            </a:pPr>
            <a:r>
              <a:rPr lang="en-US" dirty="0">
                <a:ea typeface="+mn-ea"/>
              </a:rPr>
              <a:t> Project In-charge: Dr. Zeljko Pantic</a:t>
            </a:r>
          </a:p>
          <a:p>
            <a:pPr fontAlgn="auto">
              <a:spcAft>
                <a:spcPts val="0"/>
              </a:spcAft>
              <a:buFont typeface="Arial"/>
              <a:buNone/>
              <a:defRPr/>
            </a:pPr>
            <a:r>
              <a:rPr lang="en-US" dirty="0">
                <a:ea typeface="+mn-ea"/>
              </a:rPr>
              <a:t> Shokoufeah Valadkhani</a:t>
            </a:r>
          </a:p>
          <a:p>
            <a:pPr fontAlgn="auto">
              <a:spcAft>
                <a:spcPts val="0"/>
              </a:spcAft>
              <a:buFont typeface="Arial"/>
              <a:buNone/>
              <a:defRPr/>
            </a:pPr>
            <a:r>
              <a:rPr lang="en-US" dirty="0">
                <a:ea typeface="+mn-ea"/>
              </a:rPr>
              <a:t>Chris Engel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63453-15CE-A170-D838-41948EE10304}"/>
              </a:ext>
            </a:extLst>
          </p:cNvPr>
          <p:cNvSpPr>
            <a:spLocks noGrp="1"/>
          </p:cNvSpPr>
          <p:nvPr>
            <p:ph type="title"/>
          </p:nvPr>
        </p:nvSpPr>
        <p:spPr>
          <a:xfrm>
            <a:off x="457200" y="442620"/>
            <a:ext cx="8229600" cy="801290"/>
          </a:xfrm>
        </p:spPr>
        <p:txBody>
          <a:bodyPr/>
          <a:lstStyle/>
          <a:p>
            <a:r>
              <a:rPr lang="en-US" u="sng" dirty="0"/>
              <a:t>General Architecture</a:t>
            </a:r>
            <a:endParaRPr lang="en-IN" u="sng" dirty="0"/>
          </a:p>
        </p:txBody>
      </p:sp>
      <p:pic>
        <p:nvPicPr>
          <p:cNvPr id="4" name="Picture 3">
            <a:extLst>
              <a:ext uri="{FF2B5EF4-FFF2-40B4-BE49-F238E27FC236}">
                <a16:creationId xmlns:a16="http://schemas.microsoft.com/office/drawing/2014/main" id="{E0023168-BFFD-CA0A-DA4D-03301C56D8A2}"/>
              </a:ext>
            </a:extLst>
          </p:cNvPr>
          <p:cNvPicPr>
            <a:picLocks noChangeAspect="1"/>
          </p:cNvPicPr>
          <p:nvPr/>
        </p:nvPicPr>
        <p:blipFill>
          <a:blip r:embed="rId2"/>
          <a:stretch>
            <a:fillRect/>
          </a:stretch>
        </p:blipFill>
        <p:spPr>
          <a:xfrm>
            <a:off x="4819506" y="1354841"/>
            <a:ext cx="4324493" cy="2360665"/>
          </a:xfrm>
          <a:prstGeom prst="rect">
            <a:avLst/>
          </a:prstGeom>
        </p:spPr>
      </p:pic>
      <p:sp>
        <p:nvSpPr>
          <p:cNvPr id="5" name="TextBox 4">
            <a:extLst>
              <a:ext uri="{FF2B5EF4-FFF2-40B4-BE49-F238E27FC236}">
                <a16:creationId xmlns:a16="http://schemas.microsoft.com/office/drawing/2014/main" id="{C8EB22EE-F994-CA07-F1CD-8637B0263460}"/>
              </a:ext>
            </a:extLst>
          </p:cNvPr>
          <p:cNvSpPr txBox="1"/>
          <p:nvPr/>
        </p:nvSpPr>
        <p:spPr>
          <a:xfrm>
            <a:off x="242560" y="1354841"/>
            <a:ext cx="2828443" cy="3570208"/>
          </a:xfrm>
          <a:prstGeom prst="rect">
            <a:avLst/>
          </a:prstGeom>
          <a:noFill/>
        </p:spPr>
        <p:txBody>
          <a:bodyPr wrap="square" rtlCol="0">
            <a:spAutoFit/>
          </a:bodyPr>
          <a:lstStyle/>
          <a:p>
            <a:r>
              <a:rPr lang="en-US" sz="1600" dirty="0"/>
              <a:t>Components of a UAV:</a:t>
            </a:r>
          </a:p>
          <a:p>
            <a:pPr marL="171450" indent="-171450">
              <a:buFont typeface="Arial" panose="020B0604020202020204" pitchFamily="34" charset="0"/>
              <a:buChar char="•"/>
            </a:pPr>
            <a:r>
              <a:rPr lang="en-US" sz="1200" dirty="0"/>
              <a:t>Mechanical- Body, rotor blades, Frame, Motor etc. </a:t>
            </a:r>
          </a:p>
          <a:p>
            <a:endParaRPr lang="en-US" sz="1200" dirty="0"/>
          </a:p>
          <a:p>
            <a:pPr marL="171450" indent="-171450">
              <a:buFont typeface="Arial" panose="020B0604020202020204" pitchFamily="34" charset="0"/>
              <a:buChar char="•"/>
            </a:pPr>
            <a:r>
              <a:rPr lang="en-US" sz="1200" dirty="0"/>
              <a:t>Electrical:- Battery, MCU’s, Speed control units etc. </a:t>
            </a:r>
          </a:p>
          <a:p>
            <a:endParaRPr lang="en-US" sz="1200" dirty="0"/>
          </a:p>
          <a:p>
            <a:pPr marL="171450" indent="-171450">
              <a:buFont typeface="Arial" panose="020B0604020202020204" pitchFamily="34" charset="0"/>
              <a:buChar char="•"/>
            </a:pPr>
            <a:r>
              <a:rPr lang="en-US" sz="1200" dirty="0"/>
              <a:t>This is followed by various other components that include(but are not limited to) telemetry, RF, Solar etc. </a:t>
            </a:r>
          </a:p>
          <a:p>
            <a:endParaRPr lang="en-US" sz="1600" dirty="0"/>
          </a:p>
          <a:p>
            <a:r>
              <a:rPr lang="en-US" sz="1600" dirty="0"/>
              <a:t>Types of UAV:</a:t>
            </a:r>
          </a:p>
          <a:p>
            <a:pPr marL="171450" indent="-171450" algn="l">
              <a:spcAft>
                <a:spcPts val="300"/>
              </a:spcAft>
              <a:buFont typeface="Arial" panose="020B0604020202020204" pitchFamily="34" charset="0"/>
              <a:buChar char="•"/>
            </a:pPr>
            <a:r>
              <a:rPr lang="en-IN" sz="1200" b="0" i="0" dirty="0">
                <a:solidFill>
                  <a:srgbClr val="1F1F1F"/>
                </a:solidFill>
                <a:effectLst/>
                <a:latin typeface="+mn-lt"/>
              </a:rPr>
              <a:t>Single-rotor UAVs,</a:t>
            </a:r>
          </a:p>
          <a:p>
            <a:pPr marL="171450" indent="-171450" algn="l">
              <a:spcAft>
                <a:spcPts val="300"/>
              </a:spcAft>
              <a:buFont typeface="Arial" panose="020B0604020202020204" pitchFamily="34" charset="0"/>
              <a:buChar char="•"/>
            </a:pPr>
            <a:r>
              <a:rPr lang="en-IN" sz="1200" b="0" i="0" dirty="0">
                <a:solidFill>
                  <a:srgbClr val="1F1F1F"/>
                </a:solidFill>
                <a:effectLst/>
                <a:latin typeface="+mn-lt"/>
              </a:rPr>
              <a:t>Multi-rotor UAVs,</a:t>
            </a:r>
          </a:p>
          <a:p>
            <a:pPr marL="171450" indent="-171450" algn="l">
              <a:spcAft>
                <a:spcPts val="300"/>
              </a:spcAft>
              <a:buFont typeface="Arial" panose="020B0604020202020204" pitchFamily="34" charset="0"/>
              <a:buChar char="•"/>
            </a:pPr>
            <a:r>
              <a:rPr lang="en-IN" sz="1200" b="0" i="0" dirty="0">
                <a:solidFill>
                  <a:srgbClr val="1F1F1F"/>
                </a:solidFill>
                <a:effectLst/>
                <a:latin typeface="+mn-lt"/>
              </a:rPr>
              <a:t>Fixed-wing UAVs,</a:t>
            </a:r>
          </a:p>
          <a:p>
            <a:pPr marL="171450" indent="-171450" algn="l">
              <a:spcAft>
                <a:spcPts val="300"/>
              </a:spcAft>
              <a:buFont typeface="Arial" panose="020B0604020202020204" pitchFamily="34" charset="0"/>
              <a:buChar char="•"/>
            </a:pPr>
            <a:r>
              <a:rPr lang="en-IN" sz="1200" b="0" i="0" dirty="0">
                <a:solidFill>
                  <a:srgbClr val="1F1F1F"/>
                </a:solidFill>
                <a:effectLst/>
                <a:latin typeface="+mn-lt"/>
              </a:rPr>
              <a:t>Fixed-wing hybrid VTOL.</a:t>
            </a:r>
          </a:p>
          <a:p>
            <a:endParaRPr lang="en-IN" sz="1200" dirty="0"/>
          </a:p>
        </p:txBody>
      </p:sp>
      <p:sp>
        <p:nvSpPr>
          <p:cNvPr id="6" name="TextBox 5">
            <a:extLst>
              <a:ext uri="{FF2B5EF4-FFF2-40B4-BE49-F238E27FC236}">
                <a16:creationId xmlns:a16="http://schemas.microsoft.com/office/drawing/2014/main" id="{F40EDC61-C566-8D72-719F-EEF41386353F}"/>
              </a:ext>
            </a:extLst>
          </p:cNvPr>
          <p:cNvSpPr txBox="1"/>
          <p:nvPr/>
        </p:nvSpPr>
        <p:spPr>
          <a:xfrm>
            <a:off x="5091192" y="4138047"/>
            <a:ext cx="3727343" cy="584775"/>
          </a:xfrm>
          <a:prstGeom prst="rect">
            <a:avLst/>
          </a:prstGeom>
          <a:noFill/>
        </p:spPr>
        <p:txBody>
          <a:bodyPr wrap="square" rtlCol="0">
            <a:spAutoFit/>
          </a:bodyPr>
          <a:lstStyle/>
          <a:p>
            <a:r>
              <a:rPr lang="en-US" sz="1050" dirty="0"/>
              <a:t>Reference: https://www.researchgate.net/publication/313903813_A_Review_on_Geo_Mapping_with_Unmanned_Aerial_Vehicles</a:t>
            </a:r>
            <a:endParaRPr lang="en-IN" sz="1200" dirty="0"/>
          </a:p>
        </p:txBody>
      </p:sp>
    </p:spTree>
    <p:extLst>
      <p:ext uri="{BB962C8B-B14F-4D97-AF65-F5344CB8AC3E}">
        <p14:creationId xmlns:p14="http://schemas.microsoft.com/office/powerpoint/2010/main" val="22840487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1E6D-232C-1ECC-68D8-BC73924B3DC3}"/>
              </a:ext>
            </a:extLst>
          </p:cNvPr>
          <p:cNvSpPr>
            <a:spLocks noGrp="1"/>
          </p:cNvSpPr>
          <p:nvPr>
            <p:ph type="title"/>
          </p:nvPr>
        </p:nvSpPr>
        <p:spPr>
          <a:xfrm>
            <a:off x="457200" y="426757"/>
            <a:ext cx="8229600" cy="801290"/>
          </a:xfrm>
        </p:spPr>
        <p:txBody>
          <a:bodyPr/>
          <a:lstStyle/>
          <a:p>
            <a:r>
              <a:rPr lang="en-US" u="sng" dirty="0"/>
              <a:t>The AIM for Research</a:t>
            </a:r>
            <a:endParaRPr lang="en-IN" u="sng" dirty="0"/>
          </a:p>
        </p:txBody>
      </p:sp>
      <p:sp>
        <p:nvSpPr>
          <p:cNvPr id="3" name="TextBox 2">
            <a:extLst>
              <a:ext uri="{FF2B5EF4-FFF2-40B4-BE49-F238E27FC236}">
                <a16:creationId xmlns:a16="http://schemas.microsoft.com/office/drawing/2014/main" id="{96224C07-8A9A-D3CB-76A0-44368EA95D51}"/>
              </a:ext>
            </a:extLst>
          </p:cNvPr>
          <p:cNvSpPr txBox="1"/>
          <p:nvPr/>
        </p:nvSpPr>
        <p:spPr>
          <a:xfrm>
            <a:off x="379562" y="1476375"/>
            <a:ext cx="4802038" cy="262597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sz="1200" dirty="0"/>
              <a:t>Large level system study.</a:t>
            </a:r>
          </a:p>
          <a:p>
            <a:pPr marL="285750" indent="-285750">
              <a:lnSpc>
                <a:spcPct val="200000"/>
              </a:lnSpc>
              <a:buFont typeface="Arial" panose="020B0604020202020204" pitchFamily="34" charset="0"/>
              <a:buChar char="•"/>
            </a:pPr>
            <a:r>
              <a:rPr lang="en-US" sz="1200" dirty="0"/>
              <a:t>Design and modelling of individual subsystems, including realistic loss models based on practical test conditions. </a:t>
            </a:r>
          </a:p>
          <a:p>
            <a:pPr marL="285750" indent="-285750">
              <a:lnSpc>
                <a:spcPct val="200000"/>
              </a:lnSpc>
              <a:buFont typeface="Arial" panose="020B0604020202020204" pitchFamily="34" charset="0"/>
              <a:buChar char="•"/>
            </a:pPr>
            <a:r>
              <a:rPr lang="en-US" sz="1200" dirty="0"/>
              <a:t>Compartmentalized development, testing and modelling using real world tools(e.g.: pre-existing components)</a:t>
            </a:r>
          </a:p>
          <a:p>
            <a:pPr marL="285750" indent="-285750">
              <a:lnSpc>
                <a:spcPct val="200000"/>
              </a:lnSpc>
              <a:buFont typeface="Arial" panose="020B0604020202020204" pitchFamily="34" charset="0"/>
              <a:buChar char="•"/>
            </a:pPr>
            <a:r>
              <a:rPr lang="en-US" sz="1200" dirty="0"/>
              <a:t>System integration, virtual test and validation.</a:t>
            </a:r>
          </a:p>
          <a:p>
            <a:pPr marL="285750" indent="-285750">
              <a:lnSpc>
                <a:spcPct val="200000"/>
              </a:lnSpc>
              <a:buFont typeface="Arial" panose="020B0604020202020204" pitchFamily="34" charset="0"/>
              <a:buChar char="•"/>
            </a:pPr>
            <a:r>
              <a:rPr lang="en-US" sz="1200" dirty="0"/>
              <a:t>Hardware implementation and testing. </a:t>
            </a:r>
            <a:endParaRPr lang="en-IN" sz="1600" dirty="0"/>
          </a:p>
        </p:txBody>
      </p:sp>
      <p:pic>
        <p:nvPicPr>
          <p:cNvPr id="3076" name="Picture 4" descr="Alphabetical order, arrow, descending ...">
            <a:extLst>
              <a:ext uri="{FF2B5EF4-FFF2-40B4-BE49-F238E27FC236}">
                <a16:creationId xmlns:a16="http://schemas.microsoft.com/office/drawing/2014/main" id="{39CA5D8F-A545-9701-2F52-17A57AE7A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0665" y="1629264"/>
            <a:ext cx="2743356" cy="2743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68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8417-AE98-F0DD-2E34-72986BF54B8E}"/>
              </a:ext>
            </a:extLst>
          </p:cNvPr>
          <p:cNvSpPr>
            <a:spLocks noGrp="1"/>
          </p:cNvSpPr>
          <p:nvPr>
            <p:ph type="title"/>
          </p:nvPr>
        </p:nvSpPr>
        <p:spPr>
          <a:xfrm>
            <a:off x="457200" y="459587"/>
            <a:ext cx="8229600" cy="801290"/>
          </a:xfrm>
        </p:spPr>
        <p:txBody>
          <a:bodyPr/>
          <a:lstStyle/>
          <a:p>
            <a:r>
              <a:rPr lang="en-US" u="sng" dirty="0"/>
              <a:t>Power Management Architecture</a:t>
            </a:r>
            <a:endParaRPr lang="en-IN" u="sng" dirty="0"/>
          </a:p>
        </p:txBody>
      </p:sp>
      <p:pic>
        <p:nvPicPr>
          <p:cNvPr id="4" name="Picture 3">
            <a:extLst>
              <a:ext uri="{FF2B5EF4-FFF2-40B4-BE49-F238E27FC236}">
                <a16:creationId xmlns:a16="http://schemas.microsoft.com/office/drawing/2014/main" id="{5F4791CC-2867-5303-064C-3D930A775203}"/>
              </a:ext>
            </a:extLst>
          </p:cNvPr>
          <p:cNvPicPr>
            <a:picLocks noChangeAspect="1"/>
          </p:cNvPicPr>
          <p:nvPr/>
        </p:nvPicPr>
        <p:blipFill>
          <a:blip r:embed="rId2"/>
          <a:stretch>
            <a:fillRect/>
          </a:stretch>
        </p:blipFill>
        <p:spPr>
          <a:xfrm>
            <a:off x="5056575" y="1390442"/>
            <a:ext cx="3630225" cy="2221890"/>
          </a:xfrm>
          <a:prstGeom prst="rect">
            <a:avLst/>
          </a:prstGeom>
        </p:spPr>
      </p:pic>
      <p:pic>
        <p:nvPicPr>
          <p:cNvPr id="5" name="Picture 4">
            <a:extLst>
              <a:ext uri="{FF2B5EF4-FFF2-40B4-BE49-F238E27FC236}">
                <a16:creationId xmlns:a16="http://schemas.microsoft.com/office/drawing/2014/main" id="{2227DC7C-3A0A-301A-DDAF-FD42712928B4}"/>
              </a:ext>
            </a:extLst>
          </p:cNvPr>
          <p:cNvPicPr>
            <a:picLocks noChangeAspect="1"/>
          </p:cNvPicPr>
          <p:nvPr/>
        </p:nvPicPr>
        <p:blipFill>
          <a:blip r:embed="rId3"/>
          <a:stretch>
            <a:fillRect/>
          </a:stretch>
        </p:blipFill>
        <p:spPr>
          <a:xfrm>
            <a:off x="1904221" y="3750236"/>
            <a:ext cx="1118963" cy="1181905"/>
          </a:xfrm>
          <a:prstGeom prst="rect">
            <a:avLst/>
          </a:prstGeom>
        </p:spPr>
      </p:pic>
      <p:sp>
        <p:nvSpPr>
          <p:cNvPr id="6" name="TextBox 5">
            <a:extLst>
              <a:ext uri="{FF2B5EF4-FFF2-40B4-BE49-F238E27FC236}">
                <a16:creationId xmlns:a16="http://schemas.microsoft.com/office/drawing/2014/main" id="{2FBC3127-9DF0-0ACA-5597-9F0FDED52ED9}"/>
              </a:ext>
            </a:extLst>
          </p:cNvPr>
          <p:cNvSpPr txBox="1"/>
          <p:nvPr/>
        </p:nvSpPr>
        <p:spPr>
          <a:xfrm>
            <a:off x="4572000" y="3667126"/>
            <a:ext cx="5145437" cy="253916"/>
          </a:xfrm>
          <a:prstGeom prst="rect">
            <a:avLst/>
          </a:prstGeom>
          <a:noFill/>
        </p:spPr>
        <p:txBody>
          <a:bodyPr wrap="square" rtlCol="0">
            <a:spAutoFit/>
          </a:bodyPr>
          <a:lstStyle/>
          <a:p>
            <a:r>
              <a:rPr lang="en-US" sz="1050" u="sng" dirty="0"/>
              <a:t>Reference: https://ieeexplore.ieee.org/stamp/stamp.jsp?tp=&amp;arnumber=8790566</a:t>
            </a:r>
            <a:endParaRPr lang="en-IN" sz="1200" u="sng" dirty="0"/>
          </a:p>
        </p:txBody>
      </p:sp>
      <p:pic>
        <p:nvPicPr>
          <p:cNvPr id="7" name="Picture 6">
            <a:extLst>
              <a:ext uri="{FF2B5EF4-FFF2-40B4-BE49-F238E27FC236}">
                <a16:creationId xmlns:a16="http://schemas.microsoft.com/office/drawing/2014/main" id="{D7302008-89BA-3D45-C2E5-2838CFCBE51A}"/>
              </a:ext>
            </a:extLst>
          </p:cNvPr>
          <p:cNvPicPr>
            <a:picLocks noChangeAspect="1"/>
          </p:cNvPicPr>
          <p:nvPr/>
        </p:nvPicPr>
        <p:blipFill>
          <a:blip r:embed="rId4"/>
          <a:stretch>
            <a:fillRect/>
          </a:stretch>
        </p:blipFill>
        <p:spPr>
          <a:xfrm>
            <a:off x="263472" y="2208024"/>
            <a:ext cx="1294692" cy="727452"/>
          </a:xfrm>
          <a:prstGeom prst="rect">
            <a:avLst/>
          </a:prstGeom>
        </p:spPr>
      </p:pic>
      <p:pic>
        <p:nvPicPr>
          <p:cNvPr id="8" name="Picture 7">
            <a:extLst>
              <a:ext uri="{FF2B5EF4-FFF2-40B4-BE49-F238E27FC236}">
                <a16:creationId xmlns:a16="http://schemas.microsoft.com/office/drawing/2014/main" id="{3A489EDE-A9D5-ED9B-A41F-B0C285601C49}"/>
              </a:ext>
            </a:extLst>
          </p:cNvPr>
          <p:cNvPicPr>
            <a:picLocks noChangeAspect="1"/>
          </p:cNvPicPr>
          <p:nvPr/>
        </p:nvPicPr>
        <p:blipFill>
          <a:blip r:embed="rId5"/>
          <a:stretch>
            <a:fillRect/>
          </a:stretch>
        </p:blipFill>
        <p:spPr>
          <a:xfrm>
            <a:off x="1718811" y="2156772"/>
            <a:ext cx="1208869" cy="949826"/>
          </a:xfrm>
          <a:prstGeom prst="rect">
            <a:avLst/>
          </a:prstGeom>
        </p:spPr>
      </p:pic>
      <p:pic>
        <p:nvPicPr>
          <p:cNvPr id="9" name="Picture 8">
            <a:extLst>
              <a:ext uri="{FF2B5EF4-FFF2-40B4-BE49-F238E27FC236}">
                <a16:creationId xmlns:a16="http://schemas.microsoft.com/office/drawing/2014/main" id="{A6CBE60E-8F75-A818-4CEA-16A63916A635}"/>
              </a:ext>
            </a:extLst>
          </p:cNvPr>
          <p:cNvPicPr>
            <a:picLocks noChangeAspect="1"/>
          </p:cNvPicPr>
          <p:nvPr/>
        </p:nvPicPr>
        <p:blipFill>
          <a:blip r:embed="rId6"/>
          <a:stretch>
            <a:fillRect/>
          </a:stretch>
        </p:blipFill>
        <p:spPr>
          <a:xfrm>
            <a:off x="3023184" y="1855375"/>
            <a:ext cx="1937886" cy="1552620"/>
          </a:xfrm>
          <a:prstGeom prst="rect">
            <a:avLst/>
          </a:prstGeom>
        </p:spPr>
      </p:pic>
      <p:cxnSp>
        <p:nvCxnSpPr>
          <p:cNvPr id="11" name="Straight Connector 10">
            <a:extLst>
              <a:ext uri="{FF2B5EF4-FFF2-40B4-BE49-F238E27FC236}">
                <a16:creationId xmlns:a16="http://schemas.microsoft.com/office/drawing/2014/main" id="{4ED3DAE3-0D65-DB2F-6EFE-5BC6C985802C}"/>
              </a:ext>
            </a:extLst>
          </p:cNvPr>
          <p:cNvCxnSpPr>
            <a:cxnSpLocks/>
          </p:cNvCxnSpPr>
          <p:nvPr/>
        </p:nvCxnSpPr>
        <p:spPr>
          <a:xfrm>
            <a:off x="916875" y="2954883"/>
            <a:ext cx="1045912" cy="1214161"/>
          </a:xfrm>
          <a:prstGeom prst="line">
            <a:avLst/>
          </a:prstGeom>
          <a:solidFill>
            <a:srgbClr val="000000">
              <a:alpha val="5000"/>
            </a:srgbClr>
          </a:solidFill>
          <a:ln w="36000">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09FB09F-C9B6-46D8-736D-8A2850A73CE4}"/>
              </a:ext>
            </a:extLst>
          </p:cNvPr>
          <p:cNvCxnSpPr>
            <a:cxnSpLocks/>
            <a:endCxn id="5" idx="0"/>
          </p:cNvCxnSpPr>
          <p:nvPr/>
        </p:nvCxnSpPr>
        <p:spPr>
          <a:xfrm>
            <a:off x="2336220" y="3057840"/>
            <a:ext cx="127483" cy="692396"/>
          </a:xfrm>
          <a:prstGeom prst="line">
            <a:avLst/>
          </a:prstGeom>
          <a:solidFill>
            <a:srgbClr val="000000">
              <a:alpha val="5000"/>
            </a:srgbClr>
          </a:solidFill>
          <a:ln w="36000">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8112C470-995B-4F76-6146-81651E31F769}"/>
              </a:ext>
            </a:extLst>
          </p:cNvPr>
          <p:cNvCxnSpPr>
            <a:cxnSpLocks/>
          </p:cNvCxnSpPr>
          <p:nvPr/>
        </p:nvCxnSpPr>
        <p:spPr>
          <a:xfrm flipH="1">
            <a:off x="2909314" y="3139466"/>
            <a:ext cx="810298" cy="912167"/>
          </a:xfrm>
          <a:prstGeom prst="line">
            <a:avLst/>
          </a:prstGeom>
          <a:solidFill>
            <a:srgbClr val="000000">
              <a:alpha val="5000"/>
            </a:srgbClr>
          </a:solidFill>
          <a:ln w="36000">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0DBE2E00-972A-3088-9E90-F107878A154F}"/>
              </a:ext>
            </a:extLst>
          </p:cNvPr>
          <p:cNvSpPr txBox="1"/>
          <p:nvPr/>
        </p:nvSpPr>
        <p:spPr>
          <a:xfrm>
            <a:off x="4572000" y="4233797"/>
            <a:ext cx="4327742" cy="646331"/>
          </a:xfrm>
          <a:prstGeom prst="rect">
            <a:avLst/>
          </a:prstGeom>
          <a:noFill/>
        </p:spPr>
        <p:txBody>
          <a:bodyPr wrap="square" rtlCol="0">
            <a:spAutoFit/>
          </a:bodyPr>
          <a:lstStyle/>
          <a:p>
            <a:r>
              <a:rPr lang="en-US" dirty="0"/>
              <a:t>Understanding the individual components of a UAV power delivery system….</a:t>
            </a:r>
            <a:endParaRPr lang="en-IN" dirty="0"/>
          </a:p>
        </p:txBody>
      </p:sp>
    </p:spTree>
    <p:extLst>
      <p:ext uri="{BB962C8B-B14F-4D97-AF65-F5344CB8AC3E}">
        <p14:creationId xmlns:p14="http://schemas.microsoft.com/office/powerpoint/2010/main" val="871809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BC182-8E4A-642A-82C5-1EA12A860927}"/>
              </a:ext>
            </a:extLst>
          </p:cNvPr>
          <p:cNvSpPr>
            <a:spLocks noGrp="1"/>
          </p:cNvSpPr>
          <p:nvPr>
            <p:ph type="title"/>
          </p:nvPr>
        </p:nvSpPr>
        <p:spPr>
          <a:xfrm>
            <a:off x="457201" y="468626"/>
            <a:ext cx="8229600" cy="801290"/>
          </a:xfrm>
        </p:spPr>
        <p:txBody>
          <a:bodyPr/>
          <a:lstStyle/>
          <a:p>
            <a:r>
              <a:rPr lang="en-US" u="sng" dirty="0"/>
              <a:t>Energy Consumption Systems for UAV’s</a:t>
            </a:r>
            <a:endParaRPr lang="en-IN" u="sng" dirty="0"/>
          </a:p>
        </p:txBody>
      </p:sp>
      <p:sp>
        <p:nvSpPr>
          <p:cNvPr id="3" name="Content Placeholder 2">
            <a:extLst>
              <a:ext uri="{FF2B5EF4-FFF2-40B4-BE49-F238E27FC236}">
                <a16:creationId xmlns:a16="http://schemas.microsoft.com/office/drawing/2014/main" id="{A0770947-5A05-ED65-4D1C-78988EDABED1}"/>
              </a:ext>
            </a:extLst>
          </p:cNvPr>
          <p:cNvSpPr>
            <a:spLocks noGrp="1"/>
          </p:cNvSpPr>
          <p:nvPr>
            <p:ph idx="1"/>
          </p:nvPr>
        </p:nvSpPr>
        <p:spPr>
          <a:xfrm>
            <a:off x="457201" y="1476375"/>
            <a:ext cx="4114800" cy="3576473"/>
          </a:xfrm>
        </p:spPr>
        <p:txBody>
          <a:bodyPr/>
          <a:lstStyle/>
          <a:p>
            <a:r>
              <a:rPr lang="en-US" sz="1200" dirty="0"/>
              <a:t>Energy consumption of the drone is affected by various physical, environmental and structural factors. </a:t>
            </a:r>
          </a:p>
          <a:p>
            <a:r>
              <a:rPr lang="en-US" sz="1200" dirty="0"/>
              <a:t>As per the study published in [10], models of increasing order of complexity have been developed to accurately estimate the losses during the flight path of the UAV.</a:t>
            </a:r>
          </a:p>
          <a:p>
            <a:r>
              <a:rPr lang="en-IN" sz="1200" dirty="0"/>
              <a:t>These models have primarily been classified as </a:t>
            </a:r>
            <a:r>
              <a:rPr lang="en-IN" sz="1200" b="1" dirty="0"/>
              <a:t>integrated</a:t>
            </a:r>
            <a:r>
              <a:rPr lang="en-IN" sz="1200" dirty="0"/>
              <a:t> / </a:t>
            </a:r>
            <a:r>
              <a:rPr lang="en-IN" sz="1200" b="1" dirty="0"/>
              <a:t>component-based</a:t>
            </a:r>
            <a:r>
              <a:rPr lang="en-IN" sz="1200" dirty="0"/>
              <a:t>. </a:t>
            </a:r>
          </a:p>
        </p:txBody>
      </p:sp>
      <p:pic>
        <p:nvPicPr>
          <p:cNvPr id="5" name="Picture 4">
            <a:extLst>
              <a:ext uri="{FF2B5EF4-FFF2-40B4-BE49-F238E27FC236}">
                <a16:creationId xmlns:a16="http://schemas.microsoft.com/office/drawing/2014/main" id="{AEA4BF49-40FA-F499-5830-0966E6A88B94}"/>
              </a:ext>
            </a:extLst>
          </p:cNvPr>
          <p:cNvPicPr>
            <a:picLocks noChangeAspect="1"/>
          </p:cNvPicPr>
          <p:nvPr/>
        </p:nvPicPr>
        <p:blipFill>
          <a:blip r:embed="rId2"/>
          <a:stretch>
            <a:fillRect/>
          </a:stretch>
        </p:blipFill>
        <p:spPr>
          <a:xfrm>
            <a:off x="709074" y="3464038"/>
            <a:ext cx="2790871" cy="1588810"/>
          </a:xfrm>
          <a:prstGeom prst="rect">
            <a:avLst/>
          </a:prstGeom>
        </p:spPr>
      </p:pic>
      <p:sp>
        <p:nvSpPr>
          <p:cNvPr id="6" name="Content Placeholder 2">
            <a:extLst>
              <a:ext uri="{FF2B5EF4-FFF2-40B4-BE49-F238E27FC236}">
                <a16:creationId xmlns:a16="http://schemas.microsoft.com/office/drawing/2014/main" id="{8A30390F-E789-4853-48C0-4E54C171764C}"/>
              </a:ext>
            </a:extLst>
          </p:cNvPr>
          <p:cNvSpPr txBox="1">
            <a:spLocks/>
          </p:cNvSpPr>
          <p:nvPr/>
        </p:nvSpPr>
        <p:spPr bwMode="auto">
          <a:xfrm>
            <a:off x="4320126" y="1415941"/>
            <a:ext cx="4823874" cy="35764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IN" sz="1200" dirty="0"/>
          </a:p>
        </p:txBody>
      </p:sp>
      <p:pic>
        <p:nvPicPr>
          <p:cNvPr id="8" name="Picture 7">
            <a:extLst>
              <a:ext uri="{FF2B5EF4-FFF2-40B4-BE49-F238E27FC236}">
                <a16:creationId xmlns:a16="http://schemas.microsoft.com/office/drawing/2014/main" id="{489ABC0C-2CE9-574A-1140-76F1EF8BA018}"/>
              </a:ext>
            </a:extLst>
          </p:cNvPr>
          <p:cNvPicPr>
            <a:picLocks noChangeAspect="1"/>
          </p:cNvPicPr>
          <p:nvPr/>
        </p:nvPicPr>
        <p:blipFill>
          <a:blip r:embed="rId3"/>
          <a:stretch>
            <a:fillRect/>
          </a:stretch>
        </p:blipFill>
        <p:spPr>
          <a:xfrm>
            <a:off x="4572001" y="1505047"/>
            <a:ext cx="2656489" cy="712184"/>
          </a:xfrm>
          <a:prstGeom prst="rect">
            <a:avLst/>
          </a:prstGeom>
        </p:spPr>
      </p:pic>
      <p:sp>
        <p:nvSpPr>
          <p:cNvPr id="9" name="TextBox 8">
            <a:extLst>
              <a:ext uri="{FF2B5EF4-FFF2-40B4-BE49-F238E27FC236}">
                <a16:creationId xmlns:a16="http://schemas.microsoft.com/office/drawing/2014/main" id="{3E25DAAC-79D5-69A3-10D8-FF4A4167CAED}"/>
              </a:ext>
            </a:extLst>
          </p:cNvPr>
          <p:cNvSpPr txBox="1"/>
          <p:nvPr/>
        </p:nvSpPr>
        <p:spPr>
          <a:xfrm>
            <a:off x="4572001" y="2214652"/>
            <a:ext cx="4233040" cy="415498"/>
          </a:xfrm>
          <a:prstGeom prst="rect">
            <a:avLst/>
          </a:prstGeom>
          <a:noFill/>
        </p:spPr>
        <p:txBody>
          <a:bodyPr wrap="square" rtlCol="0">
            <a:spAutoFit/>
          </a:bodyPr>
          <a:lstStyle/>
          <a:p>
            <a:r>
              <a:rPr lang="en-US" sz="1050" u="sng" dirty="0"/>
              <a:t>A simple approach for incorporating lift-to-drag ratio, avionics and headwinds, with the physical factors of the UAV.</a:t>
            </a:r>
            <a:endParaRPr lang="en-IN" sz="1050" u="sng" dirty="0"/>
          </a:p>
        </p:txBody>
      </p:sp>
      <p:pic>
        <p:nvPicPr>
          <p:cNvPr id="11" name="Picture 10">
            <a:extLst>
              <a:ext uri="{FF2B5EF4-FFF2-40B4-BE49-F238E27FC236}">
                <a16:creationId xmlns:a16="http://schemas.microsoft.com/office/drawing/2014/main" id="{8F10FF89-AB61-C1B3-412F-4D7940F1E23B}"/>
              </a:ext>
            </a:extLst>
          </p:cNvPr>
          <p:cNvPicPr>
            <a:picLocks noChangeAspect="1"/>
          </p:cNvPicPr>
          <p:nvPr/>
        </p:nvPicPr>
        <p:blipFill>
          <a:blip r:embed="rId4"/>
          <a:stretch>
            <a:fillRect/>
          </a:stretch>
        </p:blipFill>
        <p:spPr>
          <a:xfrm>
            <a:off x="4572001" y="3707343"/>
            <a:ext cx="4600499" cy="669976"/>
          </a:xfrm>
          <a:prstGeom prst="rect">
            <a:avLst/>
          </a:prstGeom>
        </p:spPr>
      </p:pic>
      <p:sp>
        <p:nvSpPr>
          <p:cNvPr id="12" name="TextBox 11">
            <a:extLst>
              <a:ext uri="{FF2B5EF4-FFF2-40B4-BE49-F238E27FC236}">
                <a16:creationId xmlns:a16="http://schemas.microsoft.com/office/drawing/2014/main" id="{F99406EF-263B-2A31-2FD7-C706AFDEBA31}"/>
              </a:ext>
            </a:extLst>
          </p:cNvPr>
          <p:cNvSpPr txBox="1"/>
          <p:nvPr/>
        </p:nvSpPr>
        <p:spPr>
          <a:xfrm>
            <a:off x="4572000" y="4455250"/>
            <a:ext cx="4233040" cy="415498"/>
          </a:xfrm>
          <a:prstGeom prst="rect">
            <a:avLst/>
          </a:prstGeom>
          <a:noFill/>
        </p:spPr>
        <p:txBody>
          <a:bodyPr wrap="square" rtlCol="0">
            <a:spAutoFit/>
          </a:bodyPr>
          <a:lstStyle/>
          <a:p>
            <a:r>
              <a:rPr lang="en-US" sz="1050" u="sng" dirty="0"/>
              <a:t>Increased model complexity due to inclusion of thrust, drag power, parasitic and induced losses due to various factors.</a:t>
            </a:r>
            <a:endParaRPr lang="en-IN" sz="1050" u="sng" dirty="0"/>
          </a:p>
        </p:txBody>
      </p:sp>
      <p:sp>
        <p:nvSpPr>
          <p:cNvPr id="13" name="Arrow: Down 12">
            <a:extLst>
              <a:ext uri="{FF2B5EF4-FFF2-40B4-BE49-F238E27FC236}">
                <a16:creationId xmlns:a16="http://schemas.microsoft.com/office/drawing/2014/main" id="{68347747-92F4-3858-DA67-00A6FEB8D7EA}"/>
              </a:ext>
            </a:extLst>
          </p:cNvPr>
          <p:cNvSpPr/>
          <p:nvPr/>
        </p:nvSpPr>
        <p:spPr>
          <a:xfrm>
            <a:off x="6164580" y="2630150"/>
            <a:ext cx="495300" cy="125605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35967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78843-2437-AC24-986A-31469FC71CA1}"/>
              </a:ext>
            </a:extLst>
          </p:cNvPr>
          <p:cNvSpPr>
            <a:spLocks noGrp="1"/>
          </p:cNvSpPr>
          <p:nvPr>
            <p:ph type="title"/>
          </p:nvPr>
        </p:nvSpPr>
        <p:spPr>
          <a:xfrm>
            <a:off x="457200" y="464028"/>
            <a:ext cx="8229600" cy="801290"/>
          </a:xfrm>
        </p:spPr>
        <p:txBody>
          <a:bodyPr/>
          <a:lstStyle/>
          <a:p>
            <a:r>
              <a:rPr lang="en-US" u="sng" dirty="0"/>
              <a:t>The Power Source</a:t>
            </a:r>
            <a:endParaRPr lang="en-IN" u="sng" dirty="0"/>
          </a:p>
        </p:txBody>
      </p:sp>
      <p:sp>
        <p:nvSpPr>
          <p:cNvPr id="3" name="TextBox 2">
            <a:extLst>
              <a:ext uri="{FF2B5EF4-FFF2-40B4-BE49-F238E27FC236}">
                <a16:creationId xmlns:a16="http://schemas.microsoft.com/office/drawing/2014/main" id="{B910E089-BE8C-C9B6-3ABD-C907A07140FB}"/>
              </a:ext>
            </a:extLst>
          </p:cNvPr>
          <p:cNvSpPr txBox="1"/>
          <p:nvPr/>
        </p:nvSpPr>
        <p:spPr>
          <a:xfrm>
            <a:off x="181302" y="1500024"/>
            <a:ext cx="3959609" cy="3416320"/>
          </a:xfrm>
          <a:prstGeom prst="rect">
            <a:avLst/>
          </a:prstGeom>
          <a:noFill/>
        </p:spPr>
        <p:txBody>
          <a:bodyPr wrap="square" rtlCol="0">
            <a:spAutoFit/>
          </a:bodyPr>
          <a:lstStyle/>
          <a:p>
            <a:r>
              <a:rPr lang="en-US" dirty="0"/>
              <a:t>Battery Packs: </a:t>
            </a:r>
          </a:p>
          <a:p>
            <a:pPr marL="285750" indent="-285750">
              <a:buFont typeface="Arial" panose="020B0604020202020204" pitchFamily="34" charset="0"/>
              <a:buChar char="•"/>
            </a:pPr>
            <a:r>
              <a:rPr lang="en-US" sz="1200" dirty="0"/>
              <a:t>Commonly used electrochemical sources.</a:t>
            </a:r>
          </a:p>
          <a:p>
            <a:pPr marL="285750" indent="-285750">
              <a:buFont typeface="Arial" panose="020B0604020202020204" pitchFamily="34" charset="0"/>
              <a:buChar char="•"/>
            </a:pPr>
            <a:r>
              <a:rPr lang="en-US" sz="1200" dirty="0"/>
              <a:t>Various chemical compositions such as LiPo, NiMH, </a:t>
            </a:r>
            <a:r>
              <a:rPr lang="en-US" sz="1200" dirty="0" err="1"/>
              <a:t>NiCd</a:t>
            </a:r>
            <a:r>
              <a:rPr lang="en-US" sz="1200" dirty="0"/>
              <a:t> etc. </a:t>
            </a:r>
          </a:p>
          <a:p>
            <a:pPr marL="285750" indent="-285750">
              <a:buFont typeface="Arial" panose="020B0604020202020204" pitchFamily="34" charset="0"/>
              <a:buChar char="•"/>
            </a:pPr>
            <a:r>
              <a:rPr lang="en-US" sz="1200" dirty="0"/>
              <a:t>Selecting the right drone battery, typically LiPo or Li-ion, while considering factors like voltage, capacity, C-rating, and proper care, is essential for maximizing flight time and performance.</a:t>
            </a:r>
          </a:p>
          <a:p>
            <a:pPr marL="285750" indent="-285750">
              <a:buFont typeface="Arial" panose="020B0604020202020204" pitchFamily="34" charset="0"/>
              <a:buChar char="•"/>
            </a:pPr>
            <a:r>
              <a:rPr lang="en-US" sz="1200" dirty="0"/>
              <a:t>LiPo is better for performance, LiFeO4 for safety.[5]</a:t>
            </a:r>
            <a:endParaRPr lang="en-IN" sz="1200" dirty="0"/>
          </a:p>
          <a:p>
            <a:endParaRPr lang="en-IN" sz="1200" dirty="0"/>
          </a:p>
          <a:p>
            <a:r>
              <a:rPr lang="en-IN" dirty="0"/>
              <a:t>Fuel Cells: </a:t>
            </a:r>
          </a:p>
          <a:p>
            <a:pPr marL="171450" indent="-171450">
              <a:buFont typeface="Arial" panose="020B0604020202020204" pitchFamily="34" charset="0"/>
              <a:buChar char="•"/>
            </a:pPr>
            <a:r>
              <a:rPr lang="en-US" sz="1200" dirty="0"/>
              <a:t>PEMFC operate on a chemical exchange reaction between oxygen and hydrogen, thereby providing a cleaner alternative having increased performance with rising temperature.</a:t>
            </a:r>
          </a:p>
          <a:p>
            <a:pPr marL="171450" indent="-171450">
              <a:buFont typeface="Arial" panose="020B0604020202020204" pitchFamily="34" charset="0"/>
              <a:buChar char="•"/>
            </a:pPr>
            <a:r>
              <a:rPr lang="en-US" sz="1200" dirty="0"/>
              <a:t>Complex construction, commercial feasibility concerns, physical factors affecting performance.</a:t>
            </a:r>
          </a:p>
        </p:txBody>
      </p:sp>
      <p:pic>
        <p:nvPicPr>
          <p:cNvPr id="5122" name="Picture 2" descr="Battery Equivalent Circuit">
            <a:extLst>
              <a:ext uri="{FF2B5EF4-FFF2-40B4-BE49-F238E27FC236}">
                <a16:creationId xmlns:a16="http://schemas.microsoft.com/office/drawing/2014/main" id="{701E46C6-7014-6DCD-B4B0-D5EB61A58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6318" y="1500024"/>
            <a:ext cx="2935154" cy="11607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73082A4-C2A8-03DE-11C8-6F7B0877F078}"/>
              </a:ext>
            </a:extLst>
          </p:cNvPr>
          <p:cNvPicPr>
            <a:picLocks noChangeAspect="1"/>
          </p:cNvPicPr>
          <p:nvPr/>
        </p:nvPicPr>
        <p:blipFill>
          <a:blip r:embed="rId3"/>
          <a:stretch>
            <a:fillRect/>
          </a:stretch>
        </p:blipFill>
        <p:spPr>
          <a:xfrm>
            <a:off x="7426709" y="3272863"/>
            <a:ext cx="1292771" cy="1292771"/>
          </a:xfrm>
          <a:prstGeom prst="rect">
            <a:avLst/>
          </a:prstGeom>
        </p:spPr>
      </p:pic>
      <p:pic>
        <p:nvPicPr>
          <p:cNvPr id="5126" name="Picture 6" descr="Fuel cell equivalent circuit model diagram. | Download Scientific Diagram">
            <a:extLst>
              <a:ext uri="{FF2B5EF4-FFF2-40B4-BE49-F238E27FC236}">
                <a16:creationId xmlns:a16="http://schemas.microsoft.com/office/drawing/2014/main" id="{8FEEC0D9-84D5-6B26-585B-4819FF670B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8003" y="3286984"/>
            <a:ext cx="2158562" cy="9224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047C45E-EFCF-2B03-C813-CB5BC66AACEE}"/>
              </a:ext>
            </a:extLst>
          </p:cNvPr>
          <p:cNvSpPr txBox="1"/>
          <p:nvPr/>
        </p:nvSpPr>
        <p:spPr>
          <a:xfrm>
            <a:off x="4258003" y="4209393"/>
            <a:ext cx="2158562" cy="253916"/>
          </a:xfrm>
          <a:prstGeom prst="rect">
            <a:avLst/>
          </a:prstGeom>
          <a:noFill/>
        </p:spPr>
        <p:txBody>
          <a:bodyPr wrap="square" rtlCol="0">
            <a:spAutoFit/>
          </a:bodyPr>
          <a:lstStyle/>
          <a:p>
            <a:pPr algn="ctr"/>
            <a:r>
              <a:rPr lang="en-US" sz="1050" u="sng" dirty="0"/>
              <a:t>Fuel Cell Equivalent Model</a:t>
            </a:r>
            <a:endParaRPr lang="en-IN" sz="1050" u="sng" dirty="0"/>
          </a:p>
        </p:txBody>
      </p:sp>
      <p:sp>
        <p:nvSpPr>
          <p:cNvPr id="6" name="TextBox 5">
            <a:extLst>
              <a:ext uri="{FF2B5EF4-FFF2-40B4-BE49-F238E27FC236}">
                <a16:creationId xmlns:a16="http://schemas.microsoft.com/office/drawing/2014/main" id="{4DD2BE4F-7A37-27BF-4103-AF500489B40F}"/>
              </a:ext>
            </a:extLst>
          </p:cNvPr>
          <p:cNvSpPr txBox="1"/>
          <p:nvPr/>
        </p:nvSpPr>
        <p:spPr>
          <a:xfrm>
            <a:off x="7228491" y="4635062"/>
            <a:ext cx="1734207" cy="246221"/>
          </a:xfrm>
          <a:prstGeom prst="rect">
            <a:avLst/>
          </a:prstGeom>
          <a:noFill/>
        </p:spPr>
        <p:txBody>
          <a:bodyPr wrap="square" rtlCol="0">
            <a:spAutoFit/>
          </a:bodyPr>
          <a:lstStyle/>
          <a:p>
            <a:pPr algn="ctr"/>
            <a:r>
              <a:rPr lang="en-US" sz="1000" u="sng" dirty="0"/>
              <a:t>Hydrogen PEMFC </a:t>
            </a:r>
            <a:endParaRPr lang="en-IN" sz="1000" u="sng" dirty="0"/>
          </a:p>
        </p:txBody>
      </p:sp>
      <p:sp>
        <p:nvSpPr>
          <p:cNvPr id="7" name="TextBox 6">
            <a:extLst>
              <a:ext uri="{FF2B5EF4-FFF2-40B4-BE49-F238E27FC236}">
                <a16:creationId xmlns:a16="http://schemas.microsoft.com/office/drawing/2014/main" id="{219A588B-0F32-6990-A8B1-8FADD5B3F3A1}"/>
              </a:ext>
            </a:extLst>
          </p:cNvPr>
          <p:cNvSpPr txBox="1"/>
          <p:nvPr/>
        </p:nvSpPr>
        <p:spPr>
          <a:xfrm>
            <a:off x="4327634" y="2766848"/>
            <a:ext cx="2443656" cy="253916"/>
          </a:xfrm>
          <a:prstGeom prst="rect">
            <a:avLst/>
          </a:prstGeom>
          <a:noFill/>
        </p:spPr>
        <p:txBody>
          <a:bodyPr wrap="square" rtlCol="0">
            <a:spAutoFit/>
          </a:bodyPr>
          <a:lstStyle/>
          <a:p>
            <a:pPr algn="ctr"/>
            <a:r>
              <a:rPr lang="en-US" sz="1050" u="sng" dirty="0"/>
              <a:t>LiPo Battery Equivalent Model</a:t>
            </a:r>
            <a:endParaRPr lang="en-IN" sz="1050" u="sng" dirty="0"/>
          </a:p>
        </p:txBody>
      </p:sp>
      <p:pic>
        <p:nvPicPr>
          <p:cNvPr id="9" name="Picture 8">
            <a:extLst>
              <a:ext uri="{FF2B5EF4-FFF2-40B4-BE49-F238E27FC236}">
                <a16:creationId xmlns:a16="http://schemas.microsoft.com/office/drawing/2014/main" id="{38C5602A-252E-4C5E-FF0F-429E9A597080}"/>
              </a:ext>
            </a:extLst>
          </p:cNvPr>
          <p:cNvPicPr>
            <a:picLocks noChangeAspect="1"/>
          </p:cNvPicPr>
          <p:nvPr/>
        </p:nvPicPr>
        <p:blipFill>
          <a:blip r:embed="rId5"/>
          <a:stretch>
            <a:fillRect/>
          </a:stretch>
        </p:blipFill>
        <p:spPr>
          <a:xfrm>
            <a:off x="7463659" y="1043287"/>
            <a:ext cx="1428093" cy="1723561"/>
          </a:xfrm>
          <a:prstGeom prst="rect">
            <a:avLst/>
          </a:prstGeom>
        </p:spPr>
      </p:pic>
      <p:sp>
        <p:nvSpPr>
          <p:cNvPr id="10" name="TextBox 9">
            <a:extLst>
              <a:ext uri="{FF2B5EF4-FFF2-40B4-BE49-F238E27FC236}">
                <a16:creationId xmlns:a16="http://schemas.microsoft.com/office/drawing/2014/main" id="{539DAEBD-558A-4D21-8BC6-0237D0CE7DC8}"/>
              </a:ext>
            </a:extLst>
          </p:cNvPr>
          <p:cNvSpPr txBox="1"/>
          <p:nvPr/>
        </p:nvSpPr>
        <p:spPr>
          <a:xfrm>
            <a:off x="6873766" y="2789814"/>
            <a:ext cx="2443656" cy="253916"/>
          </a:xfrm>
          <a:prstGeom prst="rect">
            <a:avLst/>
          </a:prstGeom>
          <a:noFill/>
        </p:spPr>
        <p:txBody>
          <a:bodyPr wrap="square" rtlCol="0">
            <a:spAutoFit/>
          </a:bodyPr>
          <a:lstStyle/>
          <a:p>
            <a:pPr algn="ctr"/>
            <a:r>
              <a:rPr lang="en-US" sz="1050" u="sng" dirty="0"/>
              <a:t>LiPo Battery </a:t>
            </a:r>
            <a:endParaRPr lang="en-IN" sz="1050" u="sng" dirty="0"/>
          </a:p>
        </p:txBody>
      </p:sp>
      <p:sp>
        <p:nvSpPr>
          <p:cNvPr id="11" name="Arrow: Right 10">
            <a:extLst>
              <a:ext uri="{FF2B5EF4-FFF2-40B4-BE49-F238E27FC236}">
                <a16:creationId xmlns:a16="http://schemas.microsoft.com/office/drawing/2014/main" id="{071C5E1D-929D-C6A4-677F-E23A0D6C084F}"/>
              </a:ext>
            </a:extLst>
          </p:cNvPr>
          <p:cNvSpPr/>
          <p:nvPr/>
        </p:nvSpPr>
        <p:spPr>
          <a:xfrm>
            <a:off x="6684580" y="2303673"/>
            <a:ext cx="662152" cy="18402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09B3AAEC-BA1D-A72C-0FA7-48C880D56F17}"/>
              </a:ext>
            </a:extLst>
          </p:cNvPr>
          <p:cNvSpPr/>
          <p:nvPr/>
        </p:nvSpPr>
        <p:spPr>
          <a:xfrm>
            <a:off x="6416566" y="3742276"/>
            <a:ext cx="1010144" cy="16500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4173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A311-CC12-D2FB-9669-DC8C7D635BD7}"/>
              </a:ext>
            </a:extLst>
          </p:cNvPr>
          <p:cNvSpPr>
            <a:spLocks noGrp="1"/>
          </p:cNvSpPr>
          <p:nvPr>
            <p:ph type="title"/>
          </p:nvPr>
        </p:nvSpPr>
        <p:spPr>
          <a:xfrm>
            <a:off x="457200" y="471035"/>
            <a:ext cx="8229600" cy="801290"/>
          </a:xfrm>
        </p:spPr>
        <p:txBody>
          <a:bodyPr/>
          <a:lstStyle/>
          <a:p>
            <a:r>
              <a:rPr lang="en-US" u="sng" dirty="0"/>
              <a:t>Power Delivery</a:t>
            </a:r>
            <a:endParaRPr lang="en-IN" u="sng" dirty="0"/>
          </a:p>
        </p:txBody>
      </p:sp>
      <p:sp>
        <p:nvSpPr>
          <p:cNvPr id="3" name="Content Placeholder 2">
            <a:extLst>
              <a:ext uri="{FF2B5EF4-FFF2-40B4-BE49-F238E27FC236}">
                <a16:creationId xmlns:a16="http://schemas.microsoft.com/office/drawing/2014/main" id="{B8F89487-E9AE-182C-33C2-8A4169F9E166}"/>
              </a:ext>
            </a:extLst>
          </p:cNvPr>
          <p:cNvSpPr>
            <a:spLocks noGrp="1"/>
          </p:cNvSpPr>
          <p:nvPr>
            <p:ph sz="half" idx="1"/>
          </p:nvPr>
        </p:nvSpPr>
        <p:spPr/>
        <p:txBody>
          <a:bodyPr/>
          <a:lstStyle/>
          <a:p>
            <a:r>
              <a:rPr lang="en-US" sz="1200" dirty="0"/>
              <a:t>The general structure contains a DC-DC converter to supply a constant voltage to the inverter that drives the motor. </a:t>
            </a:r>
          </a:p>
          <a:p>
            <a:r>
              <a:rPr lang="en-US" sz="1200" dirty="0"/>
              <a:t>A DC-bus carries out power transmission.</a:t>
            </a:r>
          </a:p>
          <a:p>
            <a:r>
              <a:rPr lang="en-US" sz="1200" dirty="0"/>
              <a:t>Common loss elements in the model include</a:t>
            </a:r>
            <a:r>
              <a:rPr lang="en-IN" sz="1200" dirty="0"/>
              <a:t>:</a:t>
            </a:r>
          </a:p>
          <a:p>
            <a:pPr marL="628650" lvl="1" indent="-228600">
              <a:buAutoNum type="alphaLcPeriod"/>
            </a:pPr>
            <a:r>
              <a:rPr lang="en-IN" sz="900" dirty="0"/>
              <a:t>Conduction: MOSFETs, diodes</a:t>
            </a:r>
          </a:p>
          <a:p>
            <a:pPr marL="628650" lvl="1" indent="-228600">
              <a:buAutoNum type="alphaLcPeriod"/>
            </a:pPr>
            <a:r>
              <a:rPr lang="en-IN" sz="900" dirty="0"/>
              <a:t>Switching: MOSFETs</a:t>
            </a:r>
          </a:p>
          <a:p>
            <a:pPr marL="628650" lvl="1" indent="-228600">
              <a:buAutoNum type="alphaLcPeriod"/>
            </a:pPr>
            <a:r>
              <a:rPr lang="en-IN" sz="900" dirty="0"/>
              <a:t>Inherent losses in wires, bus, ESD, ESR, transients etc. </a:t>
            </a:r>
          </a:p>
          <a:p>
            <a:r>
              <a:rPr lang="en-IN" sz="1200" dirty="0"/>
              <a:t>Potential Solutions: </a:t>
            </a:r>
          </a:p>
          <a:p>
            <a:pPr marL="628650" lvl="1" indent="-228600">
              <a:buAutoNum type="alphaLcPeriod"/>
            </a:pPr>
            <a:r>
              <a:rPr lang="en-US" sz="900" dirty="0"/>
              <a:t>Optimizing component selection.</a:t>
            </a:r>
          </a:p>
          <a:p>
            <a:pPr marL="628650" lvl="1" indent="-228600">
              <a:buAutoNum type="alphaLcPeriod"/>
            </a:pPr>
            <a:r>
              <a:rPr lang="en-US" sz="900" dirty="0"/>
              <a:t>Choosing the appropriate delivery mechanisms.</a:t>
            </a:r>
          </a:p>
          <a:p>
            <a:pPr marL="628650" lvl="1" indent="-228600">
              <a:buAutoNum type="alphaLcPeriod"/>
            </a:pPr>
            <a:r>
              <a:rPr lang="en-US" sz="900" dirty="0"/>
              <a:t>Incorporating loss mitigation strategies such as the supercapacitor bank based ESD reduction in [6] and advanced control strategies</a:t>
            </a:r>
          </a:p>
          <a:p>
            <a:pPr marL="0" indent="0">
              <a:buNone/>
            </a:pPr>
            <a:endParaRPr lang="en-US" sz="1200" dirty="0"/>
          </a:p>
        </p:txBody>
      </p:sp>
      <p:pic>
        <p:nvPicPr>
          <p:cNvPr id="6" name="Picture 5">
            <a:extLst>
              <a:ext uri="{FF2B5EF4-FFF2-40B4-BE49-F238E27FC236}">
                <a16:creationId xmlns:a16="http://schemas.microsoft.com/office/drawing/2014/main" id="{D1534374-A63F-0E60-1C95-BAECB05BEBF9}"/>
              </a:ext>
            </a:extLst>
          </p:cNvPr>
          <p:cNvPicPr>
            <a:picLocks noChangeAspect="1"/>
          </p:cNvPicPr>
          <p:nvPr/>
        </p:nvPicPr>
        <p:blipFill>
          <a:blip r:embed="rId2"/>
          <a:stretch>
            <a:fillRect/>
          </a:stretch>
        </p:blipFill>
        <p:spPr>
          <a:xfrm>
            <a:off x="4572000" y="1476375"/>
            <a:ext cx="3424331" cy="574021"/>
          </a:xfrm>
          <a:prstGeom prst="rect">
            <a:avLst/>
          </a:prstGeom>
        </p:spPr>
      </p:pic>
      <p:sp>
        <p:nvSpPr>
          <p:cNvPr id="7" name="TextBox 6">
            <a:extLst>
              <a:ext uri="{FF2B5EF4-FFF2-40B4-BE49-F238E27FC236}">
                <a16:creationId xmlns:a16="http://schemas.microsoft.com/office/drawing/2014/main" id="{90E428F0-FE8E-37F8-DAC2-BDCD16E08D16}"/>
              </a:ext>
            </a:extLst>
          </p:cNvPr>
          <p:cNvSpPr txBox="1"/>
          <p:nvPr/>
        </p:nvSpPr>
        <p:spPr>
          <a:xfrm>
            <a:off x="4572000" y="2062711"/>
            <a:ext cx="3424331" cy="253916"/>
          </a:xfrm>
          <a:prstGeom prst="rect">
            <a:avLst/>
          </a:prstGeom>
          <a:noFill/>
        </p:spPr>
        <p:txBody>
          <a:bodyPr wrap="square" rtlCol="0">
            <a:spAutoFit/>
          </a:bodyPr>
          <a:lstStyle/>
          <a:p>
            <a:pPr algn="ctr"/>
            <a:r>
              <a:rPr lang="en-US" sz="1050" u="sng" dirty="0"/>
              <a:t>Inverter Losses[7] </a:t>
            </a:r>
            <a:endParaRPr lang="en-IN" sz="1050" u="sng" dirty="0"/>
          </a:p>
        </p:txBody>
      </p:sp>
      <p:pic>
        <p:nvPicPr>
          <p:cNvPr id="9" name="Picture 8">
            <a:extLst>
              <a:ext uri="{FF2B5EF4-FFF2-40B4-BE49-F238E27FC236}">
                <a16:creationId xmlns:a16="http://schemas.microsoft.com/office/drawing/2014/main" id="{AC32555C-4AAB-077E-25B9-B9128466E9E4}"/>
              </a:ext>
            </a:extLst>
          </p:cNvPr>
          <p:cNvPicPr>
            <a:picLocks noChangeAspect="1"/>
          </p:cNvPicPr>
          <p:nvPr/>
        </p:nvPicPr>
        <p:blipFill>
          <a:blip r:embed="rId3"/>
          <a:stretch>
            <a:fillRect/>
          </a:stretch>
        </p:blipFill>
        <p:spPr>
          <a:xfrm>
            <a:off x="5297499" y="2305993"/>
            <a:ext cx="1973331" cy="509962"/>
          </a:xfrm>
          <a:prstGeom prst="rect">
            <a:avLst/>
          </a:prstGeom>
        </p:spPr>
      </p:pic>
      <p:sp>
        <p:nvSpPr>
          <p:cNvPr id="10" name="TextBox 9">
            <a:extLst>
              <a:ext uri="{FF2B5EF4-FFF2-40B4-BE49-F238E27FC236}">
                <a16:creationId xmlns:a16="http://schemas.microsoft.com/office/drawing/2014/main" id="{01516C22-93BF-15CD-BF30-B0DF6D2A1523}"/>
              </a:ext>
            </a:extLst>
          </p:cNvPr>
          <p:cNvSpPr txBox="1"/>
          <p:nvPr/>
        </p:nvSpPr>
        <p:spPr>
          <a:xfrm>
            <a:off x="4572000" y="2724728"/>
            <a:ext cx="3424331" cy="253916"/>
          </a:xfrm>
          <a:prstGeom prst="rect">
            <a:avLst/>
          </a:prstGeom>
          <a:noFill/>
        </p:spPr>
        <p:txBody>
          <a:bodyPr wrap="square" rtlCol="0">
            <a:spAutoFit/>
          </a:bodyPr>
          <a:lstStyle/>
          <a:p>
            <a:pPr algn="ctr"/>
            <a:r>
              <a:rPr lang="en-US" sz="1050" u="sng" dirty="0"/>
              <a:t>Inductor Losses</a:t>
            </a:r>
            <a:endParaRPr lang="en-IN" sz="1050" u="sng" dirty="0"/>
          </a:p>
        </p:txBody>
      </p:sp>
      <p:pic>
        <p:nvPicPr>
          <p:cNvPr id="12" name="Picture 11">
            <a:extLst>
              <a:ext uri="{FF2B5EF4-FFF2-40B4-BE49-F238E27FC236}">
                <a16:creationId xmlns:a16="http://schemas.microsoft.com/office/drawing/2014/main" id="{A2109F32-EBF0-02A6-27EE-CD5D6850E07D}"/>
              </a:ext>
            </a:extLst>
          </p:cNvPr>
          <p:cNvPicPr>
            <a:picLocks noChangeAspect="1"/>
          </p:cNvPicPr>
          <p:nvPr/>
        </p:nvPicPr>
        <p:blipFill>
          <a:blip r:embed="rId4"/>
          <a:stretch>
            <a:fillRect/>
          </a:stretch>
        </p:blipFill>
        <p:spPr>
          <a:xfrm>
            <a:off x="4571997" y="3118580"/>
            <a:ext cx="3817275" cy="1408460"/>
          </a:xfrm>
          <a:prstGeom prst="rect">
            <a:avLst/>
          </a:prstGeom>
        </p:spPr>
      </p:pic>
      <p:sp>
        <p:nvSpPr>
          <p:cNvPr id="13" name="TextBox 12">
            <a:extLst>
              <a:ext uri="{FF2B5EF4-FFF2-40B4-BE49-F238E27FC236}">
                <a16:creationId xmlns:a16="http://schemas.microsoft.com/office/drawing/2014/main" id="{6FC73C49-D41A-CEB4-1857-6A4031BB24DC}"/>
              </a:ext>
            </a:extLst>
          </p:cNvPr>
          <p:cNvSpPr txBox="1"/>
          <p:nvPr/>
        </p:nvSpPr>
        <p:spPr>
          <a:xfrm>
            <a:off x="4768468" y="4594624"/>
            <a:ext cx="3424331" cy="253916"/>
          </a:xfrm>
          <a:prstGeom prst="rect">
            <a:avLst/>
          </a:prstGeom>
          <a:noFill/>
        </p:spPr>
        <p:txBody>
          <a:bodyPr wrap="square" rtlCol="0">
            <a:spAutoFit/>
          </a:bodyPr>
          <a:lstStyle/>
          <a:p>
            <a:pPr algn="ctr"/>
            <a:r>
              <a:rPr lang="en-US" sz="1050" u="sng" dirty="0"/>
              <a:t>Physical factors affecting energy consumption and range[8]</a:t>
            </a:r>
            <a:endParaRPr lang="en-IN" sz="1050" u="sng" dirty="0"/>
          </a:p>
        </p:txBody>
      </p:sp>
    </p:spTree>
    <p:extLst>
      <p:ext uri="{BB962C8B-B14F-4D97-AF65-F5344CB8AC3E}">
        <p14:creationId xmlns:p14="http://schemas.microsoft.com/office/powerpoint/2010/main" val="2404772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1F9C-F35A-B4DB-A2CE-A0557948DEC8}"/>
              </a:ext>
            </a:extLst>
          </p:cNvPr>
          <p:cNvSpPr>
            <a:spLocks noGrp="1"/>
          </p:cNvSpPr>
          <p:nvPr>
            <p:ph type="title"/>
          </p:nvPr>
        </p:nvSpPr>
        <p:spPr>
          <a:xfrm>
            <a:off x="457200" y="458843"/>
            <a:ext cx="8229600" cy="801290"/>
          </a:xfrm>
        </p:spPr>
        <p:txBody>
          <a:bodyPr/>
          <a:lstStyle/>
          <a:p>
            <a:r>
              <a:rPr lang="en-US" u="sng" dirty="0"/>
              <a:t>Motors and Associated Modelling</a:t>
            </a:r>
            <a:endParaRPr lang="en-IN" u="sng" dirty="0"/>
          </a:p>
        </p:txBody>
      </p:sp>
      <p:sp>
        <p:nvSpPr>
          <p:cNvPr id="3" name="Content Placeholder 2">
            <a:extLst>
              <a:ext uri="{FF2B5EF4-FFF2-40B4-BE49-F238E27FC236}">
                <a16:creationId xmlns:a16="http://schemas.microsoft.com/office/drawing/2014/main" id="{4FCE70F4-4A33-0B22-4AB3-F904E6819CFE}"/>
              </a:ext>
            </a:extLst>
          </p:cNvPr>
          <p:cNvSpPr>
            <a:spLocks noGrp="1"/>
          </p:cNvSpPr>
          <p:nvPr>
            <p:ph sz="half" idx="1"/>
          </p:nvPr>
        </p:nvSpPr>
        <p:spPr>
          <a:xfrm>
            <a:off x="457200" y="1308538"/>
            <a:ext cx="4038600" cy="3118247"/>
          </a:xfrm>
        </p:spPr>
        <p:txBody>
          <a:bodyPr/>
          <a:lstStyle/>
          <a:p>
            <a:r>
              <a:rPr lang="en-US" sz="1200" dirty="0">
                <a:latin typeface="+mn-lt"/>
              </a:rPr>
              <a:t>Different types of Permanent Magnet motors are utilized for UAVs.</a:t>
            </a:r>
          </a:p>
          <a:p>
            <a:r>
              <a:rPr lang="en-US" sz="1200" dirty="0">
                <a:latin typeface="+mn-lt"/>
              </a:rPr>
              <a:t>In an SPMSM, the permanent magnets are mounted on the surface of the rotor, typically attached with adhesives or a retaining sleeve, while in IPMSM, permanent magnets are embedded inside the rotor, often in V-shaped or U-shaped configurations. This design creates both radial and tangential magnetic fields</a:t>
            </a:r>
          </a:p>
          <a:p>
            <a:r>
              <a:rPr lang="en-US" sz="1000" dirty="0"/>
              <a:t>The performance analysis of PM motors is characterized by back EMF, electromagnetic torque, losses, and efficiency.</a:t>
            </a:r>
            <a:endParaRPr lang="en-US" sz="1200" dirty="0">
              <a:latin typeface="+mn-lt"/>
            </a:endParaRPr>
          </a:p>
          <a:p>
            <a:endParaRPr lang="en-US" sz="1200" dirty="0">
              <a:latin typeface="+mn-lt"/>
            </a:endParaRPr>
          </a:p>
          <a:p>
            <a:endParaRPr lang="en-IN" sz="1200" dirty="0">
              <a:latin typeface="+mn-lt"/>
            </a:endParaRPr>
          </a:p>
        </p:txBody>
      </p:sp>
      <p:pic>
        <p:nvPicPr>
          <p:cNvPr id="6146" name="Picture 2" descr="Energies 16 01306 g002 550">
            <a:extLst>
              <a:ext uri="{FF2B5EF4-FFF2-40B4-BE49-F238E27FC236}">
                <a16:creationId xmlns:a16="http://schemas.microsoft.com/office/drawing/2014/main" id="{3BBBF520-552A-47D6-7D35-B586A458C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0778" y="1215731"/>
            <a:ext cx="3288153" cy="14049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683B2AA-72FC-6509-D433-3146CE2CFCBD}"/>
              </a:ext>
            </a:extLst>
          </p:cNvPr>
          <p:cNvSpPr txBox="1"/>
          <p:nvPr/>
        </p:nvSpPr>
        <p:spPr>
          <a:xfrm>
            <a:off x="4981690" y="2621425"/>
            <a:ext cx="3547241" cy="830997"/>
          </a:xfrm>
          <a:prstGeom prst="rect">
            <a:avLst/>
          </a:prstGeom>
          <a:noFill/>
        </p:spPr>
        <p:txBody>
          <a:bodyPr wrap="square" rtlCol="0">
            <a:spAutoFit/>
          </a:bodyPr>
          <a:lstStyle/>
          <a:p>
            <a:r>
              <a:rPr lang="en-US" sz="1200" dirty="0"/>
              <a:t>As per a case study in [9] the characteristic comparisons of the two types of motors have been explored for EV applications:</a:t>
            </a:r>
          </a:p>
          <a:p>
            <a:endParaRPr lang="en-IN" sz="1200" dirty="0"/>
          </a:p>
        </p:txBody>
      </p:sp>
      <p:graphicFrame>
        <p:nvGraphicFramePr>
          <p:cNvPr id="6" name="Table 5">
            <a:extLst>
              <a:ext uri="{FF2B5EF4-FFF2-40B4-BE49-F238E27FC236}">
                <a16:creationId xmlns:a16="http://schemas.microsoft.com/office/drawing/2014/main" id="{519920CF-5130-F49A-4DB6-12086804FC69}"/>
              </a:ext>
            </a:extLst>
          </p:cNvPr>
          <p:cNvGraphicFramePr>
            <a:graphicFrameLocks noGrp="1"/>
          </p:cNvGraphicFramePr>
          <p:nvPr>
            <p:extLst>
              <p:ext uri="{D42A27DB-BD31-4B8C-83A1-F6EECF244321}">
                <p14:modId xmlns:p14="http://schemas.microsoft.com/office/powerpoint/2010/main" val="3827618179"/>
              </p:ext>
            </p:extLst>
          </p:nvPr>
        </p:nvGraphicFramePr>
        <p:xfrm>
          <a:off x="673294" y="3254301"/>
          <a:ext cx="7645011" cy="1669274"/>
        </p:xfrm>
        <a:graphic>
          <a:graphicData uri="http://schemas.openxmlformats.org/drawingml/2006/table">
            <a:tbl>
              <a:tblPr firstRow="1" bandRow="1">
                <a:tableStyleId>{5940675A-B579-460E-94D1-54222C63F5DA}</a:tableStyleId>
              </a:tblPr>
              <a:tblGrid>
                <a:gridCol w="2548337">
                  <a:extLst>
                    <a:ext uri="{9D8B030D-6E8A-4147-A177-3AD203B41FA5}">
                      <a16:colId xmlns:a16="http://schemas.microsoft.com/office/drawing/2014/main" val="2768631249"/>
                    </a:ext>
                  </a:extLst>
                </a:gridCol>
                <a:gridCol w="2548337">
                  <a:extLst>
                    <a:ext uri="{9D8B030D-6E8A-4147-A177-3AD203B41FA5}">
                      <a16:colId xmlns:a16="http://schemas.microsoft.com/office/drawing/2014/main" val="411634841"/>
                    </a:ext>
                  </a:extLst>
                </a:gridCol>
                <a:gridCol w="2548337">
                  <a:extLst>
                    <a:ext uri="{9D8B030D-6E8A-4147-A177-3AD203B41FA5}">
                      <a16:colId xmlns:a16="http://schemas.microsoft.com/office/drawing/2014/main" val="962305023"/>
                    </a:ext>
                  </a:extLst>
                </a:gridCol>
              </a:tblGrid>
              <a:tr h="343147">
                <a:tc>
                  <a:txBody>
                    <a:bodyPr/>
                    <a:lstStyle/>
                    <a:p>
                      <a:pPr algn="ctr"/>
                      <a:r>
                        <a:rPr lang="en-US" sz="1050" dirty="0"/>
                        <a:t>Aspect</a:t>
                      </a:r>
                      <a:endParaRPr lang="en-IN" sz="1050" dirty="0"/>
                    </a:p>
                  </a:txBody>
                  <a:tcPr/>
                </a:tc>
                <a:tc>
                  <a:txBody>
                    <a:bodyPr/>
                    <a:lstStyle/>
                    <a:p>
                      <a:pPr algn="ctr"/>
                      <a:r>
                        <a:rPr lang="en-US" sz="1050" dirty="0"/>
                        <a:t>SPMSM</a:t>
                      </a:r>
                      <a:endParaRPr lang="en-IN" sz="1050" dirty="0"/>
                    </a:p>
                  </a:txBody>
                  <a:tcPr/>
                </a:tc>
                <a:tc>
                  <a:txBody>
                    <a:bodyPr/>
                    <a:lstStyle/>
                    <a:p>
                      <a:pPr algn="ctr"/>
                      <a:r>
                        <a:rPr lang="en-US" sz="1050" dirty="0"/>
                        <a:t>IPMSM</a:t>
                      </a:r>
                      <a:endParaRPr lang="en-IN" sz="1050" dirty="0"/>
                    </a:p>
                  </a:txBody>
                  <a:tcPr/>
                </a:tc>
                <a:extLst>
                  <a:ext uri="{0D108BD9-81ED-4DB2-BD59-A6C34878D82A}">
                    <a16:rowId xmlns:a16="http://schemas.microsoft.com/office/drawing/2014/main" val="4105133523"/>
                  </a:ext>
                </a:extLst>
              </a:tr>
              <a:tr h="528823">
                <a:tc>
                  <a:txBody>
                    <a:bodyPr/>
                    <a:lstStyle/>
                    <a:p>
                      <a:pPr algn="ctr"/>
                      <a:r>
                        <a:rPr lang="en-US" sz="1050" dirty="0"/>
                        <a:t>Torque and Efficiency</a:t>
                      </a:r>
                      <a:endParaRPr lang="en-IN" sz="1050" dirty="0"/>
                    </a:p>
                  </a:txBody>
                  <a:tcPr/>
                </a:tc>
                <a:tc>
                  <a:txBody>
                    <a:bodyPr/>
                    <a:lstStyle/>
                    <a:p>
                      <a:pPr algn="ctr"/>
                      <a:r>
                        <a:rPr lang="en-US" sz="1050" dirty="0"/>
                        <a:t>Better efficiency but lower torque density</a:t>
                      </a:r>
                      <a:endParaRPr lang="en-IN" sz="1050" dirty="0"/>
                    </a:p>
                  </a:txBody>
                  <a:tcPr/>
                </a:tc>
                <a:tc>
                  <a:txBody>
                    <a:bodyPr/>
                    <a:lstStyle/>
                    <a:p>
                      <a:pPr algn="ctr"/>
                      <a:r>
                        <a:rPr lang="en-US" sz="1050" dirty="0"/>
                        <a:t>Better torque density due to utilization of magnetic and reluctance torques, with a lowered efficiency.</a:t>
                      </a:r>
                      <a:endParaRPr lang="en-IN" sz="1050" dirty="0"/>
                    </a:p>
                  </a:txBody>
                  <a:tcPr/>
                </a:tc>
                <a:extLst>
                  <a:ext uri="{0D108BD9-81ED-4DB2-BD59-A6C34878D82A}">
                    <a16:rowId xmlns:a16="http://schemas.microsoft.com/office/drawing/2014/main" val="3171164989"/>
                  </a:ext>
                </a:extLst>
              </a:tr>
              <a:tr h="380752">
                <a:tc>
                  <a:txBody>
                    <a:bodyPr/>
                    <a:lstStyle/>
                    <a:p>
                      <a:pPr algn="ctr"/>
                      <a:r>
                        <a:rPr lang="en-US" sz="1050" dirty="0"/>
                        <a:t>Back EMF and Harmonics</a:t>
                      </a:r>
                      <a:endParaRPr lang="en-IN" sz="1050" dirty="0"/>
                    </a:p>
                  </a:txBody>
                  <a:tcPr/>
                </a:tc>
                <a:tc>
                  <a:txBody>
                    <a:bodyPr/>
                    <a:lstStyle/>
                    <a:p>
                      <a:pPr algn="ctr"/>
                      <a:r>
                        <a:rPr lang="en-US" sz="1050" dirty="0"/>
                        <a:t>Lower THD with back emf closer to a sinewave</a:t>
                      </a:r>
                      <a:endParaRPr lang="en-IN" sz="1050" dirty="0"/>
                    </a:p>
                  </a:txBody>
                  <a:tcPr/>
                </a:tc>
                <a:tc>
                  <a:txBody>
                    <a:bodyPr/>
                    <a:lstStyle/>
                    <a:p>
                      <a:pPr algn="ctr"/>
                      <a:r>
                        <a:rPr lang="en-US" sz="1050" dirty="0"/>
                        <a:t>Higher THD, with harmonics influenced by square wave flux</a:t>
                      </a:r>
                      <a:endParaRPr lang="en-IN" sz="1050" dirty="0"/>
                    </a:p>
                  </a:txBody>
                  <a:tcPr/>
                </a:tc>
                <a:extLst>
                  <a:ext uri="{0D108BD9-81ED-4DB2-BD59-A6C34878D82A}">
                    <a16:rowId xmlns:a16="http://schemas.microsoft.com/office/drawing/2014/main" val="1509024811"/>
                  </a:ext>
                </a:extLst>
              </a:tr>
              <a:tr h="343147">
                <a:tc>
                  <a:txBody>
                    <a:bodyPr/>
                    <a:lstStyle/>
                    <a:p>
                      <a:pPr algn="ctr"/>
                      <a:r>
                        <a:rPr lang="en-US" sz="1050" dirty="0"/>
                        <a:t>Losses</a:t>
                      </a:r>
                      <a:endParaRPr lang="en-IN" sz="1050" dirty="0"/>
                    </a:p>
                  </a:txBody>
                  <a:tcPr/>
                </a:tc>
                <a:tc>
                  <a:txBody>
                    <a:bodyPr/>
                    <a:lstStyle/>
                    <a:p>
                      <a:pPr algn="ctr"/>
                      <a:r>
                        <a:rPr lang="en-US" sz="1050" dirty="0"/>
                        <a:t>Lower </a:t>
                      </a:r>
                      <a:r>
                        <a:rPr lang="en-US" sz="1050" dirty="0" err="1"/>
                        <a:t>Pcu</a:t>
                      </a:r>
                      <a:r>
                        <a:rPr lang="en-US" sz="1050" dirty="0"/>
                        <a:t>, Higher </a:t>
                      </a:r>
                      <a:r>
                        <a:rPr lang="en-US" sz="1050" dirty="0" err="1"/>
                        <a:t>Pcore</a:t>
                      </a:r>
                      <a:endParaRPr lang="en-IN" sz="1050" dirty="0"/>
                    </a:p>
                  </a:txBody>
                  <a:tcPr/>
                </a:tc>
                <a:tc>
                  <a:txBody>
                    <a:bodyPr/>
                    <a:lstStyle/>
                    <a:p>
                      <a:pPr algn="ctr"/>
                      <a:r>
                        <a:rPr lang="en-US" sz="1050" dirty="0"/>
                        <a:t>Higher </a:t>
                      </a:r>
                      <a:r>
                        <a:rPr lang="en-US" sz="1050" dirty="0" err="1"/>
                        <a:t>Pcu</a:t>
                      </a:r>
                      <a:r>
                        <a:rPr lang="en-US" sz="1050" dirty="0"/>
                        <a:t>, Lower </a:t>
                      </a:r>
                      <a:r>
                        <a:rPr lang="en-US" sz="1050" dirty="0" err="1"/>
                        <a:t>Pcore</a:t>
                      </a:r>
                      <a:endParaRPr lang="en-IN" sz="1050" dirty="0"/>
                    </a:p>
                  </a:txBody>
                  <a:tcPr/>
                </a:tc>
                <a:extLst>
                  <a:ext uri="{0D108BD9-81ED-4DB2-BD59-A6C34878D82A}">
                    <a16:rowId xmlns:a16="http://schemas.microsoft.com/office/drawing/2014/main" val="2555034049"/>
                  </a:ext>
                </a:extLst>
              </a:tr>
            </a:tbl>
          </a:graphicData>
        </a:graphic>
      </p:graphicFrame>
    </p:spTree>
    <p:extLst>
      <p:ext uri="{BB962C8B-B14F-4D97-AF65-F5344CB8AC3E}">
        <p14:creationId xmlns:p14="http://schemas.microsoft.com/office/powerpoint/2010/main" val="1109838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A0D30D-E128-51CA-6969-38A2695452AC}"/>
              </a:ext>
            </a:extLst>
          </p:cNvPr>
          <p:cNvSpPr txBox="1"/>
          <p:nvPr/>
        </p:nvSpPr>
        <p:spPr>
          <a:xfrm>
            <a:off x="260196" y="1323278"/>
            <a:ext cx="8883804" cy="1200329"/>
          </a:xfrm>
          <a:prstGeom prst="rect">
            <a:avLst/>
          </a:prstGeom>
          <a:noFill/>
        </p:spPr>
        <p:txBody>
          <a:bodyPr wrap="square" rtlCol="0">
            <a:spAutoFit/>
          </a:bodyPr>
          <a:lstStyle/>
          <a:p>
            <a:r>
              <a:rPr lang="en-US" sz="3600" dirty="0"/>
              <a:t>Detailed Exploration of individual research papers…</a:t>
            </a:r>
            <a:endParaRPr lang="en-IN" sz="3600" dirty="0"/>
          </a:p>
        </p:txBody>
      </p:sp>
    </p:spTree>
    <p:extLst>
      <p:ext uri="{BB962C8B-B14F-4D97-AF65-F5344CB8AC3E}">
        <p14:creationId xmlns:p14="http://schemas.microsoft.com/office/powerpoint/2010/main" val="1584722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0ED278-A1FC-A58E-EF8C-1E3DCF069C87}"/>
              </a:ext>
            </a:extLst>
          </p:cNvPr>
          <p:cNvSpPr txBox="1"/>
          <p:nvPr/>
        </p:nvSpPr>
        <p:spPr>
          <a:xfrm>
            <a:off x="1193181" y="473689"/>
            <a:ext cx="6757638" cy="1415772"/>
          </a:xfrm>
          <a:prstGeom prst="rect">
            <a:avLst/>
          </a:prstGeom>
          <a:solidFill>
            <a:schemeClr val="bg1">
              <a:lumMod val="85000"/>
            </a:schemeClr>
          </a:solidFill>
          <a:ln>
            <a:solidFill>
              <a:srgbClr val="FF0000"/>
            </a:solidFill>
          </a:ln>
        </p:spPr>
        <p:txBody>
          <a:bodyPr wrap="square" rtlCol="0">
            <a:spAutoFit/>
          </a:bodyPr>
          <a:lstStyle/>
          <a:p>
            <a:r>
              <a:rPr lang="en-IN" sz="1200" dirty="0"/>
              <a:t>A.P. </a:t>
            </a:r>
            <a:r>
              <a:rPr lang="en-IN" sz="1200" dirty="0" err="1"/>
              <a:t>Thurlbeck</a:t>
            </a:r>
            <a:r>
              <a:rPr lang="en-IN" sz="1200" dirty="0"/>
              <a:t> and Y. Cao, "</a:t>
            </a:r>
            <a:r>
              <a:rPr lang="en-IN" sz="1200" b="1" dirty="0"/>
              <a:t>, </a:t>
            </a:r>
            <a:r>
              <a:rPr lang="en-IN" sz="1400" b="1" dirty="0"/>
              <a:t>Analysis and Modelling of UAV Power System Architecture</a:t>
            </a:r>
            <a:r>
              <a:rPr lang="en-IN" sz="1200" b="1" dirty="0"/>
              <a:t>“</a:t>
            </a:r>
          </a:p>
          <a:p>
            <a:endParaRPr lang="en-IN" sz="1200" b="1" dirty="0"/>
          </a:p>
          <a:p>
            <a:r>
              <a:rPr lang="en-IN" sz="1200" dirty="0"/>
              <a:t>2019 IEEE Transportation Electrification Conference and Expo (ITEC), Detroit, MI, USA, 2019, </a:t>
            </a:r>
          </a:p>
          <a:p>
            <a:endParaRPr lang="en-IN" sz="1200" dirty="0"/>
          </a:p>
          <a:p>
            <a:r>
              <a:rPr lang="en-IN" sz="1200" dirty="0"/>
              <a:t>pp. 1-8, </a:t>
            </a:r>
            <a:r>
              <a:rPr lang="en-IN" sz="1200" dirty="0" err="1"/>
              <a:t>doi</a:t>
            </a:r>
            <a:r>
              <a:rPr lang="en-IN" sz="1200" dirty="0"/>
              <a:t>: 10.1109/ITEC.2019.8790566</a:t>
            </a:r>
          </a:p>
          <a:p>
            <a:endParaRPr lang="en-IN" sz="1200" dirty="0"/>
          </a:p>
          <a:p>
            <a:endParaRPr lang="en-IN" sz="1200" dirty="0"/>
          </a:p>
        </p:txBody>
      </p:sp>
      <p:sp>
        <p:nvSpPr>
          <p:cNvPr id="4" name="TextBox 3">
            <a:extLst>
              <a:ext uri="{FF2B5EF4-FFF2-40B4-BE49-F238E27FC236}">
                <a16:creationId xmlns:a16="http://schemas.microsoft.com/office/drawing/2014/main" id="{0EC191B6-41BE-52E2-D309-CB5A25E0FC9F}"/>
              </a:ext>
            </a:extLst>
          </p:cNvPr>
          <p:cNvSpPr txBox="1"/>
          <p:nvPr/>
        </p:nvSpPr>
        <p:spPr>
          <a:xfrm>
            <a:off x="78058" y="2239926"/>
            <a:ext cx="8883805" cy="2923877"/>
          </a:xfrm>
          <a:prstGeom prst="rect">
            <a:avLst/>
          </a:prstGeom>
          <a:noFill/>
        </p:spPr>
        <p:txBody>
          <a:bodyPr wrap="square" rtlCol="0">
            <a:spAutoFit/>
          </a:bodyPr>
          <a:lstStyle/>
          <a:p>
            <a:pPr marL="171450" indent="-171450">
              <a:buFont typeface="Arial" panose="020B0604020202020204" pitchFamily="34" charset="0"/>
              <a:buChar char="•"/>
            </a:pPr>
            <a:r>
              <a:rPr lang="en-US" sz="1600" b="1" u="sng" dirty="0"/>
              <a:t>The Crux of the Authors’ Work:</a:t>
            </a:r>
          </a:p>
          <a:p>
            <a:pPr marL="171450" indent="-171450">
              <a:buFont typeface="Arial" panose="020B0604020202020204" pitchFamily="34" charset="0"/>
              <a:buChar char="•"/>
            </a:pPr>
            <a:r>
              <a:rPr lang="en-US" sz="1200" dirty="0"/>
              <a:t>Developed a comprehensive modeling framework for power systems in VTOL UAVs.</a:t>
            </a:r>
          </a:p>
          <a:p>
            <a:endParaRPr lang="en-US" sz="1200" dirty="0"/>
          </a:p>
          <a:p>
            <a:pPr marL="171450" indent="-171450">
              <a:buFont typeface="Arial" panose="020B0604020202020204" pitchFamily="34" charset="0"/>
              <a:buChar char="•"/>
            </a:pPr>
            <a:r>
              <a:rPr lang="en-US" sz="1200" dirty="0"/>
              <a:t>Designed an example UAV platform to demonstrate applications of the model. Compared multiple power system architectures based on power loss, craft mass, and flight time.</a:t>
            </a:r>
          </a:p>
          <a:p>
            <a:endParaRPr lang="en-US" sz="1200" dirty="0"/>
          </a:p>
          <a:p>
            <a:pPr marL="171450" indent="-171450">
              <a:buFont typeface="Arial" panose="020B0604020202020204" pitchFamily="34" charset="0"/>
              <a:buChar char="•"/>
            </a:pPr>
            <a:r>
              <a:rPr lang="en-US" sz="1200" dirty="0"/>
              <a:t>Incorporated a realistic mission profile to analyze system losses and required input energy. Simulated the impact of hydrogen fuel cells and battery architecture, showing advantages for payload capacity and flight time. Conducted optimization studies to refine UAV power system design.</a:t>
            </a:r>
          </a:p>
          <a:p>
            <a:endParaRPr lang="en-US" sz="1200" dirty="0"/>
          </a:p>
          <a:p>
            <a:pPr marL="171450" indent="-171450">
              <a:buFont typeface="Arial" panose="020B0604020202020204" pitchFamily="34" charset="0"/>
              <a:buChar char="•"/>
            </a:pPr>
            <a:r>
              <a:rPr lang="en-US" sz="1200" dirty="0"/>
              <a:t>Utilized dynamometer testing with a permanent magnet synchronous motor (PMSM) and a DC-AC inverter to validate the modeling approach.</a:t>
            </a:r>
          </a:p>
          <a:p>
            <a:endParaRPr lang="en-US" sz="1200" dirty="0"/>
          </a:p>
          <a:p>
            <a:pPr marL="171450" indent="-171450">
              <a:buFont typeface="Arial" panose="020B0604020202020204" pitchFamily="34" charset="0"/>
              <a:buChar char="•"/>
            </a:pPr>
            <a:r>
              <a:rPr lang="en-US" sz="1200" dirty="0"/>
              <a:t>Simulated flight under various mission conditions (ascending, descending, hovering, cruising) to assess energy efficiency and performance.</a:t>
            </a:r>
            <a:endParaRPr lang="en-IN" sz="1200" dirty="0"/>
          </a:p>
        </p:txBody>
      </p:sp>
    </p:spTree>
    <p:extLst>
      <p:ext uri="{BB962C8B-B14F-4D97-AF65-F5344CB8AC3E}">
        <p14:creationId xmlns:p14="http://schemas.microsoft.com/office/powerpoint/2010/main" val="178532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0B83-BAF0-F87A-5D6D-4FC61CD29E27}"/>
              </a:ext>
            </a:extLst>
          </p:cNvPr>
          <p:cNvSpPr>
            <a:spLocks noGrp="1"/>
          </p:cNvSpPr>
          <p:nvPr>
            <p:ph type="title"/>
          </p:nvPr>
        </p:nvSpPr>
        <p:spPr>
          <a:xfrm>
            <a:off x="0" y="460917"/>
            <a:ext cx="9144000" cy="1015458"/>
          </a:xfrm>
        </p:spPr>
        <p:txBody>
          <a:bodyPr/>
          <a:lstStyle/>
          <a:p>
            <a:r>
              <a:rPr lang="en-US" sz="2800" u="sng" dirty="0"/>
              <a:t>Analysis and Modeling of UAV Power System Architectures - Introduction</a:t>
            </a:r>
            <a:endParaRPr lang="en-IN" sz="2800" u="sng" dirty="0"/>
          </a:p>
        </p:txBody>
      </p:sp>
      <p:sp>
        <p:nvSpPr>
          <p:cNvPr id="4" name="Content Placeholder 3">
            <a:extLst>
              <a:ext uri="{FF2B5EF4-FFF2-40B4-BE49-F238E27FC236}">
                <a16:creationId xmlns:a16="http://schemas.microsoft.com/office/drawing/2014/main" id="{5E8AD71D-1FC9-888C-9C6A-5D6595C787D6}"/>
              </a:ext>
            </a:extLst>
          </p:cNvPr>
          <p:cNvSpPr>
            <a:spLocks noGrp="1"/>
          </p:cNvSpPr>
          <p:nvPr>
            <p:ph sz="half" idx="2"/>
          </p:nvPr>
        </p:nvSpPr>
        <p:spPr>
          <a:xfrm>
            <a:off x="319668" y="1476377"/>
            <a:ext cx="3665034" cy="3118247"/>
          </a:xfrm>
        </p:spPr>
        <p:txBody>
          <a:bodyPr/>
          <a:lstStyle/>
          <a:p>
            <a:r>
              <a:rPr lang="en-US" sz="1200" b="1" dirty="0"/>
              <a:t>In this part, I am going to mainly focus on the aspects of loss modelling of the individual subsystems and the approach taken by the authors for the same.</a:t>
            </a:r>
          </a:p>
          <a:p>
            <a:r>
              <a:rPr lang="en-US" sz="1200" dirty="0"/>
              <a:t>There are three main architectures and their performances are discussed in this paper. </a:t>
            </a:r>
          </a:p>
          <a:p>
            <a:pPr marL="628650" lvl="1" indent="-228600">
              <a:buFont typeface="+mj-lt"/>
              <a:buAutoNum type="alphaLcPeriod"/>
            </a:pPr>
            <a:r>
              <a:rPr lang="en-US" sz="1100" b="1" dirty="0"/>
              <a:t>Architecture 1</a:t>
            </a:r>
            <a:r>
              <a:rPr lang="en-US" sz="1100" dirty="0"/>
              <a:t>: DC-DC converter with fixed DC bus. Need to investigate loss structuring on the converter.</a:t>
            </a:r>
          </a:p>
          <a:p>
            <a:pPr marL="628650" lvl="1" indent="-228600">
              <a:buFont typeface="+mj-lt"/>
              <a:buAutoNum type="alphaLcPeriod"/>
            </a:pPr>
            <a:r>
              <a:rPr lang="en-US" sz="1100" b="1" dirty="0"/>
              <a:t>Architecture 2:</a:t>
            </a:r>
            <a:r>
              <a:rPr lang="en-US" sz="1100" dirty="0"/>
              <a:t> DC bus voltage varies with battery SOC.</a:t>
            </a:r>
          </a:p>
          <a:p>
            <a:pPr marL="628650" lvl="1" indent="-228600">
              <a:buFont typeface="+mj-lt"/>
              <a:buAutoNum type="alphaLcPeriod"/>
            </a:pPr>
            <a:r>
              <a:rPr lang="en-US" sz="1100" b="1" dirty="0"/>
              <a:t>Architecture 3:</a:t>
            </a:r>
            <a:r>
              <a:rPr lang="en-US" sz="1100" dirty="0"/>
              <a:t> Hybrid powered system. Requires precise control for achieving desired transient response. </a:t>
            </a:r>
            <a:endParaRPr lang="en-IN" sz="1100" dirty="0"/>
          </a:p>
        </p:txBody>
      </p:sp>
      <p:pic>
        <p:nvPicPr>
          <p:cNvPr id="6" name="Picture 5">
            <a:extLst>
              <a:ext uri="{FF2B5EF4-FFF2-40B4-BE49-F238E27FC236}">
                <a16:creationId xmlns:a16="http://schemas.microsoft.com/office/drawing/2014/main" id="{7C876A32-C8AD-C7A1-FA65-B3FBF944D9F2}"/>
              </a:ext>
            </a:extLst>
          </p:cNvPr>
          <p:cNvPicPr>
            <a:picLocks noChangeAspect="1"/>
          </p:cNvPicPr>
          <p:nvPr/>
        </p:nvPicPr>
        <p:blipFill>
          <a:blip r:embed="rId2"/>
          <a:stretch>
            <a:fillRect/>
          </a:stretch>
        </p:blipFill>
        <p:spPr>
          <a:xfrm>
            <a:off x="4572000" y="1476375"/>
            <a:ext cx="4117567" cy="2363634"/>
          </a:xfrm>
          <a:prstGeom prst="rect">
            <a:avLst/>
          </a:prstGeom>
        </p:spPr>
      </p:pic>
    </p:spTree>
    <p:extLst>
      <p:ext uri="{BB962C8B-B14F-4D97-AF65-F5344CB8AC3E}">
        <p14:creationId xmlns:p14="http://schemas.microsoft.com/office/powerpoint/2010/main" val="363456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947E3-FE5A-1E29-A1FD-B88828086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411D79-0B07-2E4A-8200-2F6940B5071D}"/>
              </a:ext>
            </a:extLst>
          </p:cNvPr>
          <p:cNvSpPr>
            <a:spLocks noGrp="1"/>
          </p:cNvSpPr>
          <p:nvPr>
            <p:ph type="title"/>
          </p:nvPr>
        </p:nvSpPr>
        <p:spPr>
          <a:xfrm>
            <a:off x="0" y="460917"/>
            <a:ext cx="9144000" cy="1015458"/>
          </a:xfrm>
        </p:spPr>
        <p:txBody>
          <a:bodyPr/>
          <a:lstStyle/>
          <a:p>
            <a:r>
              <a:rPr lang="en-US" sz="2800" u="sng" dirty="0"/>
              <a:t>Analysis and Modeling of UAV Power System Architectures – PMSM Motor Analysis</a:t>
            </a:r>
            <a:endParaRPr lang="en-IN" sz="2800" u="sng" dirty="0"/>
          </a:p>
        </p:txBody>
      </p:sp>
      <p:sp>
        <p:nvSpPr>
          <p:cNvPr id="4" name="Content Placeholder 3">
            <a:extLst>
              <a:ext uri="{FF2B5EF4-FFF2-40B4-BE49-F238E27FC236}">
                <a16:creationId xmlns:a16="http://schemas.microsoft.com/office/drawing/2014/main" id="{B68EEDD3-2FA8-B18D-5238-7C322B1EE14C}"/>
              </a:ext>
            </a:extLst>
          </p:cNvPr>
          <p:cNvSpPr>
            <a:spLocks noGrp="1"/>
          </p:cNvSpPr>
          <p:nvPr>
            <p:ph sz="half" idx="2"/>
          </p:nvPr>
        </p:nvSpPr>
        <p:spPr>
          <a:xfrm>
            <a:off x="0" y="1476377"/>
            <a:ext cx="4059044" cy="3667123"/>
          </a:xfrm>
        </p:spPr>
        <p:txBody>
          <a:bodyPr/>
          <a:lstStyle/>
          <a:p>
            <a:r>
              <a:rPr lang="en-US" sz="1100" dirty="0"/>
              <a:t>Inverter based FOC/SVM controlled PMSM motors have been identified as an efficient option in terms of cost and utilization.</a:t>
            </a:r>
          </a:p>
          <a:p>
            <a:r>
              <a:rPr lang="en-US" sz="1100" dirty="0"/>
              <a:t>Note that d-q reference frame analysis was done in the controls part.</a:t>
            </a:r>
          </a:p>
          <a:p>
            <a:r>
              <a:rPr lang="en-US" sz="1100" dirty="0"/>
              <a:t>Back EMF = E</a:t>
            </a:r>
            <a:r>
              <a:rPr lang="en-US" sz="1100" baseline="-25000" dirty="0"/>
              <a:t>ph(q) </a:t>
            </a:r>
            <a:r>
              <a:rPr lang="en-US" sz="1100" dirty="0"/>
              <a:t>= </a:t>
            </a:r>
            <a:r>
              <a:rPr lang="en-US" sz="1100" dirty="0" err="1"/>
              <a:t>k</a:t>
            </a:r>
            <a:r>
              <a:rPr lang="en-US" sz="1100" baseline="-25000" dirty="0" err="1"/>
              <a:t>e</a:t>
            </a:r>
            <a:r>
              <a:rPr lang="en-US" sz="1100" dirty="0"/>
              <a:t>*</a:t>
            </a:r>
            <a:r>
              <a:rPr lang="en-US" sz="1100" dirty="0" err="1"/>
              <a:t>W</a:t>
            </a:r>
            <a:r>
              <a:rPr lang="en-US" sz="1100" baseline="-25000" dirty="0" err="1"/>
              <a:t>r</a:t>
            </a:r>
            <a:r>
              <a:rPr lang="en-US" sz="1100" baseline="-25000" dirty="0"/>
              <a:t> </a:t>
            </a:r>
            <a:r>
              <a:rPr lang="en-US" sz="1100" dirty="0"/>
              <a:t>(rotor speed*back emf const.(Vs/rad)</a:t>
            </a:r>
          </a:p>
          <a:p>
            <a:r>
              <a:rPr lang="en-US" sz="1100" dirty="0"/>
              <a:t>If </a:t>
            </a:r>
            <a:r>
              <a:rPr lang="en-US" sz="1100" dirty="0" err="1"/>
              <a:t>P</a:t>
            </a:r>
            <a:r>
              <a:rPr lang="en-US" sz="1100" baseline="-25000" dirty="0" err="1"/>
              <a:t>mech</a:t>
            </a:r>
            <a:r>
              <a:rPr lang="en-US" sz="1100" baseline="-25000" dirty="0"/>
              <a:t> </a:t>
            </a:r>
            <a:r>
              <a:rPr lang="en-US" sz="1100" dirty="0"/>
              <a:t> are the combined mechanical losses then, we have </a:t>
            </a:r>
          </a:p>
          <a:p>
            <a:endParaRPr lang="en-US" sz="1100" dirty="0"/>
          </a:p>
          <a:p>
            <a:endParaRPr lang="en-US" sz="1100" dirty="0"/>
          </a:p>
          <a:p>
            <a:endParaRPr lang="en-US" sz="1100" dirty="0"/>
          </a:p>
          <a:p>
            <a:endParaRPr lang="en-US" sz="1100" dirty="0"/>
          </a:p>
          <a:p>
            <a:pPr marL="0" indent="0">
              <a:buNone/>
            </a:pPr>
            <a:r>
              <a:rPr lang="en-US" sz="1100" dirty="0"/>
              <a:t>Where,</a:t>
            </a:r>
          </a:p>
          <a:p>
            <a:pPr lvl="1"/>
            <a:r>
              <a:rPr lang="en-US" sz="1200" dirty="0"/>
              <a:t> T</a:t>
            </a:r>
            <a:r>
              <a:rPr lang="en-US" sz="1200" baseline="-25000" dirty="0"/>
              <a:t>em</a:t>
            </a:r>
            <a:r>
              <a:rPr lang="en-US" sz="1200" dirty="0"/>
              <a:t> = electromechanical torque comprised of no load  and loaded torque</a:t>
            </a:r>
          </a:p>
          <a:p>
            <a:pPr lvl="1"/>
            <a:r>
              <a:rPr lang="en-US" sz="1200" dirty="0"/>
              <a:t>Ls, Rs: Stator inductance and resistance</a:t>
            </a:r>
          </a:p>
          <a:p>
            <a:endParaRPr lang="en-US" sz="1100" dirty="0"/>
          </a:p>
          <a:p>
            <a:endParaRPr lang="en-IN" sz="1100" dirty="0"/>
          </a:p>
        </p:txBody>
      </p:sp>
      <p:pic>
        <p:nvPicPr>
          <p:cNvPr id="5" name="Picture 4">
            <a:extLst>
              <a:ext uri="{FF2B5EF4-FFF2-40B4-BE49-F238E27FC236}">
                <a16:creationId xmlns:a16="http://schemas.microsoft.com/office/drawing/2014/main" id="{39383EBD-AC11-7DEA-5ACB-150EDAB83633}"/>
              </a:ext>
            </a:extLst>
          </p:cNvPr>
          <p:cNvPicPr>
            <a:picLocks noChangeAspect="1"/>
          </p:cNvPicPr>
          <p:nvPr/>
        </p:nvPicPr>
        <p:blipFill>
          <a:blip r:embed="rId2"/>
          <a:stretch>
            <a:fillRect/>
          </a:stretch>
        </p:blipFill>
        <p:spPr>
          <a:xfrm>
            <a:off x="5218771" y="3367389"/>
            <a:ext cx="3925229" cy="1776112"/>
          </a:xfrm>
          <a:prstGeom prst="rect">
            <a:avLst/>
          </a:prstGeom>
        </p:spPr>
      </p:pic>
      <p:pic>
        <p:nvPicPr>
          <p:cNvPr id="8" name="Picture 7">
            <a:extLst>
              <a:ext uri="{FF2B5EF4-FFF2-40B4-BE49-F238E27FC236}">
                <a16:creationId xmlns:a16="http://schemas.microsoft.com/office/drawing/2014/main" id="{D9E6F2E9-8AA4-8AC0-19AB-8B360970D149}"/>
              </a:ext>
            </a:extLst>
          </p:cNvPr>
          <p:cNvPicPr>
            <a:picLocks noChangeAspect="1"/>
          </p:cNvPicPr>
          <p:nvPr/>
        </p:nvPicPr>
        <p:blipFill>
          <a:blip r:embed="rId3"/>
          <a:stretch>
            <a:fillRect/>
          </a:stretch>
        </p:blipFill>
        <p:spPr>
          <a:xfrm>
            <a:off x="68293" y="3181976"/>
            <a:ext cx="1781424" cy="504895"/>
          </a:xfrm>
          <a:prstGeom prst="rect">
            <a:avLst/>
          </a:prstGeom>
        </p:spPr>
      </p:pic>
      <p:pic>
        <p:nvPicPr>
          <p:cNvPr id="10" name="Picture 9">
            <a:extLst>
              <a:ext uri="{FF2B5EF4-FFF2-40B4-BE49-F238E27FC236}">
                <a16:creationId xmlns:a16="http://schemas.microsoft.com/office/drawing/2014/main" id="{91BEBF2B-28D8-F980-2E9C-950FC3E13E17}"/>
              </a:ext>
            </a:extLst>
          </p:cNvPr>
          <p:cNvPicPr>
            <a:picLocks noChangeAspect="1"/>
          </p:cNvPicPr>
          <p:nvPr/>
        </p:nvPicPr>
        <p:blipFill>
          <a:blip r:embed="rId4"/>
          <a:stretch>
            <a:fillRect/>
          </a:stretch>
        </p:blipFill>
        <p:spPr>
          <a:xfrm>
            <a:off x="1958244" y="3100461"/>
            <a:ext cx="2312456" cy="838832"/>
          </a:xfrm>
          <a:prstGeom prst="rect">
            <a:avLst/>
          </a:prstGeom>
        </p:spPr>
      </p:pic>
      <p:sp>
        <p:nvSpPr>
          <p:cNvPr id="11" name="TextBox 10">
            <a:extLst>
              <a:ext uri="{FF2B5EF4-FFF2-40B4-BE49-F238E27FC236}">
                <a16:creationId xmlns:a16="http://schemas.microsoft.com/office/drawing/2014/main" id="{11E8B655-A2FC-4BE2-7CDA-1536592308AA}"/>
              </a:ext>
            </a:extLst>
          </p:cNvPr>
          <p:cNvSpPr txBox="1"/>
          <p:nvPr/>
        </p:nvSpPr>
        <p:spPr>
          <a:xfrm>
            <a:off x="5218771" y="1538868"/>
            <a:ext cx="3925229" cy="461665"/>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total losses of the inverter are given by,</a:t>
            </a:r>
          </a:p>
          <a:p>
            <a:pPr marL="171450" indent="-171450">
              <a:buFont typeface="Arial" panose="020B0604020202020204" pitchFamily="34" charset="0"/>
              <a:buChar char="•"/>
            </a:pPr>
            <a:endParaRPr lang="en-IN" sz="1200" dirty="0"/>
          </a:p>
        </p:txBody>
      </p:sp>
      <p:pic>
        <p:nvPicPr>
          <p:cNvPr id="13" name="Picture 12">
            <a:extLst>
              <a:ext uri="{FF2B5EF4-FFF2-40B4-BE49-F238E27FC236}">
                <a16:creationId xmlns:a16="http://schemas.microsoft.com/office/drawing/2014/main" id="{77A9AE35-7553-4649-CB5F-1D606F61923E}"/>
              </a:ext>
            </a:extLst>
          </p:cNvPr>
          <p:cNvPicPr>
            <a:picLocks noChangeAspect="1"/>
          </p:cNvPicPr>
          <p:nvPr/>
        </p:nvPicPr>
        <p:blipFill>
          <a:blip r:embed="rId5"/>
          <a:stretch>
            <a:fillRect/>
          </a:stretch>
        </p:blipFill>
        <p:spPr>
          <a:xfrm>
            <a:off x="5673806" y="2052227"/>
            <a:ext cx="2734057" cy="676369"/>
          </a:xfrm>
          <a:prstGeom prst="rect">
            <a:avLst/>
          </a:prstGeom>
        </p:spPr>
      </p:pic>
    </p:spTree>
    <p:extLst>
      <p:ext uri="{BB962C8B-B14F-4D97-AF65-F5344CB8AC3E}">
        <p14:creationId xmlns:p14="http://schemas.microsoft.com/office/powerpoint/2010/main" val="2642863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7389D-08A7-AB5A-94C6-4F022B46C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D7B47-6D2E-206B-18F8-626FD343C17C}"/>
              </a:ext>
            </a:extLst>
          </p:cNvPr>
          <p:cNvSpPr>
            <a:spLocks noGrp="1"/>
          </p:cNvSpPr>
          <p:nvPr>
            <p:ph type="title"/>
          </p:nvPr>
        </p:nvSpPr>
        <p:spPr>
          <a:xfrm>
            <a:off x="0" y="460917"/>
            <a:ext cx="9144000" cy="1015458"/>
          </a:xfrm>
        </p:spPr>
        <p:txBody>
          <a:bodyPr/>
          <a:lstStyle/>
          <a:p>
            <a:r>
              <a:rPr lang="en-US" sz="2800" u="sng" dirty="0"/>
              <a:t>Analysis and Modeling of UAV Power System Architectures – DC-AC Inverter Analysis</a:t>
            </a:r>
            <a:endParaRPr lang="en-IN" sz="2800" u="sn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7466146-134C-F966-7D3A-22247C2FE794}"/>
                  </a:ext>
                </a:extLst>
              </p:cNvPr>
              <p:cNvSpPr>
                <a:spLocks noGrp="1"/>
              </p:cNvSpPr>
              <p:nvPr>
                <p:ph sz="half" idx="2"/>
              </p:nvPr>
            </p:nvSpPr>
            <p:spPr>
              <a:xfrm>
                <a:off x="0" y="1476377"/>
                <a:ext cx="4059044" cy="3667123"/>
              </a:xfrm>
            </p:spPr>
            <p:txBody>
              <a:bodyPr/>
              <a:lstStyle/>
              <a:p>
                <a:r>
                  <a:rPr lang="en-US" sz="1100" dirty="0"/>
                  <a:t>The inverter has multiple MOSFETs </a:t>
                </a:r>
                <a:r>
                  <a:rPr lang="en-US" sz="1100" dirty="0" err="1"/>
                  <a:t>parallely</a:t>
                </a:r>
                <a:r>
                  <a:rPr lang="en-US" sz="1100" dirty="0"/>
                  <a:t> connected to represent the phases required to drive the motor. </a:t>
                </a:r>
              </a:p>
              <a:p>
                <a:r>
                  <a:rPr lang="en-US" sz="1100" dirty="0"/>
                  <a:t>We begin by defining some basic terms:</a:t>
                </a:r>
              </a:p>
              <a:p>
                <a:r>
                  <a:rPr lang="en-US" sz="1100" dirty="0"/>
                  <a:t>The phase current referenced to a single MOSFET can be given by, </a:t>
                </a:r>
                <a14:m>
                  <m:oMath xmlns:m="http://schemas.openxmlformats.org/officeDocument/2006/math">
                    <m:sSubSup>
                      <m:sSubSupPr>
                        <m:ctrlPr>
                          <a:rPr lang="en-IN" sz="1100" i="1" dirty="0" smtClean="0">
                            <a:solidFill>
                              <a:srgbClr val="836967"/>
                            </a:solidFill>
                            <a:latin typeface="Cambria Math" panose="02040503050406030204" pitchFamily="18" charset="0"/>
                          </a:rPr>
                        </m:ctrlPr>
                      </m:sSubSupPr>
                      <m:e>
                        <m:r>
                          <a:rPr lang="en-IN" sz="1100" i="1" dirty="0">
                            <a:latin typeface="Cambria Math" panose="02040503050406030204" pitchFamily="18" charset="0"/>
                          </a:rPr>
                          <m:t>𝐼</m:t>
                        </m:r>
                      </m:e>
                      <m:sub>
                        <m:r>
                          <a:rPr lang="en-IN" sz="1100" i="1" dirty="0">
                            <a:latin typeface="Cambria Math" panose="02040503050406030204" pitchFamily="18" charset="0"/>
                          </a:rPr>
                          <m:t>𝑝</m:t>
                        </m:r>
                      </m:sub>
                      <m:sup>
                        <m:r>
                          <a:rPr lang="en-IN" sz="1100" i="0" dirty="0">
                            <a:latin typeface="Cambria Math" panose="02040503050406030204" pitchFamily="18" charset="0"/>
                          </a:rPr>
                          <m:t>′</m:t>
                        </m:r>
                      </m:sup>
                    </m:sSubSup>
                    <m:r>
                      <a:rPr lang="en-IN" sz="1100" i="0" dirty="0">
                        <a:latin typeface="Cambria Math" panose="02040503050406030204" pitchFamily="18" charset="0"/>
                      </a:rPr>
                      <m:t>=</m:t>
                    </m:r>
                    <m:f>
                      <m:fPr>
                        <m:type m:val="lin"/>
                        <m:ctrlPr>
                          <a:rPr lang="en-IN" sz="1100" i="1" dirty="0">
                            <a:latin typeface="Cambria Math" panose="02040503050406030204" pitchFamily="18" charset="0"/>
                          </a:rPr>
                        </m:ctrlPr>
                      </m:fPr>
                      <m:num>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𝐼</m:t>
                            </m:r>
                          </m:e>
                          <m:sub>
                            <m:r>
                              <a:rPr lang="en-IN" sz="1100" i="1" dirty="0">
                                <a:latin typeface="Cambria Math" panose="02040503050406030204" pitchFamily="18" charset="0"/>
                              </a:rPr>
                              <m:t>𝑝</m:t>
                            </m:r>
                          </m:sub>
                        </m:sSub>
                      </m:num>
                      <m:den>
                        <m:r>
                          <a:rPr lang="en-IN" sz="1100" i="1" dirty="0">
                            <a:latin typeface="Cambria Math" panose="02040503050406030204" pitchFamily="18" charset="0"/>
                          </a:rPr>
                          <m:t>𝑛</m:t>
                        </m:r>
                      </m:den>
                    </m:f>
                    <m:r>
                      <a:rPr lang="en-IN" sz="1100" i="1" dirty="0">
                        <a:latin typeface="Cambria Math" panose="02040503050406030204" pitchFamily="18" charset="0"/>
                      </a:rPr>
                      <m:t>𝑢𝑚𝑝</m:t>
                    </m:r>
                  </m:oMath>
                </a14:m>
                <a:endParaRPr lang="en-IN" sz="1100" dirty="0"/>
              </a:p>
              <a:p>
                <a:r>
                  <a:rPr lang="en-IN" sz="1100" dirty="0" err="1"/>
                  <a:t>I</a:t>
                </a:r>
                <a:r>
                  <a:rPr lang="en-IN" sz="1100" baseline="-25000" dirty="0" err="1"/>
                  <a:t>sw</a:t>
                </a:r>
                <a:r>
                  <a:rPr lang="en-IN" sz="1100" baseline="-25000" dirty="0"/>
                  <a:t> </a:t>
                </a:r>
                <a:r>
                  <a:rPr lang="en-IN" sz="1100" dirty="0"/>
                  <a:t> = </a:t>
                </a:r>
                <a14:m>
                  <m:oMath xmlns:m="http://schemas.openxmlformats.org/officeDocument/2006/math">
                    <m:f>
                      <m:fPr>
                        <m:ctrlPr>
                          <a:rPr lang="en-IN" sz="1100" i="1" dirty="0" smtClean="0">
                            <a:solidFill>
                              <a:srgbClr val="836967"/>
                            </a:solidFill>
                            <a:latin typeface="Cambria Math" panose="02040503050406030204" pitchFamily="18" charset="0"/>
                          </a:rPr>
                        </m:ctrlPr>
                      </m:fPr>
                      <m:num>
                        <m:r>
                          <a:rPr lang="en-IN" sz="1100" dirty="0">
                            <a:latin typeface="Cambria Math" panose="02040503050406030204" pitchFamily="18" charset="0"/>
                          </a:rPr>
                          <m:t>2</m:t>
                        </m:r>
                        <m:rad>
                          <m:radPr>
                            <m:degHide m:val="on"/>
                            <m:ctrlPr>
                              <a:rPr lang="en-IN" sz="1100" i="1" dirty="0">
                                <a:solidFill>
                                  <a:srgbClr val="836967"/>
                                </a:solidFill>
                                <a:latin typeface="Cambria Math" panose="02040503050406030204" pitchFamily="18" charset="0"/>
                              </a:rPr>
                            </m:ctrlPr>
                          </m:radPr>
                          <m:deg/>
                          <m:e>
                            <m:r>
                              <a:rPr lang="en-IN" sz="1100" i="0" dirty="0">
                                <a:latin typeface="Cambria Math" panose="02040503050406030204" pitchFamily="18" charset="0"/>
                              </a:rPr>
                              <m:t>2</m:t>
                            </m:r>
                          </m:e>
                        </m:rad>
                        <m:r>
                          <a:rPr lang="en-IN" sz="1100" i="0" dirty="0">
                            <a:latin typeface="Cambria Math" panose="02040503050406030204" pitchFamily="18" charset="0"/>
                          </a:rPr>
                          <m:t>⋅</m:t>
                        </m:r>
                        <m:r>
                          <a:rPr lang="en-IN" sz="1100" i="1" dirty="0">
                            <a:latin typeface="Cambria Math" panose="02040503050406030204" pitchFamily="18" charset="0"/>
                          </a:rPr>
                          <m:t>𝐼𝑝</m:t>
                        </m:r>
                        <m:sSup>
                          <m:sSupPr>
                            <m:ctrlPr>
                              <a:rPr lang="en-IN" sz="1100" i="1" dirty="0">
                                <a:solidFill>
                                  <a:srgbClr val="836967"/>
                                </a:solidFill>
                                <a:latin typeface="Cambria Math" panose="02040503050406030204" pitchFamily="18" charset="0"/>
                              </a:rPr>
                            </m:ctrlPr>
                          </m:sSupPr>
                          <m:e>
                            <m:r>
                              <a:rPr lang="en-IN" sz="1100" i="1" dirty="0">
                                <a:latin typeface="Cambria Math" panose="02040503050406030204" pitchFamily="18" charset="0"/>
                              </a:rPr>
                              <m:t>h</m:t>
                            </m:r>
                          </m:e>
                          <m:sup>
                            <m:r>
                              <a:rPr lang="en-IN" sz="1100" i="0" dirty="0">
                                <a:latin typeface="Cambria Math" panose="02040503050406030204" pitchFamily="18" charset="0"/>
                              </a:rPr>
                              <m:t>′</m:t>
                            </m:r>
                          </m:sup>
                        </m:sSup>
                      </m:num>
                      <m:den>
                        <m:r>
                          <a:rPr lang="en-IN" sz="1100" i="1" dirty="0">
                            <a:latin typeface="Cambria Math" panose="02040503050406030204" pitchFamily="18" charset="0"/>
                          </a:rPr>
                          <m:t>𝜋</m:t>
                        </m:r>
                      </m:den>
                    </m:f>
                  </m:oMath>
                </a14:m>
                <a:r>
                  <a:rPr lang="en-IN" sz="1100" dirty="0"/>
                  <a:t> is the switching current</a:t>
                </a:r>
              </a:p>
              <a:p>
                <a:r>
                  <a:rPr lang="en-IN" sz="1100" dirty="0"/>
                  <a:t>Based on an application note from Infineon Technologies®, the rise and fall times have been designated for two value of </a:t>
                </a:r>
                <a:r>
                  <a:rPr lang="en-IN" sz="1100" dirty="0" err="1"/>
                  <a:t>C</a:t>
                </a:r>
                <a:r>
                  <a:rPr lang="en-IN" sz="1100" baseline="-25000" dirty="0" err="1"/>
                  <a:t>gd</a:t>
                </a:r>
                <a:r>
                  <a:rPr lang="en-IN" sz="1100" dirty="0"/>
                  <a:t> at the bus voltage </a:t>
                </a:r>
                <a:r>
                  <a:rPr lang="en-IN" sz="1100" dirty="0" err="1"/>
                  <a:t>V</a:t>
                </a:r>
                <a:r>
                  <a:rPr lang="en-IN" sz="1100" baseline="-25000" dirty="0" err="1"/>
                  <a:t>bus</a:t>
                </a:r>
                <a:r>
                  <a:rPr lang="en-IN" sz="1100" baseline="-25000" dirty="0"/>
                  <a:t> </a:t>
                </a:r>
                <a:r>
                  <a:rPr lang="en-IN" sz="1100" dirty="0"/>
                  <a:t> and at another voltage R</a:t>
                </a:r>
                <a:r>
                  <a:rPr lang="en-IN" sz="1100" baseline="-25000" dirty="0"/>
                  <a:t>ds(on) </a:t>
                </a:r>
                <a:r>
                  <a:rPr lang="en-IN" sz="1100" dirty="0"/>
                  <a:t> * </a:t>
                </a:r>
                <a:r>
                  <a:rPr lang="en-IN" sz="1100" dirty="0" err="1"/>
                  <a:t>I</a:t>
                </a:r>
                <a:r>
                  <a:rPr lang="en-IN" sz="1100" baseline="-25000" dirty="0" err="1"/>
                  <a:t>sw</a:t>
                </a:r>
                <a:r>
                  <a:rPr lang="en-IN" sz="1100" dirty="0"/>
                  <a:t> .</a:t>
                </a:r>
              </a:p>
              <a:p>
                <a:r>
                  <a:rPr lang="en-IN" sz="1100" dirty="0"/>
                  <a:t>Other notations:</a:t>
                </a:r>
              </a:p>
              <a:p>
                <a:r>
                  <a:rPr lang="en-IN" sz="1100" dirty="0" err="1"/>
                  <a:t>R</a:t>
                </a:r>
                <a:r>
                  <a:rPr lang="en-IN" sz="1100" baseline="-25000" dirty="0" err="1"/>
                  <a:t>g</a:t>
                </a:r>
                <a:r>
                  <a:rPr lang="en-IN" sz="1100" baseline="-25000" dirty="0"/>
                  <a:t> </a:t>
                </a:r>
                <a:r>
                  <a:rPr lang="en-IN" sz="1100" dirty="0"/>
                  <a:t>= total gate resistances</a:t>
                </a:r>
              </a:p>
              <a:p>
                <a:r>
                  <a:rPr lang="en-IN" sz="1100" dirty="0" err="1"/>
                  <a:t>Q</a:t>
                </a:r>
                <a:r>
                  <a:rPr lang="en-IN" sz="1100" baseline="-25000" dirty="0" err="1"/>
                  <a:t>rr</a:t>
                </a:r>
                <a:r>
                  <a:rPr lang="en-IN" sz="1100" dirty="0"/>
                  <a:t> : Reverse recovery charge</a:t>
                </a:r>
              </a:p>
              <a:p>
                <a:endParaRPr lang="en-IN" sz="1100" dirty="0"/>
              </a:p>
            </p:txBody>
          </p:sp>
        </mc:Choice>
        <mc:Fallback xmlns="">
          <p:sp>
            <p:nvSpPr>
              <p:cNvPr id="4" name="Content Placeholder 3">
                <a:extLst>
                  <a:ext uri="{FF2B5EF4-FFF2-40B4-BE49-F238E27FC236}">
                    <a16:creationId xmlns:a16="http://schemas.microsoft.com/office/drawing/2014/main" id="{47466146-134C-F966-7D3A-22247C2FE794}"/>
                  </a:ext>
                </a:extLst>
              </p:cNvPr>
              <p:cNvSpPr>
                <a:spLocks noGrp="1" noRot="1" noChangeAspect="1" noMove="1" noResize="1" noEditPoints="1" noAdjustHandles="1" noChangeArrowheads="1" noChangeShapeType="1" noTextEdit="1"/>
              </p:cNvSpPr>
              <p:nvPr>
                <p:ph sz="half" idx="2"/>
              </p:nvPr>
            </p:nvSpPr>
            <p:spPr>
              <a:xfrm>
                <a:off x="0" y="1476377"/>
                <a:ext cx="4059044" cy="3667123"/>
              </a:xfrm>
              <a:blipFill>
                <a:blip r:embed="rId2"/>
                <a:stretch>
                  <a:fillRect t="-16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109FCDA2-6115-A403-968D-F425B1E61AD6}"/>
              </a:ext>
            </a:extLst>
          </p:cNvPr>
          <p:cNvPicPr>
            <a:picLocks noChangeAspect="1"/>
          </p:cNvPicPr>
          <p:nvPr/>
        </p:nvPicPr>
        <p:blipFill>
          <a:blip r:embed="rId3"/>
          <a:stretch>
            <a:fillRect/>
          </a:stretch>
        </p:blipFill>
        <p:spPr>
          <a:xfrm>
            <a:off x="2289285" y="3510799"/>
            <a:ext cx="2448357" cy="1438088"/>
          </a:xfrm>
          <a:prstGeom prst="rect">
            <a:avLst/>
          </a:prstGeom>
        </p:spPr>
      </p:pic>
      <p:sp>
        <p:nvSpPr>
          <p:cNvPr id="7" name="TextBox 6">
            <a:extLst>
              <a:ext uri="{FF2B5EF4-FFF2-40B4-BE49-F238E27FC236}">
                <a16:creationId xmlns:a16="http://schemas.microsoft.com/office/drawing/2014/main" id="{DBF9C58D-529F-783F-78CF-4B90E6B82138}"/>
              </a:ext>
            </a:extLst>
          </p:cNvPr>
          <p:cNvSpPr txBox="1"/>
          <p:nvPr/>
        </p:nvSpPr>
        <p:spPr>
          <a:xfrm>
            <a:off x="4519961" y="1531434"/>
            <a:ext cx="4624039"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switching losses for MOSFET and diode ( q and d) are given as follows:</a:t>
            </a:r>
          </a:p>
          <a:p>
            <a:pPr marL="171450" indent="-171450">
              <a:buFont typeface="Arial" panose="020B0604020202020204" pitchFamily="34" charset="0"/>
              <a:buChar char="•"/>
            </a:pPr>
            <a:endParaRPr lang="en-IN" sz="1200" dirty="0"/>
          </a:p>
        </p:txBody>
      </p:sp>
      <p:pic>
        <p:nvPicPr>
          <p:cNvPr id="12" name="Picture 11">
            <a:extLst>
              <a:ext uri="{FF2B5EF4-FFF2-40B4-BE49-F238E27FC236}">
                <a16:creationId xmlns:a16="http://schemas.microsoft.com/office/drawing/2014/main" id="{228D6F36-D414-F283-B941-5915F5BF4BAB}"/>
              </a:ext>
            </a:extLst>
          </p:cNvPr>
          <p:cNvPicPr>
            <a:picLocks noChangeAspect="1"/>
          </p:cNvPicPr>
          <p:nvPr/>
        </p:nvPicPr>
        <p:blipFill>
          <a:blip r:embed="rId4"/>
          <a:stretch>
            <a:fillRect/>
          </a:stretch>
        </p:blipFill>
        <p:spPr>
          <a:xfrm>
            <a:off x="4737642" y="2066842"/>
            <a:ext cx="2354534" cy="777440"/>
          </a:xfrm>
          <a:prstGeom prst="rect">
            <a:avLst/>
          </a:prstGeom>
        </p:spPr>
      </p:pic>
      <p:pic>
        <p:nvPicPr>
          <p:cNvPr id="15" name="Picture 14">
            <a:extLst>
              <a:ext uri="{FF2B5EF4-FFF2-40B4-BE49-F238E27FC236}">
                <a16:creationId xmlns:a16="http://schemas.microsoft.com/office/drawing/2014/main" id="{089C5AB1-CD26-0D16-B88C-893CF7FD7394}"/>
              </a:ext>
            </a:extLst>
          </p:cNvPr>
          <p:cNvPicPr>
            <a:picLocks noChangeAspect="1"/>
          </p:cNvPicPr>
          <p:nvPr/>
        </p:nvPicPr>
        <p:blipFill>
          <a:blip r:embed="rId5"/>
          <a:stretch>
            <a:fillRect/>
          </a:stretch>
        </p:blipFill>
        <p:spPr>
          <a:xfrm>
            <a:off x="7270363" y="2212674"/>
            <a:ext cx="1695450" cy="485775"/>
          </a:xfrm>
          <a:prstGeom prst="rect">
            <a:avLst/>
          </a:prstGeom>
        </p:spPr>
      </p:pic>
      <p:pic>
        <p:nvPicPr>
          <p:cNvPr id="17" name="Picture 16">
            <a:extLst>
              <a:ext uri="{FF2B5EF4-FFF2-40B4-BE49-F238E27FC236}">
                <a16:creationId xmlns:a16="http://schemas.microsoft.com/office/drawing/2014/main" id="{8D5E229B-2B96-3893-E17D-5C0630BE580E}"/>
              </a:ext>
            </a:extLst>
          </p:cNvPr>
          <p:cNvPicPr>
            <a:picLocks noChangeAspect="1"/>
          </p:cNvPicPr>
          <p:nvPr/>
        </p:nvPicPr>
        <p:blipFill>
          <a:blip r:embed="rId6"/>
          <a:stretch>
            <a:fillRect/>
          </a:stretch>
        </p:blipFill>
        <p:spPr>
          <a:xfrm>
            <a:off x="5153522" y="3609288"/>
            <a:ext cx="2535476" cy="695445"/>
          </a:xfrm>
          <a:prstGeom prst="rect">
            <a:avLst/>
          </a:prstGeom>
        </p:spPr>
      </p:pic>
      <p:pic>
        <p:nvPicPr>
          <p:cNvPr id="19" name="Picture 18">
            <a:extLst>
              <a:ext uri="{FF2B5EF4-FFF2-40B4-BE49-F238E27FC236}">
                <a16:creationId xmlns:a16="http://schemas.microsoft.com/office/drawing/2014/main" id="{AC3EA95A-73DE-8E18-8B57-F9352595DCA7}"/>
              </a:ext>
            </a:extLst>
          </p:cNvPr>
          <p:cNvPicPr>
            <a:picLocks noChangeAspect="1"/>
          </p:cNvPicPr>
          <p:nvPr/>
        </p:nvPicPr>
        <p:blipFill>
          <a:blip r:embed="rId7"/>
          <a:stretch>
            <a:fillRect/>
          </a:stretch>
        </p:blipFill>
        <p:spPr>
          <a:xfrm>
            <a:off x="5422131" y="4450566"/>
            <a:ext cx="2941283" cy="692934"/>
          </a:xfrm>
          <a:prstGeom prst="rect">
            <a:avLst/>
          </a:prstGeom>
        </p:spPr>
      </p:pic>
      <p:pic>
        <p:nvPicPr>
          <p:cNvPr id="21" name="Picture 20">
            <a:extLst>
              <a:ext uri="{FF2B5EF4-FFF2-40B4-BE49-F238E27FC236}">
                <a16:creationId xmlns:a16="http://schemas.microsoft.com/office/drawing/2014/main" id="{19CC2B7F-6E63-BD6C-4B0C-B4A8E88D6B8C}"/>
              </a:ext>
            </a:extLst>
          </p:cNvPr>
          <p:cNvPicPr>
            <a:picLocks noChangeAspect="1"/>
          </p:cNvPicPr>
          <p:nvPr/>
        </p:nvPicPr>
        <p:blipFill>
          <a:blip r:embed="rId8"/>
          <a:stretch>
            <a:fillRect/>
          </a:stretch>
        </p:blipFill>
        <p:spPr>
          <a:xfrm>
            <a:off x="6093112" y="2907898"/>
            <a:ext cx="1998127" cy="629331"/>
          </a:xfrm>
          <a:prstGeom prst="rect">
            <a:avLst/>
          </a:prstGeom>
        </p:spPr>
      </p:pic>
      <p:cxnSp>
        <p:nvCxnSpPr>
          <p:cNvPr id="26" name="Connector: Elbow 25">
            <a:extLst>
              <a:ext uri="{FF2B5EF4-FFF2-40B4-BE49-F238E27FC236}">
                <a16:creationId xmlns:a16="http://schemas.microsoft.com/office/drawing/2014/main" id="{8786E8AA-6D56-D5C7-6535-6DDE01D06B03}"/>
              </a:ext>
            </a:extLst>
          </p:cNvPr>
          <p:cNvCxnSpPr>
            <a:stCxn id="12" idx="2"/>
            <a:endCxn id="21" idx="1"/>
          </p:cNvCxnSpPr>
          <p:nvPr/>
        </p:nvCxnSpPr>
        <p:spPr>
          <a:xfrm rot="16200000" flipH="1">
            <a:off x="5814869" y="2944321"/>
            <a:ext cx="378282" cy="178203"/>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713437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C5BD0-1A85-68C0-4518-C36AD7AD9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38C7A-A5CC-D2CC-C030-60C1FD0E979E}"/>
              </a:ext>
            </a:extLst>
          </p:cNvPr>
          <p:cNvSpPr>
            <a:spLocks noGrp="1"/>
          </p:cNvSpPr>
          <p:nvPr>
            <p:ph type="title"/>
          </p:nvPr>
        </p:nvSpPr>
        <p:spPr>
          <a:xfrm>
            <a:off x="0" y="460917"/>
            <a:ext cx="9144000" cy="1015458"/>
          </a:xfrm>
        </p:spPr>
        <p:txBody>
          <a:bodyPr/>
          <a:lstStyle/>
          <a:p>
            <a:r>
              <a:rPr lang="en-US" sz="2800" u="sng" dirty="0"/>
              <a:t>Analysis and Modeling of UAV Power System Architectures – Boost and Half Converter</a:t>
            </a:r>
            <a:endParaRPr lang="en-IN" sz="2800" u="sng" dirty="0"/>
          </a:p>
        </p:txBody>
      </p:sp>
      <p:sp>
        <p:nvSpPr>
          <p:cNvPr id="4" name="Content Placeholder 3">
            <a:extLst>
              <a:ext uri="{FF2B5EF4-FFF2-40B4-BE49-F238E27FC236}">
                <a16:creationId xmlns:a16="http://schemas.microsoft.com/office/drawing/2014/main" id="{EC136A50-AEB8-F9BE-8E55-2A6AE4515EE9}"/>
              </a:ext>
            </a:extLst>
          </p:cNvPr>
          <p:cNvSpPr>
            <a:spLocks noGrp="1"/>
          </p:cNvSpPr>
          <p:nvPr>
            <p:ph sz="half" idx="2"/>
          </p:nvPr>
        </p:nvSpPr>
        <p:spPr>
          <a:xfrm>
            <a:off x="0" y="1476377"/>
            <a:ext cx="4059044" cy="3667123"/>
          </a:xfrm>
        </p:spPr>
        <p:txBody>
          <a:bodyPr/>
          <a:lstStyle/>
          <a:p>
            <a:r>
              <a:rPr lang="en-US" sz="1100" dirty="0"/>
              <a:t>Average and RMS currents of the boost converter are given by:</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r>
              <a:rPr lang="en-US" sz="1100" dirty="0"/>
              <a:t>Similarly, for the half-bridge buck converter:</a:t>
            </a:r>
          </a:p>
          <a:p>
            <a:endParaRPr lang="en-US" sz="1100" dirty="0"/>
          </a:p>
          <a:p>
            <a:endParaRPr lang="en-US" sz="1100" dirty="0"/>
          </a:p>
          <a:p>
            <a:pPr marL="0" indent="0">
              <a:buNone/>
            </a:pPr>
            <a:endParaRPr lang="en-US" sz="1100" dirty="0"/>
          </a:p>
          <a:p>
            <a:endParaRPr lang="en-US" sz="1100" dirty="0"/>
          </a:p>
          <a:p>
            <a:endParaRPr lang="en-US" sz="1100" dirty="0"/>
          </a:p>
          <a:p>
            <a:endParaRPr lang="en-IN" sz="1100" dirty="0"/>
          </a:p>
        </p:txBody>
      </p:sp>
      <p:pic>
        <p:nvPicPr>
          <p:cNvPr id="5" name="Picture 4">
            <a:extLst>
              <a:ext uri="{FF2B5EF4-FFF2-40B4-BE49-F238E27FC236}">
                <a16:creationId xmlns:a16="http://schemas.microsoft.com/office/drawing/2014/main" id="{F036CF74-B68E-3FF0-0C83-9D29E4F0B4EA}"/>
              </a:ext>
            </a:extLst>
          </p:cNvPr>
          <p:cNvPicPr>
            <a:picLocks noChangeAspect="1"/>
          </p:cNvPicPr>
          <p:nvPr/>
        </p:nvPicPr>
        <p:blipFill>
          <a:blip r:embed="rId2"/>
          <a:stretch>
            <a:fillRect/>
          </a:stretch>
        </p:blipFill>
        <p:spPr>
          <a:xfrm>
            <a:off x="592470" y="1909670"/>
            <a:ext cx="2457793" cy="1324160"/>
          </a:xfrm>
          <a:prstGeom prst="rect">
            <a:avLst/>
          </a:prstGeom>
        </p:spPr>
      </p:pic>
      <p:pic>
        <p:nvPicPr>
          <p:cNvPr id="7" name="Picture 6">
            <a:extLst>
              <a:ext uri="{FF2B5EF4-FFF2-40B4-BE49-F238E27FC236}">
                <a16:creationId xmlns:a16="http://schemas.microsoft.com/office/drawing/2014/main" id="{1A8119E1-70C1-FA98-161E-C073FBC2566B}"/>
              </a:ext>
            </a:extLst>
          </p:cNvPr>
          <p:cNvPicPr>
            <a:picLocks noChangeAspect="1"/>
          </p:cNvPicPr>
          <p:nvPr/>
        </p:nvPicPr>
        <p:blipFill>
          <a:blip r:embed="rId3"/>
          <a:stretch>
            <a:fillRect/>
          </a:stretch>
        </p:blipFill>
        <p:spPr>
          <a:xfrm>
            <a:off x="556651" y="3800971"/>
            <a:ext cx="2676899" cy="1228896"/>
          </a:xfrm>
          <a:prstGeom prst="rect">
            <a:avLst/>
          </a:prstGeom>
        </p:spPr>
      </p:pic>
      <p:sp>
        <p:nvSpPr>
          <p:cNvPr id="8" name="TextBox 7">
            <a:extLst>
              <a:ext uri="{FF2B5EF4-FFF2-40B4-BE49-F238E27FC236}">
                <a16:creationId xmlns:a16="http://schemas.microsoft.com/office/drawing/2014/main" id="{70235CAD-9128-E682-8AE1-3DBBB27757CA}"/>
              </a:ext>
            </a:extLst>
          </p:cNvPr>
          <p:cNvSpPr txBox="1"/>
          <p:nvPr/>
        </p:nvSpPr>
        <p:spPr>
          <a:xfrm>
            <a:off x="2932923" y="4454908"/>
            <a:ext cx="3077737" cy="769441"/>
          </a:xfrm>
          <a:prstGeom prst="rect">
            <a:avLst/>
          </a:prstGeom>
          <a:noFill/>
        </p:spPr>
        <p:txBody>
          <a:bodyPr wrap="square" rtlCol="0">
            <a:spAutoFit/>
          </a:bodyPr>
          <a:lstStyle/>
          <a:p>
            <a:r>
              <a:rPr lang="en-US" sz="1100" dirty="0"/>
              <a:t>Where, </a:t>
            </a:r>
            <a:r>
              <a:rPr lang="en-US" sz="1100" dirty="0" err="1"/>
              <a:t>I</a:t>
            </a:r>
            <a:r>
              <a:rPr lang="en-US" sz="1100" baseline="-25000" dirty="0" err="1"/>
              <a:t>in</a:t>
            </a:r>
            <a:r>
              <a:rPr lang="en-US" sz="1100" dirty="0"/>
              <a:t> is the current flowing into the converter from the source and </a:t>
            </a:r>
            <a:r>
              <a:rPr lang="en-US" sz="1100" dirty="0" err="1"/>
              <a:t>I</a:t>
            </a:r>
            <a:r>
              <a:rPr lang="en-US" sz="1100" baseline="-25000" dirty="0" err="1"/>
              <a:t>out</a:t>
            </a:r>
            <a:r>
              <a:rPr lang="en-US" sz="1100" baseline="-25000" dirty="0"/>
              <a:t> </a:t>
            </a:r>
            <a:r>
              <a:rPr lang="en-US" sz="1100" dirty="0"/>
              <a:t> is the current flowing out of the converter back to the battery.</a:t>
            </a:r>
          </a:p>
          <a:p>
            <a:endParaRPr lang="en-IN" sz="1100" dirty="0"/>
          </a:p>
        </p:txBody>
      </p:sp>
      <p:sp>
        <p:nvSpPr>
          <p:cNvPr id="9" name="TextBox 8">
            <a:extLst>
              <a:ext uri="{FF2B5EF4-FFF2-40B4-BE49-F238E27FC236}">
                <a16:creationId xmlns:a16="http://schemas.microsoft.com/office/drawing/2014/main" id="{477C2595-86CD-AB7C-83AC-B631F909883D}"/>
              </a:ext>
            </a:extLst>
          </p:cNvPr>
          <p:cNvSpPr txBox="1"/>
          <p:nvPr/>
        </p:nvSpPr>
        <p:spPr>
          <a:xfrm>
            <a:off x="3033131" y="3741111"/>
            <a:ext cx="3077737" cy="600164"/>
          </a:xfrm>
          <a:prstGeom prst="rect">
            <a:avLst/>
          </a:prstGeom>
          <a:noFill/>
        </p:spPr>
        <p:txBody>
          <a:bodyPr wrap="square" rtlCol="0">
            <a:spAutoFit/>
          </a:bodyPr>
          <a:lstStyle/>
          <a:p>
            <a:r>
              <a:rPr lang="en-US" sz="1100" dirty="0">
                <a:solidFill>
                  <a:srgbClr val="00B050"/>
                </a:solidFill>
              </a:rPr>
              <a:t>Note: MOSFET and diode conduction and switching losses are calculated as before</a:t>
            </a:r>
          </a:p>
          <a:p>
            <a:endParaRPr lang="en-IN" sz="1100" dirty="0">
              <a:solidFill>
                <a:srgbClr val="00B050"/>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2A1CFAF-D666-23DE-D9D0-1E2F3120FE66}"/>
                  </a:ext>
                </a:extLst>
              </p:cNvPr>
              <p:cNvSpPr txBox="1"/>
              <p:nvPr/>
            </p:nvSpPr>
            <p:spPr>
              <a:xfrm>
                <a:off x="4862084" y="1663386"/>
                <a:ext cx="4140667" cy="745589"/>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only new loss introduced here is an I</a:t>
                </a:r>
                <a:r>
                  <a:rPr lang="en-US" sz="1100" baseline="30000" dirty="0"/>
                  <a:t>2</a:t>
                </a:r>
                <a:r>
                  <a:rPr lang="en-US" sz="1100" dirty="0"/>
                  <a:t>R loss from the inductor side having a DC resistance R</a:t>
                </a:r>
                <a:r>
                  <a:rPr lang="en-US" sz="1100" baseline="-25000" dirty="0"/>
                  <a:t>L</a:t>
                </a:r>
              </a:p>
              <a:p>
                <a:pPr marL="171450" indent="-171450">
                  <a:buFont typeface="Arial" panose="020B0604020202020204" pitchFamily="34" charset="0"/>
                  <a:buChar char="•"/>
                </a:pPr>
                <a:endParaRPr lang="en-US" sz="1100" baseline="-25000" dirty="0"/>
              </a:p>
              <a:p>
                <a:pPr marL="171450" indent="-171450">
                  <a:buFont typeface="Arial" panose="020B0604020202020204" pitchFamily="34" charset="0"/>
                  <a:buChar char="•"/>
                </a:pPr>
                <a14:m>
                  <m:oMath xmlns:m="http://schemas.openxmlformats.org/officeDocument/2006/math">
                    <m:sSub>
                      <m:sSubPr>
                        <m:ctrlPr>
                          <a:rPr lang="en-IN" sz="1100" i="1" dirty="0" smtClean="0">
                            <a:solidFill>
                              <a:srgbClr val="836967"/>
                            </a:solidFill>
                            <a:latin typeface="Cambria Math" panose="02040503050406030204" pitchFamily="18" charset="0"/>
                          </a:rPr>
                        </m:ctrlPr>
                      </m:sSubPr>
                      <m:e>
                        <m:r>
                          <a:rPr lang="en-IN" sz="1100" i="1" dirty="0">
                            <a:latin typeface="Cambria Math" panose="02040503050406030204" pitchFamily="18" charset="0"/>
                          </a:rPr>
                          <m:t>𝑝</m:t>
                        </m:r>
                      </m:e>
                      <m:sub>
                        <m:r>
                          <a:rPr lang="en-IN" sz="1100" i="1" dirty="0">
                            <a:latin typeface="Cambria Math" panose="02040503050406030204" pitchFamily="18" charset="0"/>
                          </a:rPr>
                          <m:t>𝐿</m:t>
                        </m:r>
                        <m:d>
                          <m:dPr>
                            <m:ctrlPr>
                              <a:rPr lang="en-IN" sz="1100" i="1" dirty="0">
                                <a:solidFill>
                                  <a:srgbClr val="836967"/>
                                </a:solidFill>
                                <a:latin typeface="Cambria Math" panose="02040503050406030204" pitchFamily="18" charset="0"/>
                              </a:rPr>
                            </m:ctrlPr>
                          </m:dPr>
                          <m:e>
                            <m:r>
                              <a:rPr lang="en-IN" sz="1100" i="1" dirty="0">
                                <a:latin typeface="Cambria Math" panose="02040503050406030204" pitchFamily="18" charset="0"/>
                              </a:rPr>
                              <m:t>𝑜𝑛</m:t>
                            </m:r>
                          </m:e>
                        </m:d>
                      </m:sub>
                    </m:sSub>
                    <m:r>
                      <a:rPr lang="en-IN" sz="1100" i="0" dirty="0">
                        <a:latin typeface="Cambria Math" panose="02040503050406030204" pitchFamily="18" charset="0"/>
                      </a:rPr>
                      <m:t>=</m:t>
                    </m:r>
                    <m:sSubSup>
                      <m:sSubSupPr>
                        <m:ctrlPr>
                          <a:rPr lang="en-IN" sz="1100" i="1" dirty="0">
                            <a:solidFill>
                              <a:srgbClr val="836967"/>
                            </a:solidFill>
                            <a:latin typeface="Cambria Math" panose="02040503050406030204" pitchFamily="18" charset="0"/>
                          </a:rPr>
                        </m:ctrlPr>
                      </m:sSubSupPr>
                      <m:e>
                        <m:r>
                          <a:rPr lang="en-IN" sz="1100" i="1" dirty="0">
                            <a:latin typeface="Cambria Math" panose="02040503050406030204" pitchFamily="18" charset="0"/>
                          </a:rPr>
                          <m:t>𝐼</m:t>
                        </m:r>
                      </m:e>
                      <m:sub>
                        <m:r>
                          <a:rPr lang="en-IN" sz="1100" i="1" dirty="0">
                            <a:latin typeface="Cambria Math" panose="02040503050406030204" pitchFamily="18" charset="0"/>
                          </a:rPr>
                          <m:t>𝐿</m:t>
                        </m:r>
                        <m:d>
                          <m:dPr>
                            <m:ctrlPr>
                              <a:rPr lang="en-IN" sz="1100" i="1" dirty="0">
                                <a:solidFill>
                                  <a:srgbClr val="836967"/>
                                </a:solidFill>
                                <a:latin typeface="Cambria Math" panose="02040503050406030204" pitchFamily="18" charset="0"/>
                              </a:rPr>
                            </m:ctrlPr>
                          </m:dPr>
                          <m:e>
                            <m:r>
                              <a:rPr lang="en-IN" sz="1100" i="1" dirty="0">
                                <a:latin typeface="Cambria Math" panose="02040503050406030204" pitchFamily="18" charset="0"/>
                              </a:rPr>
                              <m:t>𝑟𝑚𝑠</m:t>
                            </m:r>
                          </m:e>
                        </m:d>
                      </m:sub>
                      <m:sup>
                        <m:r>
                          <a:rPr lang="en-IN" sz="1100" i="0" dirty="0">
                            <a:latin typeface="Cambria Math" panose="02040503050406030204" pitchFamily="18" charset="0"/>
                          </a:rPr>
                          <m:t>2</m:t>
                        </m:r>
                      </m:sup>
                    </m:sSubSup>
                    <m:r>
                      <a:rPr lang="en-IN" sz="1100" i="0" dirty="0">
                        <a:latin typeface="Cambria Math" panose="02040503050406030204" pitchFamily="18" charset="0"/>
                      </a:rPr>
                      <m:t>∗</m:t>
                    </m:r>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𝑅</m:t>
                        </m:r>
                      </m:e>
                      <m:sub>
                        <m:r>
                          <a:rPr lang="en-IN" sz="1100" i="1" dirty="0">
                            <a:latin typeface="Cambria Math" panose="02040503050406030204" pitchFamily="18" charset="0"/>
                          </a:rPr>
                          <m:t>𝐿</m:t>
                        </m:r>
                      </m:sub>
                    </m:sSub>
                  </m:oMath>
                </a14:m>
                <a:endParaRPr lang="en-IN" sz="1100" dirty="0"/>
              </a:p>
            </p:txBody>
          </p:sp>
        </mc:Choice>
        <mc:Fallback xmlns="">
          <p:sp>
            <p:nvSpPr>
              <p:cNvPr id="10" name="TextBox 9">
                <a:extLst>
                  <a:ext uri="{FF2B5EF4-FFF2-40B4-BE49-F238E27FC236}">
                    <a16:creationId xmlns:a16="http://schemas.microsoft.com/office/drawing/2014/main" id="{C2A1CFAF-D666-23DE-D9D0-1E2F3120FE66}"/>
                  </a:ext>
                </a:extLst>
              </p:cNvPr>
              <p:cNvSpPr txBox="1">
                <a:spLocks noRot="1" noChangeAspect="1" noMove="1" noResize="1" noEditPoints="1" noAdjustHandles="1" noChangeArrowheads="1" noChangeShapeType="1" noTextEdit="1"/>
              </p:cNvSpPr>
              <p:nvPr/>
            </p:nvSpPr>
            <p:spPr>
              <a:xfrm>
                <a:off x="4862084" y="1663386"/>
                <a:ext cx="4140667" cy="745589"/>
              </a:xfrm>
              <a:prstGeom prst="rect">
                <a:avLst/>
              </a:prstGeom>
              <a:blipFill>
                <a:blip r:embed="rId4"/>
                <a:stretch>
                  <a:fillRect t="-820" b="-820"/>
                </a:stretch>
              </a:blipFill>
            </p:spPr>
            <p:txBody>
              <a:bodyPr/>
              <a:lstStyle/>
              <a:p>
                <a:r>
                  <a:rPr lang="en-IN">
                    <a:noFill/>
                  </a:rPr>
                  <a:t> </a:t>
                </a:r>
              </a:p>
            </p:txBody>
          </p:sp>
        </mc:Fallback>
      </mc:AlternateContent>
      <p:pic>
        <p:nvPicPr>
          <p:cNvPr id="1026" name="Picture 2" descr="Half-bridge buck-boost DC/DC converter The capacitor Cdc represents the...  | Download Scientific Diagram">
            <a:extLst>
              <a:ext uri="{FF2B5EF4-FFF2-40B4-BE49-F238E27FC236}">
                <a16:creationId xmlns:a16="http://schemas.microsoft.com/office/drawing/2014/main" id="{2C85EB25-471B-4484-749A-0AD63229C6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4933" y="2362200"/>
            <a:ext cx="2409825" cy="189547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8B66DAD-12B5-5F02-8244-E2CB6DDC9C88}"/>
              </a:ext>
            </a:extLst>
          </p:cNvPr>
          <p:cNvSpPr txBox="1"/>
          <p:nvPr/>
        </p:nvSpPr>
        <p:spPr>
          <a:xfrm>
            <a:off x="7234739" y="4435614"/>
            <a:ext cx="1550019" cy="707886"/>
          </a:xfrm>
          <a:prstGeom prst="rect">
            <a:avLst/>
          </a:prstGeom>
          <a:noFill/>
        </p:spPr>
        <p:txBody>
          <a:bodyPr wrap="square" rtlCol="0">
            <a:spAutoFit/>
          </a:bodyPr>
          <a:lstStyle/>
          <a:p>
            <a:r>
              <a:rPr lang="en-US" sz="800" dirty="0"/>
              <a:t>Reference: https://encrypted-tbn0.gstatic.com/images?q=tbn:ANd9GcSNz4TV2IywAXYskwuiqgBocCo38CKtBLcKCQ&amp;s</a:t>
            </a:r>
          </a:p>
          <a:p>
            <a:endParaRPr lang="en-IN" sz="800" dirty="0"/>
          </a:p>
        </p:txBody>
      </p:sp>
    </p:spTree>
    <p:extLst>
      <p:ext uri="{BB962C8B-B14F-4D97-AF65-F5344CB8AC3E}">
        <p14:creationId xmlns:p14="http://schemas.microsoft.com/office/powerpoint/2010/main" val="2241476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59D11-A38D-6DD7-EC65-AF928F8BB574}"/>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Battery Modelling</a:t>
            </a:r>
            <a:endParaRPr lang="en-IN" sz="2800" u="sng" dirty="0"/>
          </a:p>
        </p:txBody>
      </p:sp>
      <p:pic>
        <p:nvPicPr>
          <p:cNvPr id="4" name="Picture 3">
            <a:extLst>
              <a:ext uri="{FF2B5EF4-FFF2-40B4-BE49-F238E27FC236}">
                <a16:creationId xmlns:a16="http://schemas.microsoft.com/office/drawing/2014/main" id="{A42C8481-1076-822E-4E44-D2DB3AD7FA4D}"/>
              </a:ext>
            </a:extLst>
          </p:cNvPr>
          <p:cNvPicPr>
            <a:picLocks noChangeAspect="1"/>
          </p:cNvPicPr>
          <p:nvPr/>
        </p:nvPicPr>
        <p:blipFill>
          <a:blip r:embed="rId2"/>
          <a:stretch>
            <a:fillRect/>
          </a:stretch>
        </p:blipFill>
        <p:spPr>
          <a:xfrm>
            <a:off x="4962522" y="1376550"/>
            <a:ext cx="3947503" cy="1876454"/>
          </a:xfrm>
          <a:prstGeom prst="rect">
            <a:avLst/>
          </a:prstGeom>
        </p:spPr>
      </p:pic>
      <p:sp>
        <p:nvSpPr>
          <p:cNvPr id="5" name="TextBox 4">
            <a:extLst>
              <a:ext uri="{FF2B5EF4-FFF2-40B4-BE49-F238E27FC236}">
                <a16:creationId xmlns:a16="http://schemas.microsoft.com/office/drawing/2014/main" id="{9C4A6325-0013-A41F-7434-02B27894E963}"/>
              </a:ext>
            </a:extLst>
          </p:cNvPr>
          <p:cNvSpPr txBox="1"/>
          <p:nvPr/>
        </p:nvSpPr>
        <p:spPr>
          <a:xfrm>
            <a:off x="302400" y="1641600"/>
            <a:ext cx="4024800" cy="3485570"/>
          </a:xfrm>
          <a:prstGeom prst="rect">
            <a:avLst/>
          </a:prstGeom>
          <a:noFill/>
        </p:spPr>
        <p:txBody>
          <a:bodyPr wrap="square" rtlCol="0">
            <a:spAutoFit/>
          </a:bodyPr>
          <a:lstStyle/>
          <a:p>
            <a:pPr marL="171450" indent="-171450">
              <a:buFont typeface="Arial" panose="020B0604020202020204" pitchFamily="34" charset="0"/>
              <a:buChar char="•"/>
            </a:pPr>
            <a:r>
              <a:rPr lang="en-US" sz="1050" b="1" dirty="0">
                <a:latin typeface="+mn-lt"/>
              </a:rPr>
              <a:t>Purpose of the Equation: </a:t>
            </a:r>
          </a:p>
          <a:p>
            <a:pPr marL="171450" indent="-171450">
              <a:buFont typeface="Wingdings" panose="05000000000000000000" pitchFamily="2" charset="2"/>
              <a:buChar char="Ø"/>
            </a:pPr>
            <a:r>
              <a:rPr lang="en-US" sz="1050" dirty="0">
                <a:latin typeface="+mn-lt"/>
              </a:rPr>
              <a:t>Models the battery's electrical behavior dynamically using an equivalent circuit approach. Captures variations in voltage (V), resistance (R), and capacitance (C) as a function of the State of Charge (SOC).</a:t>
            </a:r>
          </a:p>
          <a:p>
            <a:pPr marL="171450" indent="-171450">
              <a:buFont typeface="Arial" panose="020B0604020202020204" pitchFamily="34" charset="0"/>
              <a:buChar char="•"/>
            </a:pPr>
            <a:r>
              <a:rPr lang="en-US" sz="1050" b="1" dirty="0">
                <a:latin typeface="+mn-lt"/>
              </a:rPr>
              <a:t>Logarithmic-Polynomial Interpolation: </a:t>
            </a:r>
          </a:p>
          <a:p>
            <a:pPr marL="171450" indent="-171450">
              <a:buFont typeface="Wingdings" panose="05000000000000000000" pitchFamily="2" charset="2"/>
              <a:buChar char="Ø"/>
            </a:pPr>
            <a:r>
              <a:rPr lang="en-US" sz="1050" dirty="0">
                <a:latin typeface="+mn-lt"/>
              </a:rPr>
              <a:t>Uses a polynomial function in terms of ln(SOC) to approximate circuit parameters. The summation represents a sixth-order polynomial fit, ensuring accuracy in modeling.</a:t>
            </a:r>
          </a:p>
          <a:p>
            <a:pPr marL="171450" indent="-171450">
              <a:buFont typeface="Arial" panose="020B0604020202020204" pitchFamily="34" charset="0"/>
              <a:buChar char="•"/>
            </a:pPr>
            <a:r>
              <a:rPr lang="en-US" sz="1050" b="1" dirty="0">
                <a:latin typeface="+mn-lt"/>
              </a:rPr>
              <a:t>Application in Static and Dynamic Models: </a:t>
            </a:r>
          </a:p>
          <a:p>
            <a:pPr marL="685800" lvl="1" indent="-228600" algn="just">
              <a:buAutoNum type="alphaLcPeriod"/>
            </a:pPr>
            <a:r>
              <a:rPr lang="en-US" sz="1050" dirty="0">
                <a:latin typeface="+mn-lt"/>
              </a:rPr>
              <a:t>Dynamic Simulation: Uses full equation to model real-time variations.</a:t>
            </a:r>
          </a:p>
          <a:p>
            <a:pPr marL="685800" lvl="1" indent="-228600" algn="just">
              <a:buAutoNum type="alphaLcPeriod"/>
            </a:pPr>
            <a:r>
              <a:rPr lang="en-US" sz="1050" dirty="0">
                <a:latin typeface="+mn-lt"/>
              </a:rPr>
              <a:t>Static Simulation: Ignores capacitance and sums resistances into a single equivalent resistance 𝑅</a:t>
            </a:r>
            <a:r>
              <a:rPr lang="en-US" sz="1050" baseline="-25000" dirty="0">
                <a:latin typeface="+mn-lt"/>
              </a:rPr>
              <a:t>𝑠𝑡𝑎𝑡𝑖𝑐</a:t>
            </a:r>
            <a:r>
              <a:rPr lang="en-US" sz="1050" dirty="0">
                <a:latin typeface="+mn-lt"/>
              </a:rPr>
              <a:t>.</a:t>
            </a:r>
            <a:endParaRPr lang="en-IN" sz="1050" dirty="0">
              <a:latin typeface="+mn-lt"/>
            </a:endParaRPr>
          </a:p>
          <a:p>
            <a:pPr marL="171450" indent="-171450">
              <a:buFont typeface="Arial" panose="020B0604020202020204" pitchFamily="34" charset="0"/>
              <a:buChar char="•"/>
            </a:pPr>
            <a:r>
              <a:rPr lang="en-US" sz="1050" b="1" dirty="0">
                <a:latin typeface="+mn-lt"/>
              </a:rPr>
              <a:t>Adaptation for High Discharge Rates</a:t>
            </a:r>
            <a:endParaRPr lang="en-US" sz="1050" dirty="0">
              <a:latin typeface="+mn-lt"/>
            </a:endParaRPr>
          </a:p>
          <a:p>
            <a:pPr marL="171450" indent="-171450">
              <a:buFont typeface="Wingdings" panose="05000000000000000000" pitchFamily="2" charset="2"/>
              <a:buChar char="Ø"/>
            </a:pPr>
            <a:r>
              <a:rPr lang="en-US" sz="1050" dirty="0">
                <a:latin typeface="+mn-lt"/>
              </a:rPr>
              <a:t>The reference battery had a max discharge rate of 1C.</a:t>
            </a:r>
          </a:p>
          <a:p>
            <a:pPr marL="171450" indent="-171450">
              <a:buFont typeface="Wingdings" panose="05000000000000000000" pitchFamily="2" charset="2"/>
              <a:buChar char="Ø"/>
            </a:pPr>
            <a:r>
              <a:rPr lang="en-US" sz="1050" dirty="0">
                <a:latin typeface="+mn-lt"/>
              </a:rPr>
              <a:t>To simulate high discharge rates (e.g., 5C or higher), resistance was reduced by a factor of </a:t>
            </a:r>
            <a:r>
              <a:rPr lang="en-US" sz="1050" b="1" dirty="0">
                <a:latin typeface="+mn-lt"/>
              </a:rPr>
              <a:t>5</a:t>
            </a:r>
            <a:r>
              <a:rPr lang="en-US" sz="1050" dirty="0">
                <a:latin typeface="+mn-lt"/>
              </a:rPr>
              <a:t>.</a:t>
            </a:r>
          </a:p>
          <a:p>
            <a:pPr marL="171450" indent="-171450">
              <a:buFont typeface="Wingdings" panose="05000000000000000000" pitchFamily="2" charset="2"/>
              <a:buChar char="Ø"/>
            </a:pPr>
            <a:r>
              <a:rPr lang="en-US" sz="1050" dirty="0">
                <a:latin typeface="+mn-lt"/>
              </a:rPr>
              <a:t>Ensures accurate modeling for high-power applications like Li-Po battery packs.</a:t>
            </a:r>
          </a:p>
          <a:p>
            <a:pPr lvl="1" algn="just"/>
            <a:endParaRPr lang="en-US" sz="1050" dirty="0">
              <a:latin typeface="+mn-lt"/>
            </a:endParaRPr>
          </a:p>
        </p:txBody>
      </p:sp>
      <p:pic>
        <p:nvPicPr>
          <p:cNvPr id="7" name="Picture 6">
            <a:extLst>
              <a:ext uri="{FF2B5EF4-FFF2-40B4-BE49-F238E27FC236}">
                <a16:creationId xmlns:a16="http://schemas.microsoft.com/office/drawing/2014/main" id="{7BAE38DB-7F63-FDE3-D332-38B28FB017CA}"/>
              </a:ext>
            </a:extLst>
          </p:cNvPr>
          <p:cNvPicPr>
            <a:picLocks noChangeAspect="1"/>
          </p:cNvPicPr>
          <p:nvPr/>
        </p:nvPicPr>
        <p:blipFill>
          <a:blip r:embed="rId3"/>
          <a:stretch>
            <a:fillRect/>
          </a:stretch>
        </p:blipFill>
        <p:spPr>
          <a:xfrm>
            <a:off x="5767199" y="3253004"/>
            <a:ext cx="2501995" cy="1825705"/>
          </a:xfrm>
          <a:prstGeom prst="rect">
            <a:avLst/>
          </a:prstGeom>
        </p:spPr>
      </p:pic>
    </p:spTree>
    <p:extLst>
      <p:ext uri="{BB962C8B-B14F-4D97-AF65-F5344CB8AC3E}">
        <p14:creationId xmlns:p14="http://schemas.microsoft.com/office/powerpoint/2010/main" val="1771402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23C46-8D71-7D3B-C927-195DC55C7884}"/>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Experimental Validation</a:t>
            </a:r>
            <a:endParaRPr lang="en-IN" sz="2800" u="sng" dirty="0"/>
          </a:p>
        </p:txBody>
      </p:sp>
      <p:sp>
        <p:nvSpPr>
          <p:cNvPr id="5" name="TextBox 4">
            <a:extLst>
              <a:ext uri="{FF2B5EF4-FFF2-40B4-BE49-F238E27FC236}">
                <a16:creationId xmlns:a16="http://schemas.microsoft.com/office/drawing/2014/main" id="{02DF98B4-E03D-968D-F68A-7B09FBC834BC}"/>
              </a:ext>
            </a:extLst>
          </p:cNvPr>
          <p:cNvSpPr txBox="1"/>
          <p:nvPr/>
        </p:nvSpPr>
        <p:spPr>
          <a:xfrm>
            <a:off x="156118" y="1628078"/>
            <a:ext cx="4341541" cy="3485570"/>
          </a:xfrm>
          <a:prstGeom prst="rect">
            <a:avLst/>
          </a:prstGeom>
          <a:noFill/>
        </p:spPr>
        <p:txBody>
          <a:bodyPr wrap="square" rtlCol="0">
            <a:spAutoFit/>
          </a:bodyPr>
          <a:lstStyle/>
          <a:p>
            <a:pPr marL="171450" indent="-171450">
              <a:buFont typeface="Arial" panose="020B0604020202020204" pitchFamily="34" charset="0"/>
              <a:buChar char="•"/>
            </a:pPr>
            <a:r>
              <a:rPr lang="en-US" sz="1050" b="1" dirty="0"/>
              <a:t>Experimental Setup </a:t>
            </a:r>
            <a:r>
              <a:rPr lang="en-US" sz="1050" dirty="0"/>
              <a:t>– A PMSM motor (T-Motor U10II KV100) was driven by an FOC-based ESC/DC-AC inverter (T-Motor Alpha 80A HV), with an RC Benchmark Dynamometer measuring thrust, torque, speed, and power.</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b="1" dirty="0"/>
              <a:t>Motor and Inverter Analysis </a:t>
            </a:r>
            <a:r>
              <a:rPr lang="en-US" sz="1050" dirty="0"/>
              <a:t>– Mechanical losses were determined through a no-load test, while the MOSFET arrangement and model parameters were identified for the inverter. Equivalent circuit parameters were also obtained for the motor.</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b="1" dirty="0"/>
              <a:t>Testing with Propellers </a:t>
            </a:r>
            <a:r>
              <a:rPr lang="en-US" sz="1050" dirty="0"/>
              <a:t>– Two propellers (G28x9.2 and G30x10.5) were used to apply realistic loads. The motor speed was gradually increased to rated conditions to minimize acceleration-induced torque.</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r>
              <a:rPr lang="en-US" sz="1050" b="1" dirty="0"/>
              <a:t>Losses and Efficiency Measurement </a:t>
            </a:r>
            <a:r>
              <a:rPr lang="en-US" sz="1050" dirty="0"/>
              <a:t>– Power loss and efficiency were measured from inverter input to motor shaft, with experimental results compared to model predictions over the same torque and speed range.</a:t>
            </a:r>
          </a:p>
          <a:p>
            <a:endParaRPr lang="en-US" sz="1050" dirty="0"/>
          </a:p>
          <a:p>
            <a:pPr marL="171450" indent="-171450">
              <a:buFont typeface="Arial" panose="020B0604020202020204" pitchFamily="34" charset="0"/>
              <a:buChar char="•"/>
            </a:pPr>
            <a:r>
              <a:rPr lang="en-US" sz="1050" b="1" dirty="0"/>
              <a:t>Model Validation </a:t>
            </a:r>
            <a:r>
              <a:rPr lang="en-US" sz="1050" dirty="0"/>
              <a:t>– The model closely matched experimental results across the speed range, though it slightly overestimated losses at lower speeds. It was deemed sufficiently accurate for power system design and analysis.</a:t>
            </a:r>
            <a:endParaRPr lang="en-IN" sz="1050" dirty="0"/>
          </a:p>
        </p:txBody>
      </p:sp>
      <p:sp>
        <p:nvSpPr>
          <p:cNvPr id="6" name="TextBox 5">
            <a:extLst>
              <a:ext uri="{FF2B5EF4-FFF2-40B4-BE49-F238E27FC236}">
                <a16:creationId xmlns:a16="http://schemas.microsoft.com/office/drawing/2014/main" id="{AB7AD6A6-466F-8D93-B4F9-43F9E63F89DB}"/>
              </a:ext>
            </a:extLst>
          </p:cNvPr>
          <p:cNvSpPr txBox="1"/>
          <p:nvPr/>
        </p:nvSpPr>
        <p:spPr>
          <a:xfrm>
            <a:off x="4828477" y="3849418"/>
            <a:ext cx="3917795" cy="646331"/>
          </a:xfrm>
          <a:prstGeom prst="rect">
            <a:avLst/>
          </a:prstGeom>
          <a:noFill/>
        </p:spPr>
        <p:txBody>
          <a:bodyPr wrap="square" rtlCol="0">
            <a:spAutoFit/>
          </a:bodyPr>
          <a:lstStyle/>
          <a:p>
            <a:r>
              <a:rPr lang="en-US" sz="1200" dirty="0">
                <a:solidFill>
                  <a:srgbClr val="0000FF"/>
                </a:solidFill>
                <a:highlight>
                  <a:srgbClr val="FFFF00"/>
                </a:highlight>
              </a:rPr>
              <a:t>Inference: The losses while doing theoretical calculations were overestimated and were practically varying less drastically when experimented on practically.  </a:t>
            </a:r>
            <a:endParaRPr lang="en-IN" sz="1200" dirty="0">
              <a:solidFill>
                <a:srgbClr val="0000FF"/>
              </a:solidFill>
              <a:highlight>
                <a:srgbClr val="FFFF00"/>
              </a:highlight>
            </a:endParaRPr>
          </a:p>
        </p:txBody>
      </p:sp>
      <p:pic>
        <p:nvPicPr>
          <p:cNvPr id="7" name="Picture 6">
            <a:extLst>
              <a:ext uri="{FF2B5EF4-FFF2-40B4-BE49-F238E27FC236}">
                <a16:creationId xmlns:a16="http://schemas.microsoft.com/office/drawing/2014/main" id="{8F56F4CE-409C-23F2-4197-D192825E2749}"/>
              </a:ext>
            </a:extLst>
          </p:cNvPr>
          <p:cNvPicPr>
            <a:picLocks noChangeAspect="1"/>
          </p:cNvPicPr>
          <p:nvPr/>
        </p:nvPicPr>
        <p:blipFill>
          <a:blip r:embed="rId2"/>
          <a:stretch>
            <a:fillRect/>
          </a:stretch>
        </p:blipFill>
        <p:spPr>
          <a:xfrm>
            <a:off x="6745394" y="1359936"/>
            <a:ext cx="2341841" cy="2307190"/>
          </a:xfrm>
          <a:prstGeom prst="rect">
            <a:avLst/>
          </a:prstGeom>
        </p:spPr>
      </p:pic>
      <p:pic>
        <p:nvPicPr>
          <p:cNvPr id="13" name="Picture 12">
            <a:extLst>
              <a:ext uri="{FF2B5EF4-FFF2-40B4-BE49-F238E27FC236}">
                <a16:creationId xmlns:a16="http://schemas.microsoft.com/office/drawing/2014/main" id="{90DD3D77-46C2-72DF-B348-C167424BF1B7}"/>
              </a:ext>
            </a:extLst>
          </p:cNvPr>
          <p:cNvPicPr>
            <a:picLocks noChangeAspect="1"/>
          </p:cNvPicPr>
          <p:nvPr/>
        </p:nvPicPr>
        <p:blipFill>
          <a:blip r:embed="rId3"/>
          <a:stretch>
            <a:fillRect/>
          </a:stretch>
        </p:blipFill>
        <p:spPr>
          <a:xfrm>
            <a:off x="4139544" y="1424700"/>
            <a:ext cx="2647831" cy="2031701"/>
          </a:xfrm>
          <a:prstGeom prst="rect">
            <a:avLst/>
          </a:prstGeom>
        </p:spPr>
      </p:pic>
    </p:spTree>
    <p:extLst>
      <p:ext uri="{BB962C8B-B14F-4D97-AF65-F5344CB8AC3E}">
        <p14:creationId xmlns:p14="http://schemas.microsoft.com/office/powerpoint/2010/main" val="213953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3A48A-3FAF-D9F5-520B-67EEF6E2318D}"/>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Loss Distribution</a:t>
            </a:r>
            <a:endParaRPr lang="en-IN" sz="2800" u="sng" dirty="0"/>
          </a:p>
        </p:txBody>
      </p:sp>
      <p:sp>
        <p:nvSpPr>
          <p:cNvPr id="3" name="TextBox 2">
            <a:extLst>
              <a:ext uri="{FF2B5EF4-FFF2-40B4-BE49-F238E27FC236}">
                <a16:creationId xmlns:a16="http://schemas.microsoft.com/office/drawing/2014/main" id="{08564301-DF49-5FE4-2734-B77DD84686D6}"/>
              </a:ext>
            </a:extLst>
          </p:cNvPr>
          <p:cNvSpPr txBox="1"/>
          <p:nvPr/>
        </p:nvSpPr>
        <p:spPr>
          <a:xfrm>
            <a:off x="0" y="1672683"/>
            <a:ext cx="4668644"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t>Model Configuration Parameters:</a:t>
            </a:r>
          </a:p>
          <a:p>
            <a:pPr marL="228600" indent="-228600">
              <a:buFont typeface="+mj-lt"/>
              <a:buAutoNum type="arabicPeriod"/>
            </a:pPr>
            <a:r>
              <a:rPr lang="en-US" sz="1200" dirty="0"/>
              <a:t>Weight of loaded craft = 15kg</a:t>
            </a:r>
          </a:p>
          <a:p>
            <a:pPr marL="228600" indent="-228600">
              <a:buFont typeface="+mj-lt"/>
              <a:buAutoNum type="arabicPeriod"/>
            </a:pPr>
            <a:r>
              <a:rPr lang="en-US" sz="1200" dirty="0"/>
              <a:t>Maximum thrust = 24kgf</a:t>
            </a:r>
          </a:p>
          <a:p>
            <a:pPr marL="228600" indent="-228600">
              <a:buFont typeface="+mj-lt"/>
              <a:buAutoNum type="arabicPeriod"/>
            </a:pPr>
            <a:r>
              <a:rPr lang="en-US" sz="1200" dirty="0"/>
              <a:t>Battery: 3.7V, 2200mAh LiPo – 12 series and 9 parallel configuration</a:t>
            </a:r>
          </a:p>
          <a:p>
            <a:pPr marL="171450" indent="-171450">
              <a:buFont typeface="Arial" panose="020B0604020202020204" pitchFamily="34" charset="0"/>
              <a:buChar char="•"/>
            </a:pPr>
            <a:r>
              <a:rPr lang="en-US" sz="1200" dirty="0"/>
              <a:t>For a 4-propeller VTOL UAV, the following configurations were taken</a:t>
            </a:r>
            <a:r>
              <a:rPr lang="en-IN" sz="1200" dirty="0"/>
              <a:t>:</a:t>
            </a:r>
            <a:endParaRPr lang="en-US" sz="1200" dirty="0"/>
          </a:p>
        </p:txBody>
      </p:sp>
      <p:pic>
        <p:nvPicPr>
          <p:cNvPr id="5" name="Picture 4">
            <a:extLst>
              <a:ext uri="{FF2B5EF4-FFF2-40B4-BE49-F238E27FC236}">
                <a16:creationId xmlns:a16="http://schemas.microsoft.com/office/drawing/2014/main" id="{E40D91D8-527B-F277-077A-1FF0D73E4B76}"/>
              </a:ext>
            </a:extLst>
          </p:cNvPr>
          <p:cNvPicPr>
            <a:picLocks noChangeAspect="1"/>
          </p:cNvPicPr>
          <p:nvPr/>
        </p:nvPicPr>
        <p:blipFill>
          <a:blip r:embed="rId2"/>
          <a:stretch>
            <a:fillRect/>
          </a:stretch>
        </p:blipFill>
        <p:spPr>
          <a:xfrm>
            <a:off x="453483" y="2761509"/>
            <a:ext cx="8237034" cy="2144097"/>
          </a:xfrm>
          <a:prstGeom prst="rect">
            <a:avLst/>
          </a:prstGeom>
        </p:spPr>
      </p:pic>
    </p:spTree>
    <p:extLst>
      <p:ext uri="{BB962C8B-B14F-4D97-AF65-F5344CB8AC3E}">
        <p14:creationId xmlns:p14="http://schemas.microsoft.com/office/powerpoint/2010/main" val="387625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5F11-5A34-D5BC-DF95-A6C664D18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12AD6-30CA-EA98-B20D-D5DA44D7657F}"/>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Loss Distribution</a:t>
            </a:r>
            <a:endParaRPr lang="en-IN" sz="2800" u="sng" dirty="0"/>
          </a:p>
        </p:txBody>
      </p:sp>
      <p:sp>
        <p:nvSpPr>
          <p:cNvPr id="3" name="TextBox 2">
            <a:extLst>
              <a:ext uri="{FF2B5EF4-FFF2-40B4-BE49-F238E27FC236}">
                <a16:creationId xmlns:a16="http://schemas.microsoft.com/office/drawing/2014/main" id="{26AA8447-D470-0A24-E5A0-80C65A78576A}"/>
              </a:ext>
            </a:extLst>
          </p:cNvPr>
          <p:cNvSpPr txBox="1"/>
          <p:nvPr/>
        </p:nvSpPr>
        <p:spPr>
          <a:xfrm>
            <a:off x="0" y="1672683"/>
            <a:ext cx="4668644"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a:t>Based on the plots for losses of architectures 1 and 3, a comparison can be drawn:</a:t>
            </a:r>
          </a:p>
          <a:p>
            <a:pPr marL="171450" indent="-171450">
              <a:buFont typeface="Arial" panose="020B0604020202020204" pitchFamily="34" charset="0"/>
              <a:buChar char="•"/>
            </a:pPr>
            <a:endParaRPr lang="en-US" sz="1200" dirty="0"/>
          </a:p>
        </p:txBody>
      </p:sp>
      <p:graphicFrame>
        <p:nvGraphicFramePr>
          <p:cNvPr id="4" name="Table 3">
            <a:extLst>
              <a:ext uri="{FF2B5EF4-FFF2-40B4-BE49-F238E27FC236}">
                <a16:creationId xmlns:a16="http://schemas.microsoft.com/office/drawing/2014/main" id="{5FE6E421-5A8E-13C9-538A-9A735B6EDD42}"/>
              </a:ext>
            </a:extLst>
          </p:cNvPr>
          <p:cNvGraphicFramePr>
            <a:graphicFrameLocks noGrp="1"/>
          </p:cNvGraphicFramePr>
          <p:nvPr>
            <p:extLst>
              <p:ext uri="{D42A27DB-BD31-4B8C-83A1-F6EECF244321}">
                <p14:modId xmlns:p14="http://schemas.microsoft.com/office/powerpoint/2010/main" val="3641065465"/>
              </p:ext>
            </p:extLst>
          </p:nvPr>
        </p:nvGraphicFramePr>
        <p:xfrm>
          <a:off x="0" y="2226000"/>
          <a:ext cx="5189034" cy="2788920"/>
        </p:xfrm>
        <a:graphic>
          <a:graphicData uri="http://schemas.openxmlformats.org/drawingml/2006/table">
            <a:tbl>
              <a:tblPr firstRow="1" bandRow="1">
                <a:tableStyleId>{5940675A-B579-460E-94D1-54222C63F5DA}</a:tableStyleId>
              </a:tblPr>
              <a:tblGrid>
                <a:gridCol w="572429">
                  <a:extLst>
                    <a:ext uri="{9D8B030D-6E8A-4147-A177-3AD203B41FA5}">
                      <a16:colId xmlns:a16="http://schemas.microsoft.com/office/drawing/2014/main" val="290153711"/>
                    </a:ext>
                  </a:extLst>
                </a:gridCol>
                <a:gridCol w="4616605">
                  <a:extLst>
                    <a:ext uri="{9D8B030D-6E8A-4147-A177-3AD203B41FA5}">
                      <a16:colId xmlns:a16="http://schemas.microsoft.com/office/drawing/2014/main" val="1061606595"/>
                    </a:ext>
                  </a:extLst>
                </a:gridCol>
              </a:tblGrid>
              <a:tr h="370840">
                <a:tc>
                  <a:txBody>
                    <a:bodyPr/>
                    <a:lstStyle/>
                    <a:p>
                      <a:r>
                        <a:rPr lang="en-US" sz="1100" dirty="0"/>
                        <a:t>Arch 1</a:t>
                      </a:r>
                      <a:endParaRPr lang="en-IN" sz="1100" dirty="0"/>
                    </a:p>
                  </a:txBody>
                  <a:tcPr/>
                </a:tc>
                <a:tc>
                  <a:txBody>
                    <a:bodyPr/>
                    <a:lstStyle/>
                    <a:p>
                      <a:r>
                        <a:rPr lang="en-US" sz="1100" dirty="0"/>
                        <a:t>Dominant Losses: PMSM motor losses dominate, with battery losses increasing at higher thrust.</a:t>
                      </a:r>
                    </a:p>
                    <a:p>
                      <a:r>
                        <a:rPr lang="en-US" sz="1100" dirty="0"/>
                        <a:t>Imp. Point: Battery provides stable power, but efficiency drops at high thrust.</a:t>
                      </a:r>
                    </a:p>
                    <a:p>
                      <a:r>
                        <a:rPr lang="en-US" sz="1100" dirty="0"/>
                        <a:t>Overall efficiency: </a:t>
                      </a:r>
                      <a:r>
                        <a:rPr lang="en-US" sz="1100" dirty="0">
                          <a:highlight>
                            <a:srgbClr val="FFFF00"/>
                          </a:highlight>
                        </a:rPr>
                        <a:t>Moderate</a:t>
                      </a:r>
                      <a:endParaRPr lang="en-IN" sz="1100" dirty="0">
                        <a:highlight>
                          <a:srgbClr val="FFFF00"/>
                        </a:highlight>
                      </a:endParaRPr>
                    </a:p>
                  </a:txBody>
                  <a:tcPr/>
                </a:tc>
                <a:extLst>
                  <a:ext uri="{0D108BD9-81ED-4DB2-BD59-A6C34878D82A}">
                    <a16:rowId xmlns:a16="http://schemas.microsoft.com/office/drawing/2014/main" val="2311086785"/>
                  </a:ext>
                </a:extLst>
              </a:tr>
              <a:tr h="370840">
                <a:tc>
                  <a:txBody>
                    <a:bodyPr/>
                    <a:lstStyle/>
                    <a:p>
                      <a:r>
                        <a:rPr lang="en-US" sz="1100" dirty="0"/>
                        <a:t>Arch 2</a:t>
                      </a:r>
                      <a:endParaRPr lang="en-IN" sz="1100" dirty="0"/>
                    </a:p>
                  </a:txBody>
                  <a:tcPr/>
                </a:tc>
                <a:tc>
                  <a:txBody>
                    <a:bodyPr/>
                    <a:lstStyle/>
                    <a:p>
                      <a:r>
                        <a:rPr lang="en-US" sz="1100" dirty="0"/>
                        <a:t>Dominant Losses: PMSM motor remains the dominant loss, with no boost converter losses</a:t>
                      </a:r>
                    </a:p>
                    <a:p>
                      <a:r>
                        <a:rPr lang="en-US" sz="1100" dirty="0"/>
                        <a:t>Imp. Point : The intermediate losses still are sizable but overall loss is reduced. </a:t>
                      </a:r>
                    </a:p>
                    <a:p>
                      <a:r>
                        <a:rPr lang="en-US" sz="1100" dirty="0"/>
                        <a:t>Overall efficiency: </a:t>
                      </a:r>
                      <a:r>
                        <a:rPr lang="en-US" sz="1100" dirty="0">
                          <a:highlight>
                            <a:srgbClr val="00FF00"/>
                          </a:highlight>
                        </a:rPr>
                        <a:t>Good</a:t>
                      </a:r>
                      <a:endParaRPr lang="en-IN" sz="1100" dirty="0">
                        <a:highlight>
                          <a:srgbClr val="00FF00"/>
                        </a:highlight>
                      </a:endParaRPr>
                    </a:p>
                    <a:p>
                      <a:endParaRPr lang="en-IN" sz="1100" dirty="0"/>
                    </a:p>
                  </a:txBody>
                  <a:tcPr/>
                </a:tc>
                <a:extLst>
                  <a:ext uri="{0D108BD9-81ED-4DB2-BD59-A6C34878D82A}">
                    <a16:rowId xmlns:a16="http://schemas.microsoft.com/office/drawing/2014/main" val="2670711353"/>
                  </a:ext>
                </a:extLst>
              </a:tr>
              <a:tr h="370840">
                <a:tc>
                  <a:txBody>
                    <a:bodyPr/>
                    <a:lstStyle/>
                    <a:p>
                      <a:r>
                        <a:rPr lang="en-US" sz="1100" dirty="0"/>
                        <a:t>Arch 3</a:t>
                      </a:r>
                      <a:endParaRPr lang="en-IN" sz="1100" dirty="0"/>
                    </a:p>
                  </a:txBody>
                  <a:tcPr/>
                </a:tc>
                <a:tc>
                  <a:txBody>
                    <a:bodyPr/>
                    <a:lstStyle/>
                    <a:p>
                      <a:r>
                        <a:rPr lang="en-US" sz="1100" dirty="0"/>
                        <a:t>Dominant Losses: Fuel cell losses dominate, with increased wiring losses due to high currents</a:t>
                      </a:r>
                    </a:p>
                    <a:p>
                      <a:r>
                        <a:rPr lang="en-US" sz="1100" dirty="0"/>
                        <a:t>Imp. Point : Fuel cell offers extended endurance but at the cost of significantly higher losses, due to added components</a:t>
                      </a:r>
                    </a:p>
                    <a:p>
                      <a:r>
                        <a:rPr lang="en-US" sz="1100" dirty="0"/>
                        <a:t>Overall efficiency: </a:t>
                      </a:r>
                      <a:r>
                        <a:rPr lang="en-US" sz="1100" dirty="0">
                          <a:highlight>
                            <a:srgbClr val="FF0000"/>
                          </a:highlight>
                        </a:rPr>
                        <a:t>Bad</a:t>
                      </a:r>
                      <a:endParaRPr lang="en-IN" sz="1100" dirty="0">
                        <a:highlight>
                          <a:srgbClr val="FF0000"/>
                        </a:highlight>
                      </a:endParaRPr>
                    </a:p>
                    <a:p>
                      <a:endParaRPr lang="en-IN" sz="1100" dirty="0"/>
                    </a:p>
                  </a:txBody>
                  <a:tcPr/>
                </a:tc>
                <a:extLst>
                  <a:ext uri="{0D108BD9-81ED-4DB2-BD59-A6C34878D82A}">
                    <a16:rowId xmlns:a16="http://schemas.microsoft.com/office/drawing/2014/main" val="2082344312"/>
                  </a:ext>
                </a:extLst>
              </a:tr>
            </a:tbl>
          </a:graphicData>
        </a:graphic>
      </p:graphicFrame>
      <p:pic>
        <p:nvPicPr>
          <p:cNvPr id="7" name="Picture 6">
            <a:extLst>
              <a:ext uri="{FF2B5EF4-FFF2-40B4-BE49-F238E27FC236}">
                <a16:creationId xmlns:a16="http://schemas.microsoft.com/office/drawing/2014/main" id="{38EA49A6-8A5C-0BEE-9E22-A6FD2B60B891}"/>
              </a:ext>
            </a:extLst>
          </p:cNvPr>
          <p:cNvPicPr>
            <a:picLocks noChangeAspect="1"/>
          </p:cNvPicPr>
          <p:nvPr/>
        </p:nvPicPr>
        <p:blipFill>
          <a:blip r:embed="rId2"/>
          <a:stretch>
            <a:fillRect/>
          </a:stretch>
        </p:blipFill>
        <p:spPr>
          <a:xfrm>
            <a:off x="5267832" y="1476375"/>
            <a:ext cx="2064390" cy="2001832"/>
          </a:xfrm>
          <a:prstGeom prst="rect">
            <a:avLst/>
          </a:prstGeom>
        </p:spPr>
      </p:pic>
      <p:pic>
        <p:nvPicPr>
          <p:cNvPr id="9" name="Picture 8">
            <a:extLst>
              <a:ext uri="{FF2B5EF4-FFF2-40B4-BE49-F238E27FC236}">
                <a16:creationId xmlns:a16="http://schemas.microsoft.com/office/drawing/2014/main" id="{5F3D2C2A-2688-125B-D824-FF255815E07F}"/>
              </a:ext>
            </a:extLst>
          </p:cNvPr>
          <p:cNvPicPr>
            <a:picLocks noChangeAspect="1"/>
          </p:cNvPicPr>
          <p:nvPr/>
        </p:nvPicPr>
        <p:blipFill>
          <a:blip r:embed="rId3"/>
          <a:stretch>
            <a:fillRect/>
          </a:stretch>
        </p:blipFill>
        <p:spPr>
          <a:xfrm>
            <a:off x="7151649" y="3098244"/>
            <a:ext cx="1992351" cy="2035313"/>
          </a:xfrm>
          <a:prstGeom prst="rect">
            <a:avLst/>
          </a:prstGeom>
        </p:spPr>
      </p:pic>
    </p:spTree>
    <p:extLst>
      <p:ext uri="{BB962C8B-B14F-4D97-AF65-F5344CB8AC3E}">
        <p14:creationId xmlns:p14="http://schemas.microsoft.com/office/powerpoint/2010/main" val="681826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036BA-14CC-2470-4026-649B991B6295}"/>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Mission Profile Simulations</a:t>
            </a:r>
            <a:endParaRPr lang="en-IN" sz="2800" u="sng" dirty="0"/>
          </a:p>
        </p:txBody>
      </p:sp>
      <p:sp>
        <p:nvSpPr>
          <p:cNvPr id="3" name="TextBox 2">
            <a:extLst>
              <a:ext uri="{FF2B5EF4-FFF2-40B4-BE49-F238E27FC236}">
                <a16:creationId xmlns:a16="http://schemas.microsoft.com/office/drawing/2014/main" id="{8D0F6D6E-ADD7-F055-AAAA-12D77731CC68}"/>
              </a:ext>
            </a:extLst>
          </p:cNvPr>
          <p:cNvSpPr txBox="1"/>
          <p:nvPr/>
        </p:nvSpPr>
        <p:spPr>
          <a:xfrm>
            <a:off x="138654" y="1523489"/>
            <a:ext cx="5352586"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Normalized thrust is defined as the ratio of actual thrust to craft mass. We can observe the stability of the system during the cruise system and the increased/ decreased response during ascend and descent.</a:t>
            </a:r>
            <a:endParaRPr lang="en-IN" sz="1100" dirty="0"/>
          </a:p>
        </p:txBody>
      </p:sp>
      <p:pic>
        <p:nvPicPr>
          <p:cNvPr id="5" name="Picture 4">
            <a:extLst>
              <a:ext uri="{FF2B5EF4-FFF2-40B4-BE49-F238E27FC236}">
                <a16:creationId xmlns:a16="http://schemas.microsoft.com/office/drawing/2014/main" id="{A8B346A0-1F18-D72E-0B4D-6B0DFC8C7EA5}"/>
              </a:ext>
            </a:extLst>
          </p:cNvPr>
          <p:cNvPicPr>
            <a:picLocks noChangeAspect="1"/>
          </p:cNvPicPr>
          <p:nvPr/>
        </p:nvPicPr>
        <p:blipFill>
          <a:blip r:embed="rId2"/>
          <a:stretch>
            <a:fillRect/>
          </a:stretch>
        </p:blipFill>
        <p:spPr>
          <a:xfrm>
            <a:off x="5793446" y="1476375"/>
            <a:ext cx="2691162" cy="1600807"/>
          </a:xfrm>
          <a:prstGeom prst="rect">
            <a:avLst/>
          </a:prstGeom>
        </p:spPr>
      </p:pic>
      <p:graphicFrame>
        <p:nvGraphicFramePr>
          <p:cNvPr id="6" name="Table 5">
            <a:extLst>
              <a:ext uri="{FF2B5EF4-FFF2-40B4-BE49-F238E27FC236}">
                <a16:creationId xmlns:a16="http://schemas.microsoft.com/office/drawing/2014/main" id="{F3494F95-22BC-54E2-2D52-710937B7DF01}"/>
              </a:ext>
            </a:extLst>
          </p:cNvPr>
          <p:cNvGraphicFramePr>
            <a:graphicFrameLocks noGrp="1"/>
          </p:cNvGraphicFramePr>
          <p:nvPr>
            <p:extLst>
              <p:ext uri="{D42A27DB-BD31-4B8C-83A1-F6EECF244321}">
                <p14:modId xmlns:p14="http://schemas.microsoft.com/office/powerpoint/2010/main" val="221452450"/>
              </p:ext>
            </p:extLst>
          </p:nvPr>
        </p:nvGraphicFramePr>
        <p:xfrm>
          <a:off x="0" y="2226000"/>
          <a:ext cx="5189034" cy="2865120"/>
        </p:xfrm>
        <a:graphic>
          <a:graphicData uri="http://schemas.openxmlformats.org/drawingml/2006/table">
            <a:tbl>
              <a:tblPr firstRow="1" bandRow="1">
                <a:tableStyleId>{5940675A-B579-460E-94D1-54222C63F5DA}</a:tableStyleId>
              </a:tblPr>
              <a:tblGrid>
                <a:gridCol w="572429">
                  <a:extLst>
                    <a:ext uri="{9D8B030D-6E8A-4147-A177-3AD203B41FA5}">
                      <a16:colId xmlns:a16="http://schemas.microsoft.com/office/drawing/2014/main" val="290153711"/>
                    </a:ext>
                  </a:extLst>
                </a:gridCol>
                <a:gridCol w="4616605">
                  <a:extLst>
                    <a:ext uri="{9D8B030D-6E8A-4147-A177-3AD203B41FA5}">
                      <a16:colId xmlns:a16="http://schemas.microsoft.com/office/drawing/2014/main" val="1061606595"/>
                    </a:ext>
                  </a:extLst>
                </a:gridCol>
              </a:tblGrid>
              <a:tr h="370840">
                <a:tc>
                  <a:txBody>
                    <a:bodyPr/>
                    <a:lstStyle/>
                    <a:p>
                      <a:r>
                        <a:rPr lang="en-US" sz="1000" dirty="0"/>
                        <a:t>Arch 1</a:t>
                      </a:r>
                      <a:endParaRPr lang="en-IN" sz="1000" dirty="0"/>
                    </a:p>
                  </a:txBody>
                  <a:tcPr/>
                </a:tc>
                <a:tc>
                  <a:txBody>
                    <a:bodyPr/>
                    <a:lstStyle/>
                    <a:p>
                      <a:r>
                        <a:rPr lang="en-US" sz="1000" dirty="0"/>
                        <a:t>Unloaded Weight and Payload:12.65 kg (Unloaded) </a:t>
                      </a:r>
                      <a:br>
                        <a:rPr lang="en-US" sz="1000" dirty="0"/>
                      </a:br>
                      <a:r>
                        <a:rPr lang="en-US" sz="1000" dirty="0"/>
                        <a:t>2.35 kg (Payload)</a:t>
                      </a:r>
                    </a:p>
                    <a:p>
                      <a:r>
                        <a:rPr lang="en-US" sz="1000" dirty="0"/>
                        <a:t>Efficiency: </a:t>
                      </a:r>
                      <a:r>
                        <a:rPr lang="en-US" sz="1000" dirty="0">
                          <a:highlight>
                            <a:srgbClr val="FFFF00"/>
                          </a:highlight>
                        </a:rPr>
                        <a:t>Lower than Architecture 2 (~81-82%)</a:t>
                      </a:r>
                    </a:p>
                    <a:p>
                      <a:r>
                        <a:rPr lang="en-US" sz="1000" dirty="0"/>
                        <a:t>Reason for good/bad efficiency: </a:t>
                      </a:r>
                      <a:r>
                        <a:rPr lang="en-US" sz="1000" b="1" dirty="0"/>
                        <a:t>Moderate losses</a:t>
                      </a:r>
                      <a:r>
                        <a:rPr lang="en-US" sz="1000" dirty="0"/>
                        <a:t> due to the </a:t>
                      </a:r>
                      <a:r>
                        <a:rPr lang="en-US" sz="1000" b="1" dirty="0"/>
                        <a:t>boost converter</a:t>
                      </a:r>
                      <a:r>
                        <a:rPr lang="en-US" sz="1000" dirty="0"/>
                        <a:t> adding conversion losses.</a:t>
                      </a:r>
                      <a:endParaRPr lang="en-IN" sz="1000" dirty="0"/>
                    </a:p>
                  </a:txBody>
                  <a:tcPr/>
                </a:tc>
                <a:extLst>
                  <a:ext uri="{0D108BD9-81ED-4DB2-BD59-A6C34878D82A}">
                    <a16:rowId xmlns:a16="http://schemas.microsoft.com/office/drawing/2014/main" val="2311086785"/>
                  </a:ext>
                </a:extLst>
              </a:tr>
              <a:tr h="370840">
                <a:tc>
                  <a:txBody>
                    <a:bodyPr/>
                    <a:lstStyle/>
                    <a:p>
                      <a:r>
                        <a:rPr lang="en-US" sz="1000" dirty="0"/>
                        <a:t>Arch 2</a:t>
                      </a:r>
                      <a:endParaRPr lang="en-IN" sz="1000" dirty="0"/>
                    </a:p>
                  </a:txBody>
                  <a:tcPr/>
                </a:tc>
                <a:tc>
                  <a:txBody>
                    <a:bodyPr/>
                    <a:lstStyle/>
                    <a:p>
                      <a:r>
                        <a:rPr lang="en-US" sz="1000" dirty="0"/>
                        <a:t>Unloaded Weight and Payload:</a:t>
                      </a:r>
                      <a:r>
                        <a:rPr lang="en-US" sz="1000" b="0" dirty="0"/>
                        <a:t>11.24 kg (Unloaded) </a:t>
                      </a:r>
                      <a:br>
                        <a:rPr lang="en-US" sz="1000" b="0" dirty="0"/>
                      </a:br>
                      <a:r>
                        <a:rPr lang="en-US" sz="1000" b="0" dirty="0"/>
                        <a:t>3.76 kg (Payload)</a:t>
                      </a:r>
                    </a:p>
                    <a:p>
                      <a:r>
                        <a:rPr lang="en-US" sz="1000" dirty="0"/>
                        <a:t>Efficiency: </a:t>
                      </a:r>
                      <a:r>
                        <a:rPr lang="en-US" sz="1000" dirty="0">
                          <a:highlight>
                            <a:srgbClr val="00FF00"/>
                          </a:highlight>
                        </a:rPr>
                        <a:t>83% (best)</a:t>
                      </a:r>
                    </a:p>
                    <a:p>
                      <a:r>
                        <a:rPr lang="en-US" sz="1000" dirty="0"/>
                        <a:t>Reason for good/bad efficiency: </a:t>
                      </a:r>
                      <a:r>
                        <a:rPr lang="en-US" sz="1000" b="1" dirty="0"/>
                        <a:t>Best efficiency</a:t>
                      </a:r>
                      <a:r>
                        <a:rPr lang="en-US" sz="1000" dirty="0"/>
                        <a:t> because it has </a:t>
                      </a:r>
                      <a:r>
                        <a:rPr lang="en-US" sz="1000" b="1" dirty="0"/>
                        <a:t>no boost converter</a:t>
                      </a:r>
                      <a:r>
                        <a:rPr lang="en-US" sz="1000" dirty="0"/>
                        <a:t>, minimizing conversion losses.</a:t>
                      </a:r>
                      <a:endParaRPr lang="en-IN" sz="1000" dirty="0"/>
                    </a:p>
                    <a:p>
                      <a:endParaRPr lang="en-IN" sz="1000" dirty="0"/>
                    </a:p>
                  </a:txBody>
                  <a:tcPr/>
                </a:tc>
                <a:extLst>
                  <a:ext uri="{0D108BD9-81ED-4DB2-BD59-A6C34878D82A}">
                    <a16:rowId xmlns:a16="http://schemas.microsoft.com/office/drawing/2014/main" val="2670711353"/>
                  </a:ext>
                </a:extLst>
              </a:tr>
              <a:tr h="370840">
                <a:tc>
                  <a:txBody>
                    <a:bodyPr/>
                    <a:lstStyle/>
                    <a:p>
                      <a:r>
                        <a:rPr lang="en-US" sz="1000" dirty="0"/>
                        <a:t>Arch 3</a:t>
                      </a:r>
                      <a:endParaRPr lang="en-IN" sz="1000" dirty="0"/>
                    </a:p>
                  </a:txBody>
                  <a:tcPr/>
                </a:tc>
                <a:tc>
                  <a:txBody>
                    <a:bodyPr/>
                    <a:lstStyle/>
                    <a:p>
                      <a:r>
                        <a:rPr lang="en-US" sz="1000" dirty="0"/>
                        <a:t>Unloaded Weight and Payload:10.96 kg (Unloaded) </a:t>
                      </a:r>
                      <a:br>
                        <a:rPr lang="en-US" sz="1000" dirty="0"/>
                      </a:br>
                      <a:r>
                        <a:rPr lang="en-US" sz="1000" dirty="0"/>
                        <a:t>4.04 kg (Payload)</a:t>
                      </a:r>
                    </a:p>
                    <a:p>
                      <a:r>
                        <a:rPr lang="en-US" sz="1000" dirty="0"/>
                        <a:t>Efficiency: </a:t>
                      </a:r>
                      <a:r>
                        <a:rPr lang="en-US" sz="1000" dirty="0">
                          <a:highlight>
                            <a:srgbClr val="FF0000"/>
                          </a:highlight>
                        </a:rPr>
                        <a:t>Lowest (70-75%)</a:t>
                      </a:r>
                    </a:p>
                    <a:p>
                      <a:r>
                        <a:rPr lang="en-US" sz="1000" dirty="0"/>
                        <a:t>Reason for good/bad efficiency: </a:t>
                      </a:r>
                      <a:r>
                        <a:rPr lang="en-US" sz="1000" b="1" dirty="0"/>
                        <a:t>Poor efficiency</a:t>
                      </a:r>
                      <a:r>
                        <a:rPr lang="en-US" sz="1000" dirty="0"/>
                        <a:t> due to </a:t>
                      </a:r>
                      <a:r>
                        <a:rPr lang="en-US" sz="1000" b="1" dirty="0"/>
                        <a:t>fuel cell losses</a:t>
                      </a:r>
                      <a:r>
                        <a:rPr lang="en-US" sz="1000" dirty="0"/>
                        <a:t>, extra losses in the </a:t>
                      </a:r>
                      <a:r>
                        <a:rPr lang="en-US" sz="1000" b="1" dirty="0"/>
                        <a:t>boost and half-bridge converters</a:t>
                      </a:r>
                      <a:r>
                        <a:rPr lang="en-US" sz="1000" dirty="0"/>
                        <a:t>, and additional </a:t>
                      </a:r>
                      <a:r>
                        <a:rPr lang="en-US" sz="1000" b="1" dirty="0"/>
                        <a:t>charging losses during cruising</a:t>
                      </a:r>
                      <a:r>
                        <a:rPr lang="en-US" sz="1000" dirty="0"/>
                        <a:t>.</a:t>
                      </a:r>
                      <a:endParaRPr lang="en-IN" sz="1000" dirty="0"/>
                    </a:p>
                    <a:p>
                      <a:endParaRPr lang="en-IN" sz="1000" dirty="0"/>
                    </a:p>
                  </a:txBody>
                  <a:tcPr/>
                </a:tc>
                <a:extLst>
                  <a:ext uri="{0D108BD9-81ED-4DB2-BD59-A6C34878D82A}">
                    <a16:rowId xmlns:a16="http://schemas.microsoft.com/office/drawing/2014/main" val="2082344312"/>
                  </a:ext>
                </a:extLst>
              </a:tr>
            </a:tbl>
          </a:graphicData>
        </a:graphic>
      </p:graphicFrame>
      <p:pic>
        <p:nvPicPr>
          <p:cNvPr id="8" name="Picture 7">
            <a:extLst>
              <a:ext uri="{FF2B5EF4-FFF2-40B4-BE49-F238E27FC236}">
                <a16:creationId xmlns:a16="http://schemas.microsoft.com/office/drawing/2014/main" id="{521574BC-C85D-7BF1-F8E6-E4C33B61E338}"/>
              </a:ext>
            </a:extLst>
          </p:cNvPr>
          <p:cNvPicPr>
            <a:picLocks noChangeAspect="1"/>
          </p:cNvPicPr>
          <p:nvPr/>
        </p:nvPicPr>
        <p:blipFill>
          <a:blip r:embed="rId3"/>
          <a:stretch>
            <a:fillRect/>
          </a:stretch>
        </p:blipFill>
        <p:spPr>
          <a:xfrm>
            <a:off x="5793446" y="3371096"/>
            <a:ext cx="2691162" cy="1443087"/>
          </a:xfrm>
          <a:prstGeom prst="rect">
            <a:avLst/>
          </a:prstGeom>
        </p:spPr>
      </p:pic>
    </p:spTree>
    <p:extLst>
      <p:ext uri="{BB962C8B-B14F-4D97-AF65-F5344CB8AC3E}">
        <p14:creationId xmlns:p14="http://schemas.microsoft.com/office/powerpoint/2010/main" val="3343361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2DECD12-9D67-439E-9025-8873FE34907F}"/>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Maximum Flight Time and Losses </a:t>
            </a:r>
            <a:endParaRPr lang="en-IN" sz="2800" u="sng" dirty="0"/>
          </a:p>
        </p:txBody>
      </p:sp>
      <p:pic>
        <p:nvPicPr>
          <p:cNvPr id="6" name="Picture 5">
            <a:extLst>
              <a:ext uri="{FF2B5EF4-FFF2-40B4-BE49-F238E27FC236}">
                <a16:creationId xmlns:a16="http://schemas.microsoft.com/office/drawing/2014/main" id="{E588E824-BED9-F9EE-4508-EE30650390F9}"/>
              </a:ext>
            </a:extLst>
          </p:cNvPr>
          <p:cNvPicPr>
            <a:picLocks noChangeAspect="1"/>
          </p:cNvPicPr>
          <p:nvPr/>
        </p:nvPicPr>
        <p:blipFill>
          <a:blip r:embed="rId2"/>
          <a:stretch>
            <a:fillRect/>
          </a:stretch>
        </p:blipFill>
        <p:spPr>
          <a:xfrm>
            <a:off x="6430537" y="1555595"/>
            <a:ext cx="2535045" cy="2189358"/>
          </a:xfrm>
          <a:prstGeom prst="rect">
            <a:avLst/>
          </a:prstGeom>
        </p:spPr>
      </p:pic>
      <p:pic>
        <p:nvPicPr>
          <p:cNvPr id="8" name="Picture 7">
            <a:extLst>
              <a:ext uri="{FF2B5EF4-FFF2-40B4-BE49-F238E27FC236}">
                <a16:creationId xmlns:a16="http://schemas.microsoft.com/office/drawing/2014/main" id="{DBAB64D4-668B-01BE-6EA4-DEB4C4583594}"/>
              </a:ext>
            </a:extLst>
          </p:cNvPr>
          <p:cNvPicPr>
            <a:picLocks noChangeAspect="1"/>
          </p:cNvPicPr>
          <p:nvPr/>
        </p:nvPicPr>
        <p:blipFill>
          <a:blip r:embed="rId3"/>
          <a:stretch>
            <a:fillRect/>
          </a:stretch>
        </p:blipFill>
        <p:spPr>
          <a:xfrm>
            <a:off x="6117197" y="3761890"/>
            <a:ext cx="3056961" cy="1293330"/>
          </a:xfrm>
          <a:prstGeom prst="rect">
            <a:avLst/>
          </a:prstGeom>
        </p:spPr>
      </p:pic>
      <p:graphicFrame>
        <p:nvGraphicFramePr>
          <p:cNvPr id="11" name="Table 10">
            <a:extLst>
              <a:ext uri="{FF2B5EF4-FFF2-40B4-BE49-F238E27FC236}">
                <a16:creationId xmlns:a16="http://schemas.microsoft.com/office/drawing/2014/main" id="{4E990BEC-D628-E50B-BFF7-E037DFC6CA56}"/>
              </a:ext>
            </a:extLst>
          </p:cNvPr>
          <p:cNvGraphicFramePr>
            <a:graphicFrameLocks noGrp="1"/>
          </p:cNvGraphicFramePr>
          <p:nvPr>
            <p:extLst>
              <p:ext uri="{D42A27DB-BD31-4B8C-83A1-F6EECF244321}">
                <p14:modId xmlns:p14="http://schemas.microsoft.com/office/powerpoint/2010/main" val="2448273406"/>
              </p:ext>
            </p:extLst>
          </p:nvPr>
        </p:nvGraphicFramePr>
        <p:xfrm>
          <a:off x="178418" y="2060838"/>
          <a:ext cx="4244899" cy="2489200"/>
        </p:xfrm>
        <a:graphic>
          <a:graphicData uri="http://schemas.openxmlformats.org/drawingml/2006/table">
            <a:tbl>
              <a:tblPr firstRow="1" bandRow="1">
                <a:tableStyleId>{5940675A-B579-460E-94D1-54222C63F5DA}</a:tableStyleId>
              </a:tblPr>
              <a:tblGrid>
                <a:gridCol w="617035">
                  <a:extLst>
                    <a:ext uri="{9D8B030D-6E8A-4147-A177-3AD203B41FA5}">
                      <a16:colId xmlns:a16="http://schemas.microsoft.com/office/drawing/2014/main" val="707064683"/>
                    </a:ext>
                  </a:extLst>
                </a:gridCol>
                <a:gridCol w="1895708">
                  <a:extLst>
                    <a:ext uri="{9D8B030D-6E8A-4147-A177-3AD203B41FA5}">
                      <a16:colId xmlns:a16="http://schemas.microsoft.com/office/drawing/2014/main" val="2784200866"/>
                    </a:ext>
                  </a:extLst>
                </a:gridCol>
                <a:gridCol w="1732156">
                  <a:extLst>
                    <a:ext uri="{9D8B030D-6E8A-4147-A177-3AD203B41FA5}">
                      <a16:colId xmlns:a16="http://schemas.microsoft.com/office/drawing/2014/main" val="422688001"/>
                    </a:ext>
                  </a:extLst>
                </a:gridCol>
              </a:tblGrid>
              <a:tr h="370840">
                <a:tc>
                  <a:txBody>
                    <a:bodyPr/>
                    <a:lstStyle/>
                    <a:p>
                      <a:r>
                        <a:rPr lang="en-US" sz="1100" dirty="0"/>
                        <a:t>Arch</a:t>
                      </a:r>
                      <a:endParaRPr lang="en-IN" sz="1100" dirty="0"/>
                    </a:p>
                  </a:txBody>
                  <a:tcPr/>
                </a:tc>
                <a:tc>
                  <a:txBody>
                    <a:bodyPr/>
                    <a:lstStyle/>
                    <a:p>
                      <a:r>
                        <a:rPr lang="en-US" sz="1100" dirty="0"/>
                        <a:t>Flight Time (at 3kWh)</a:t>
                      </a:r>
                      <a:endParaRPr lang="en-IN" sz="1100" dirty="0"/>
                    </a:p>
                  </a:txBody>
                  <a:tcPr/>
                </a:tc>
                <a:tc>
                  <a:txBody>
                    <a:bodyPr/>
                    <a:lstStyle/>
                    <a:p>
                      <a:r>
                        <a:rPr lang="en-US" sz="1100" dirty="0"/>
                        <a:t>Power Losses</a:t>
                      </a:r>
                      <a:endParaRPr lang="en-IN" sz="1100" dirty="0"/>
                    </a:p>
                  </a:txBody>
                  <a:tcPr/>
                </a:tc>
                <a:extLst>
                  <a:ext uri="{0D108BD9-81ED-4DB2-BD59-A6C34878D82A}">
                    <a16:rowId xmlns:a16="http://schemas.microsoft.com/office/drawing/2014/main" val="3301963728"/>
                  </a:ext>
                </a:extLst>
              </a:tr>
              <a:tr h="370840">
                <a:tc>
                  <a:txBody>
                    <a:bodyPr/>
                    <a:lstStyle/>
                    <a:p>
                      <a:r>
                        <a:rPr lang="en-US" sz="1100" dirty="0"/>
                        <a:t>1</a:t>
                      </a:r>
                      <a:endParaRPr lang="en-IN" sz="1100" dirty="0"/>
                    </a:p>
                  </a:txBody>
                  <a:tcPr/>
                </a:tc>
                <a:tc>
                  <a:txBody>
                    <a:bodyPr/>
                    <a:lstStyle/>
                    <a:p>
                      <a:r>
                        <a:rPr lang="en-US" sz="1100" dirty="0"/>
                        <a:t>25.5 min, suffers from converter losses, better than 3 but worse than 2 for short flights. </a:t>
                      </a:r>
                      <a:endParaRPr lang="en-IN" sz="1100" dirty="0"/>
                    </a:p>
                  </a:txBody>
                  <a:tcPr anchor="ctr"/>
                </a:tc>
                <a:tc>
                  <a:txBody>
                    <a:bodyPr/>
                    <a:lstStyle/>
                    <a:p>
                      <a:r>
                        <a:rPr lang="en-US" sz="1100" b="0" dirty="0">
                          <a:highlight>
                            <a:srgbClr val="FFFF00"/>
                          </a:highlight>
                        </a:rPr>
                        <a:t>Moderate power losses, higher than Arch. 2 due to boost conversion losses</a:t>
                      </a:r>
                      <a:endParaRPr lang="en-IN" sz="1100" b="0" dirty="0">
                        <a:highlight>
                          <a:srgbClr val="FFFF00"/>
                        </a:highlight>
                      </a:endParaRPr>
                    </a:p>
                  </a:txBody>
                  <a:tcPr/>
                </a:tc>
                <a:extLst>
                  <a:ext uri="{0D108BD9-81ED-4DB2-BD59-A6C34878D82A}">
                    <a16:rowId xmlns:a16="http://schemas.microsoft.com/office/drawing/2014/main" val="4063188645"/>
                  </a:ext>
                </a:extLst>
              </a:tr>
              <a:tr h="370840">
                <a:tc>
                  <a:txBody>
                    <a:bodyPr/>
                    <a:lstStyle/>
                    <a:p>
                      <a:r>
                        <a:rPr lang="en-US" sz="1100" dirty="0"/>
                        <a:t>2</a:t>
                      </a:r>
                      <a:endParaRPr lang="en-IN" sz="1100" dirty="0"/>
                    </a:p>
                  </a:txBody>
                  <a:tcPr/>
                </a:tc>
                <a:tc>
                  <a:txBody>
                    <a:bodyPr/>
                    <a:lstStyle/>
                    <a:p>
                      <a:r>
                        <a:rPr lang="en-US" sz="1100" dirty="0"/>
                        <a:t>30 min, balances endurance and efficiency.</a:t>
                      </a:r>
                      <a:endParaRPr lang="en-IN" sz="1100" dirty="0"/>
                    </a:p>
                  </a:txBody>
                  <a:tcPr/>
                </a:tc>
                <a:tc>
                  <a:txBody>
                    <a:bodyPr/>
                    <a:lstStyle/>
                    <a:p>
                      <a:r>
                        <a:rPr lang="en-US" sz="1100" dirty="0">
                          <a:highlight>
                            <a:srgbClr val="00FF00"/>
                          </a:highlight>
                        </a:rPr>
                        <a:t>Lowest power losses over the entire mission profile</a:t>
                      </a:r>
                      <a:endParaRPr lang="en-IN" sz="1100" dirty="0">
                        <a:highlight>
                          <a:srgbClr val="00FF00"/>
                        </a:highlight>
                      </a:endParaRPr>
                    </a:p>
                  </a:txBody>
                  <a:tcPr/>
                </a:tc>
                <a:extLst>
                  <a:ext uri="{0D108BD9-81ED-4DB2-BD59-A6C34878D82A}">
                    <a16:rowId xmlns:a16="http://schemas.microsoft.com/office/drawing/2014/main" val="1193011726"/>
                  </a:ext>
                </a:extLst>
              </a:tr>
              <a:tr h="370840">
                <a:tc>
                  <a:txBody>
                    <a:bodyPr/>
                    <a:lstStyle/>
                    <a:p>
                      <a:r>
                        <a:rPr lang="en-US" sz="1100" dirty="0"/>
                        <a:t>3</a:t>
                      </a:r>
                      <a:endParaRPr lang="en-IN" sz="1100" dirty="0"/>
                    </a:p>
                  </a:txBody>
                  <a:tcPr/>
                </a:tc>
                <a:tc>
                  <a:txBody>
                    <a:bodyPr/>
                    <a:lstStyle/>
                    <a:p>
                      <a:r>
                        <a:rPr lang="en-US" sz="1100" dirty="0"/>
                        <a:t>32 min at 2.7kWh, but has a higher energy consumption.</a:t>
                      </a:r>
                      <a:endParaRPr lang="en-IN" sz="1100" dirty="0"/>
                    </a:p>
                  </a:txBody>
                  <a:tcPr/>
                </a:tc>
                <a:tc>
                  <a:txBody>
                    <a:bodyPr/>
                    <a:lstStyle/>
                    <a:p>
                      <a:r>
                        <a:rPr lang="en-US" sz="1100" b="0" dirty="0">
                          <a:highlight>
                            <a:srgbClr val="FF0000"/>
                          </a:highlight>
                        </a:rPr>
                        <a:t>Highest power losses, especially during cruise and ascent due to fuel cell inefficiencies and charging losses</a:t>
                      </a:r>
                      <a:endParaRPr lang="en-IN" sz="1100" b="0" dirty="0">
                        <a:highlight>
                          <a:srgbClr val="FF0000"/>
                        </a:highlight>
                      </a:endParaRPr>
                    </a:p>
                  </a:txBody>
                  <a:tcPr/>
                </a:tc>
                <a:extLst>
                  <a:ext uri="{0D108BD9-81ED-4DB2-BD59-A6C34878D82A}">
                    <a16:rowId xmlns:a16="http://schemas.microsoft.com/office/drawing/2014/main" val="4117043792"/>
                  </a:ext>
                </a:extLst>
              </a:tr>
            </a:tbl>
          </a:graphicData>
        </a:graphic>
      </p:graphicFrame>
      <p:pic>
        <p:nvPicPr>
          <p:cNvPr id="13" name="Picture 12">
            <a:extLst>
              <a:ext uri="{FF2B5EF4-FFF2-40B4-BE49-F238E27FC236}">
                <a16:creationId xmlns:a16="http://schemas.microsoft.com/office/drawing/2014/main" id="{707F6809-57F8-72D0-B3A7-2872DA4D2311}"/>
              </a:ext>
            </a:extLst>
          </p:cNvPr>
          <p:cNvPicPr>
            <a:picLocks noChangeAspect="1"/>
          </p:cNvPicPr>
          <p:nvPr/>
        </p:nvPicPr>
        <p:blipFill>
          <a:blip r:embed="rId4"/>
          <a:stretch>
            <a:fillRect/>
          </a:stretch>
        </p:blipFill>
        <p:spPr>
          <a:xfrm>
            <a:off x="4937037" y="2571750"/>
            <a:ext cx="1616051" cy="527824"/>
          </a:xfrm>
          <a:prstGeom prst="rect">
            <a:avLst/>
          </a:prstGeom>
        </p:spPr>
      </p:pic>
      <p:sp>
        <p:nvSpPr>
          <p:cNvPr id="2" name="Arrow: Right 1">
            <a:extLst>
              <a:ext uri="{FF2B5EF4-FFF2-40B4-BE49-F238E27FC236}">
                <a16:creationId xmlns:a16="http://schemas.microsoft.com/office/drawing/2014/main" id="{2CC780E4-5D52-37B1-6F28-026961D07587}"/>
              </a:ext>
            </a:extLst>
          </p:cNvPr>
          <p:cNvSpPr/>
          <p:nvPr/>
        </p:nvSpPr>
        <p:spPr>
          <a:xfrm rot="16200000">
            <a:off x="4905278" y="3470815"/>
            <a:ext cx="1237673" cy="46881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93DB451-E5DD-41C9-093F-BE95711B0CC9}"/>
              </a:ext>
            </a:extLst>
          </p:cNvPr>
          <p:cNvSpPr txBox="1"/>
          <p:nvPr/>
        </p:nvSpPr>
        <p:spPr>
          <a:xfrm>
            <a:off x="4879179" y="4408555"/>
            <a:ext cx="1238018" cy="415498"/>
          </a:xfrm>
          <a:prstGeom prst="rect">
            <a:avLst/>
          </a:prstGeom>
          <a:noFill/>
        </p:spPr>
        <p:txBody>
          <a:bodyPr wrap="square" rtlCol="0">
            <a:spAutoFit/>
          </a:bodyPr>
          <a:lstStyle/>
          <a:p>
            <a:r>
              <a:rPr lang="en-US" sz="1050" dirty="0">
                <a:solidFill>
                  <a:srgbClr val="FF0000"/>
                </a:solidFill>
              </a:rPr>
              <a:t>What are these constants?</a:t>
            </a:r>
            <a:endParaRPr lang="en-IN" sz="1050" dirty="0">
              <a:solidFill>
                <a:srgbClr val="FF0000"/>
              </a:solidFill>
            </a:endParaRPr>
          </a:p>
        </p:txBody>
      </p:sp>
    </p:spTree>
    <p:extLst>
      <p:ext uri="{BB962C8B-B14F-4D97-AF65-F5344CB8AC3E}">
        <p14:creationId xmlns:p14="http://schemas.microsoft.com/office/powerpoint/2010/main" val="999062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C7EC-9E9F-AF54-61D2-9DBD6FFFB544}"/>
              </a:ext>
            </a:extLst>
          </p:cNvPr>
          <p:cNvSpPr txBox="1">
            <a:spLocks/>
          </p:cNvSpPr>
          <p:nvPr/>
        </p:nvSpPr>
        <p:spPr>
          <a:xfrm>
            <a:off x="0" y="460917"/>
            <a:ext cx="9144000" cy="1015458"/>
          </a:xfrm>
          <a:prstGeom prst="rect">
            <a:avLst/>
          </a:prstGeom>
        </p:spPr>
        <p:txBody>
          <a:bodyPr/>
          <a:lst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a:lstStyle>
          <a:p>
            <a:r>
              <a:rPr lang="en-US" sz="2800" u="sng" dirty="0"/>
              <a:t>Analysis and Modeling of UAV Power System Architectures – Scope of Improvement</a:t>
            </a:r>
            <a:endParaRPr lang="en-IN" sz="2800" u="sng" dirty="0"/>
          </a:p>
        </p:txBody>
      </p:sp>
      <p:sp>
        <p:nvSpPr>
          <p:cNvPr id="3" name="TextBox 2">
            <a:extLst>
              <a:ext uri="{FF2B5EF4-FFF2-40B4-BE49-F238E27FC236}">
                <a16:creationId xmlns:a16="http://schemas.microsoft.com/office/drawing/2014/main" id="{A28CBA6D-94DC-6CFD-89A9-C33C37908FDD}"/>
              </a:ext>
            </a:extLst>
          </p:cNvPr>
          <p:cNvSpPr txBox="1"/>
          <p:nvPr/>
        </p:nvSpPr>
        <p:spPr>
          <a:xfrm>
            <a:off x="0" y="1650380"/>
            <a:ext cx="9025054" cy="3046988"/>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DC bus voltage optimization can be improved by using a universal step-up/step-down converter to enhance efficiency while maintaining the required power levels for VTOL UAV applications. </a:t>
            </a:r>
          </a:p>
          <a:p>
            <a:endParaRPr lang="en-US" sz="1200" dirty="0"/>
          </a:p>
          <a:p>
            <a:pPr marL="171450" indent="-171450">
              <a:buFont typeface="Arial" panose="020B0604020202020204" pitchFamily="34" charset="0"/>
              <a:buChar char="•"/>
            </a:pPr>
            <a:r>
              <a:rPr lang="en-US" sz="1200" dirty="0"/>
              <a:t>The accuracy of MOSFET switching energy calculations can be improved by experimentally measuring turn-on and turn-off energies instead of relying on approximate gate capacitance values. </a:t>
            </a:r>
          </a:p>
          <a:p>
            <a:endParaRPr lang="en-US" sz="1200" dirty="0"/>
          </a:p>
          <a:p>
            <a:pPr marL="171450" indent="-171450">
              <a:buFont typeface="Arial" panose="020B0604020202020204" pitchFamily="34" charset="0"/>
              <a:buChar char="•"/>
            </a:pPr>
            <a:r>
              <a:rPr lang="en-US" sz="1200" dirty="0"/>
              <a:t>The battery model can be refined by using logarithmic-polynomial interpolation rather than high-discharge rate battery pack data to enhance accuracy. </a:t>
            </a:r>
            <a:r>
              <a:rPr lang="en-US" sz="1200" dirty="0">
                <a:solidFill>
                  <a:srgbClr val="FF0000"/>
                </a:solidFill>
              </a:rPr>
              <a:t>(Need to study battery modelling in more detail)</a:t>
            </a:r>
          </a:p>
          <a:p>
            <a:endParaRPr lang="en-US" sz="1200" dirty="0"/>
          </a:p>
          <a:p>
            <a:pPr marL="171450" indent="-171450">
              <a:buFont typeface="Arial" panose="020B0604020202020204" pitchFamily="34" charset="0"/>
              <a:buChar char="•"/>
            </a:pPr>
            <a:r>
              <a:rPr lang="en-US" sz="1200" dirty="0"/>
              <a:t>The fuel cell mass considerations can be improved by using UAV-specific fuel cell stack data into the simulations. </a:t>
            </a:r>
          </a:p>
          <a:p>
            <a:endParaRPr lang="en-US" sz="1200" dirty="0"/>
          </a:p>
          <a:p>
            <a:pPr marL="171450" indent="-171450">
              <a:buFont typeface="Arial" panose="020B0604020202020204" pitchFamily="34" charset="0"/>
              <a:buChar char="•"/>
            </a:pPr>
            <a:r>
              <a:rPr lang="en-US" sz="1200" dirty="0"/>
              <a:t>Loss reduction in the DC-DC converter can be achieved by optimizing the power system architecture to minimize additional thrust requirements and output power losses. </a:t>
            </a:r>
          </a:p>
          <a:p>
            <a:endParaRPr lang="en-US" sz="1200" dirty="0"/>
          </a:p>
          <a:p>
            <a:pPr marL="171450" indent="-171450">
              <a:buFont typeface="Arial" panose="020B0604020202020204" pitchFamily="34" charset="0"/>
              <a:buChar char="•"/>
            </a:pPr>
            <a:r>
              <a:rPr lang="en-US" sz="1200" dirty="0"/>
              <a:t>Simulation accuracy can be further enhanced by using improved parameter estimation methods and experimental validation for better system modeling.</a:t>
            </a:r>
            <a:endParaRPr lang="en-IN" sz="1200" dirty="0"/>
          </a:p>
        </p:txBody>
      </p:sp>
    </p:spTree>
    <p:extLst>
      <p:ext uri="{BB962C8B-B14F-4D97-AF65-F5344CB8AC3E}">
        <p14:creationId xmlns:p14="http://schemas.microsoft.com/office/powerpoint/2010/main" val="168553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891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8320-95B9-07EF-74D5-339260E814C9}"/>
              </a:ext>
            </a:extLst>
          </p:cNvPr>
          <p:cNvSpPr>
            <a:spLocks noGrp="1"/>
          </p:cNvSpPr>
          <p:nvPr>
            <p:ph type="title"/>
          </p:nvPr>
        </p:nvSpPr>
        <p:spPr>
          <a:xfrm>
            <a:off x="0" y="675085"/>
            <a:ext cx="9144000" cy="801290"/>
          </a:xfrm>
        </p:spPr>
        <p:txBody>
          <a:bodyPr/>
          <a:lstStyle/>
          <a:p>
            <a:r>
              <a:rPr lang="en-IN" sz="2800" u="sng" dirty="0"/>
              <a:t>Mathematical model of a proton-exchange membrane (PEM) fuel cell</a:t>
            </a:r>
          </a:p>
        </p:txBody>
      </p:sp>
      <p:sp>
        <p:nvSpPr>
          <p:cNvPr id="3" name="Content Placeholder 2">
            <a:extLst>
              <a:ext uri="{FF2B5EF4-FFF2-40B4-BE49-F238E27FC236}">
                <a16:creationId xmlns:a16="http://schemas.microsoft.com/office/drawing/2014/main" id="{E82FCA6B-6F3B-F0A7-BAB8-57C456CCDBC9}"/>
              </a:ext>
            </a:extLst>
          </p:cNvPr>
          <p:cNvSpPr>
            <a:spLocks noGrp="1"/>
          </p:cNvSpPr>
          <p:nvPr>
            <p:ph idx="1"/>
          </p:nvPr>
        </p:nvSpPr>
        <p:spPr>
          <a:xfrm>
            <a:off x="0" y="1671782"/>
            <a:ext cx="9144000" cy="3471718"/>
          </a:xfrm>
        </p:spPr>
        <p:txBody>
          <a:bodyPr/>
          <a:lstStyle/>
          <a:p>
            <a:r>
              <a:rPr lang="en-US" sz="1800" b="1" u="sng" dirty="0"/>
              <a:t>Introduction: </a:t>
            </a:r>
          </a:p>
          <a:p>
            <a:pPr>
              <a:buFont typeface="Wingdings" panose="05000000000000000000" pitchFamily="2" charset="2"/>
              <a:buChar char="Ø"/>
            </a:pPr>
            <a:r>
              <a:rPr lang="en-US" sz="1400" dirty="0"/>
              <a:t>Proton Exchange Membrane Fuel Cells (PEMFCs) offer a promising clean energy solution for transportation by replacing traditional fossil fuels.</a:t>
            </a:r>
          </a:p>
          <a:p>
            <a:pPr>
              <a:buFont typeface="Wingdings" panose="05000000000000000000" pitchFamily="2" charset="2"/>
              <a:buChar char="Ø"/>
            </a:pPr>
            <a:r>
              <a:rPr lang="en-US" sz="1400" dirty="0"/>
              <a:t>This paper develops a detailed Simulink model of a PEMFC integrated with a variable load for comprehensive analysis.</a:t>
            </a:r>
          </a:p>
          <a:p>
            <a:pPr>
              <a:buFont typeface="Wingdings" panose="05000000000000000000" pitchFamily="2" charset="2"/>
              <a:buChar char="Ø"/>
            </a:pPr>
            <a:r>
              <a:rPr lang="en-US" sz="1400" dirty="0"/>
              <a:t>Mathematical modeling is crucial for understanding complex PEMFC dynamics and optimizing their performance and design.</a:t>
            </a:r>
          </a:p>
          <a:p>
            <a:pPr>
              <a:buFont typeface="Wingdings" panose="05000000000000000000" pitchFamily="2" charset="2"/>
              <a:buChar char="Ø"/>
            </a:pPr>
            <a:r>
              <a:rPr lang="en-US" sz="1400" dirty="0"/>
              <a:t>The developed PEMFC model is validated against experimental data and used to analyze both steady-state and dynamic behavior under various operating conditions.</a:t>
            </a:r>
          </a:p>
          <a:p>
            <a:pPr>
              <a:buFont typeface="Wingdings" panose="05000000000000000000" pitchFamily="2" charset="2"/>
              <a:buChar char="Ø"/>
            </a:pPr>
            <a:endParaRPr lang="en-IN" sz="1200" dirty="0"/>
          </a:p>
        </p:txBody>
      </p:sp>
    </p:spTree>
    <p:extLst>
      <p:ext uri="{BB962C8B-B14F-4D97-AF65-F5344CB8AC3E}">
        <p14:creationId xmlns:p14="http://schemas.microsoft.com/office/powerpoint/2010/main" val="2815988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0E756-FFB5-8FCF-BEF1-43A8D6F06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4A0A1-D4C5-3A9F-7525-F0F1E67CAB35}"/>
              </a:ext>
            </a:extLst>
          </p:cNvPr>
          <p:cNvSpPr>
            <a:spLocks noGrp="1"/>
          </p:cNvSpPr>
          <p:nvPr>
            <p:ph type="title"/>
          </p:nvPr>
        </p:nvSpPr>
        <p:spPr>
          <a:xfrm>
            <a:off x="0" y="481276"/>
            <a:ext cx="9144000" cy="801290"/>
          </a:xfrm>
        </p:spPr>
        <p:txBody>
          <a:bodyPr/>
          <a:lstStyle/>
          <a:p>
            <a:r>
              <a:rPr lang="en-IN" sz="2800" u="sng" dirty="0"/>
              <a:t>Mathematical Model of a Proton-Exchange Membrane (PEM) Fuel Cell</a:t>
            </a:r>
          </a:p>
        </p:txBody>
      </p:sp>
      <p:pic>
        <p:nvPicPr>
          <p:cNvPr id="9" name="Picture 8">
            <a:extLst>
              <a:ext uri="{FF2B5EF4-FFF2-40B4-BE49-F238E27FC236}">
                <a16:creationId xmlns:a16="http://schemas.microsoft.com/office/drawing/2014/main" id="{EB2353BF-932C-2AD6-77E7-7373B6529E2E}"/>
              </a:ext>
            </a:extLst>
          </p:cNvPr>
          <p:cNvPicPr>
            <a:picLocks noChangeAspect="1"/>
          </p:cNvPicPr>
          <p:nvPr/>
        </p:nvPicPr>
        <p:blipFill>
          <a:blip r:embed="rId2"/>
          <a:stretch>
            <a:fillRect/>
          </a:stretch>
        </p:blipFill>
        <p:spPr>
          <a:xfrm>
            <a:off x="4859508" y="1581692"/>
            <a:ext cx="4204481" cy="2760518"/>
          </a:xfrm>
          <a:prstGeom prst="rect">
            <a:avLst/>
          </a:prstGeom>
        </p:spPr>
      </p:pic>
      <p:sp>
        <p:nvSpPr>
          <p:cNvPr id="10" name="TextBox 9">
            <a:extLst>
              <a:ext uri="{FF2B5EF4-FFF2-40B4-BE49-F238E27FC236}">
                <a16:creationId xmlns:a16="http://schemas.microsoft.com/office/drawing/2014/main" id="{46112E3A-F84D-EEA3-2662-FD676C4F1532}"/>
              </a:ext>
            </a:extLst>
          </p:cNvPr>
          <p:cNvSpPr txBox="1"/>
          <p:nvPr/>
        </p:nvSpPr>
        <p:spPr>
          <a:xfrm>
            <a:off x="249382" y="1810327"/>
            <a:ext cx="4610126" cy="3231654"/>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a:t>
            </a:r>
            <a:r>
              <a:rPr lang="en-US" sz="1200" b="1" dirty="0"/>
              <a:t>PEMFC model </a:t>
            </a:r>
            <a:r>
              <a:rPr lang="en-US" sz="1200" dirty="0"/>
              <a:t>is developed in </a:t>
            </a:r>
            <a:r>
              <a:rPr lang="en-US" sz="1200" b="1" dirty="0"/>
              <a:t>MATLAB/Simulink </a:t>
            </a:r>
            <a:r>
              <a:rPr lang="en-US" sz="1200" dirty="0"/>
              <a:t>and validated using data from the </a:t>
            </a:r>
            <a:r>
              <a:rPr lang="en-US" sz="1200" b="1" dirty="0"/>
              <a:t>Horizon H-500XP fuel cell stack</a:t>
            </a:r>
            <a:r>
              <a:rPr lang="en-US" sz="1200" dirty="0"/>
              <a:t>, which includes a 500W stack, a 12V startup battery, and super-capacitors.</a:t>
            </a:r>
          </a:p>
          <a:p>
            <a:pPr marL="171450" indent="-171450">
              <a:buFont typeface="Arial" panose="020B0604020202020204" pitchFamily="34" charset="0"/>
              <a:buChar char="•"/>
            </a:pPr>
            <a:r>
              <a:rPr lang="en-US" sz="1200" dirty="0"/>
              <a:t>The </a:t>
            </a:r>
            <a:r>
              <a:rPr lang="en-US" sz="1200" b="1" dirty="0"/>
              <a:t>model simulates the electrochemical process</a:t>
            </a:r>
            <a:r>
              <a:rPr lang="en-US" sz="1200" dirty="0"/>
              <a:t>, where hydrogen reacts with oxygen to generate power, with open-circuit voltage calculated using the Nernst equation under steady-state, isothermal conditions.</a:t>
            </a:r>
          </a:p>
          <a:p>
            <a:pPr marL="171450" indent="-171450">
              <a:buFont typeface="Arial" panose="020B0604020202020204" pitchFamily="34" charset="0"/>
              <a:buChar char="•"/>
            </a:pPr>
            <a:r>
              <a:rPr lang="en-US" sz="1200" dirty="0"/>
              <a:t>Generated power is regulated by a </a:t>
            </a:r>
            <a:r>
              <a:rPr lang="en-US" sz="1200" b="1" dirty="0"/>
              <a:t>48V DC-DC boost converter </a:t>
            </a:r>
            <a:r>
              <a:rPr lang="en-US" sz="1200" dirty="0"/>
              <a:t>with PI-PWM control and is dissipated through a variable resistive load, ensuring stable operation.</a:t>
            </a:r>
          </a:p>
          <a:p>
            <a:pPr marL="171450" indent="-171450">
              <a:buFont typeface="Arial" panose="020B0604020202020204" pitchFamily="34" charset="0"/>
              <a:buChar char="•"/>
            </a:pPr>
            <a:r>
              <a:rPr lang="en-US" sz="1200" dirty="0"/>
              <a:t>Auxiliary power consumption is accounted for, including a controlled current source that simulates fan power variations from 36.5W at 23 C to 52W at 65 C, with constant reactant partial pressures and membrane humidity assumed.</a:t>
            </a:r>
          </a:p>
          <a:p>
            <a:pPr marL="171450" indent="-171450">
              <a:buFont typeface="Arial" panose="020B0604020202020204" pitchFamily="34" charset="0"/>
              <a:buChar char="•"/>
            </a:pPr>
            <a:r>
              <a:rPr lang="en-US" sz="1200" dirty="0"/>
              <a:t>When a </a:t>
            </a:r>
            <a:r>
              <a:rPr lang="en-US" sz="1200" b="1" dirty="0"/>
              <a:t>load is applied</a:t>
            </a:r>
            <a:r>
              <a:rPr lang="en-US" sz="1200" dirty="0"/>
              <a:t>, external </a:t>
            </a:r>
            <a:r>
              <a:rPr lang="en-US" sz="1200" b="1" dirty="0"/>
              <a:t>current flows, causing a voltage drop,</a:t>
            </a:r>
            <a:r>
              <a:rPr lang="en-US" sz="1200" dirty="0"/>
              <a:t> while some hydrogen diffusion leads to current loss, meaning only the external current is delivered to the load.</a:t>
            </a:r>
            <a:endParaRPr lang="en-IN" sz="1200" dirty="0"/>
          </a:p>
        </p:txBody>
      </p:sp>
      <p:pic>
        <p:nvPicPr>
          <p:cNvPr id="6147" name="Picture 3" descr="Steady State Royalty-Free Images, Stock Photos &amp; Pictures ...">
            <a:extLst>
              <a:ext uri="{FF2B5EF4-FFF2-40B4-BE49-F238E27FC236}">
                <a16:creationId xmlns:a16="http://schemas.microsoft.com/office/drawing/2014/main" id="{96CEA113-4ADA-B3F1-1F18-143872FC8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9210" y="1324051"/>
            <a:ext cx="894779" cy="515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593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90CF5-D429-A183-23C8-1B7899285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D68EB-0369-ACEB-8095-7DD157CD1F78}"/>
              </a:ext>
            </a:extLst>
          </p:cNvPr>
          <p:cNvSpPr>
            <a:spLocks noGrp="1"/>
          </p:cNvSpPr>
          <p:nvPr>
            <p:ph type="title"/>
          </p:nvPr>
        </p:nvSpPr>
        <p:spPr>
          <a:xfrm>
            <a:off x="0" y="462649"/>
            <a:ext cx="9144000" cy="801290"/>
          </a:xfrm>
        </p:spPr>
        <p:txBody>
          <a:bodyPr/>
          <a:lstStyle/>
          <a:p>
            <a:r>
              <a:rPr lang="en-IN" sz="2800" u="sng" dirty="0"/>
              <a:t>Mathematical Model of a Proton-Exchange Membrane (PEM) Fuel Cell – Analytical Equations</a:t>
            </a:r>
          </a:p>
        </p:txBody>
      </p:sp>
      <p:pic>
        <p:nvPicPr>
          <p:cNvPr id="7170" name="Picture 2" descr="C.6 The Nernst equation (HL)">
            <a:extLst>
              <a:ext uri="{FF2B5EF4-FFF2-40B4-BE49-F238E27FC236}">
                <a16:creationId xmlns:a16="http://schemas.microsoft.com/office/drawing/2014/main" id="{6D00209C-7342-3037-E56D-4F59F35E3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570" y="2464081"/>
            <a:ext cx="2337558" cy="131487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DB94972-8E02-7194-A8FC-B49817DDE762}"/>
              </a:ext>
            </a:extLst>
          </p:cNvPr>
          <p:cNvPicPr>
            <a:picLocks noChangeAspect="1"/>
          </p:cNvPicPr>
          <p:nvPr/>
        </p:nvPicPr>
        <p:blipFill>
          <a:blip r:embed="rId3"/>
          <a:stretch>
            <a:fillRect/>
          </a:stretch>
        </p:blipFill>
        <p:spPr>
          <a:xfrm>
            <a:off x="85973" y="1350477"/>
            <a:ext cx="1895740" cy="743054"/>
          </a:xfrm>
          <a:prstGeom prst="rect">
            <a:avLst/>
          </a:prstGeom>
        </p:spPr>
      </p:pic>
      <p:sp>
        <p:nvSpPr>
          <p:cNvPr id="5" name="TextBox 4">
            <a:extLst>
              <a:ext uri="{FF2B5EF4-FFF2-40B4-BE49-F238E27FC236}">
                <a16:creationId xmlns:a16="http://schemas.microsoft.com/office/drawing/2014/main" id="{7AA061D6-C6FB-B518-93FF-DFC4924A9640}"/>
              </a:ext>
            </a:extLst>
          </p:cNvPr>
          <p:cNvSpPr txBox="1"/>
          <p:nvPr/>
        </p:nvSpPr>
        <p:spPr>
          <a:xfrm>
            <a:off x="85973" y="1976582"/>
            <a:ext cx="1895740" cy="738664"/>
          </a:xfrm>
          <a:prstGeom prst="rect">
            <a:avLst/>
          </a:prstGeom>
          <a:noFill/>
        </p:spPr>
        <p:txBody>
          <a:bodyPr wrap="square" rtlCol="0">
            <a:spAutoFit/>
          </a:bodyPr>
          <a:lstStyle/>
          <a:p>
            <a:r>
              <a:rPr lang="en-US" sz="1050" dirty="0"/>
              <a:t>Standard OC-voltage given based on the variation of Gibbs energy w.r.t Faraday’s constant at 298.15 K and 1 bar pressure</a:t>
            </a:r>
            <a:endParaRPr lang="en-IN" sz="1050" dirty="0"/>
          </a:p>
        </p:txBody>
      </p:sp>
      <p:pic>
        <p:nvPicPr>
          <p:cNvPr id="7" name="Picture 6">
            <a:extLst>
              <a:ext uri="{FF2B5EF4-FFF2-40B4-BE49-F238E27FC236}">
                <a16:creationId xmlns:a16="http://schemas.microsoft.com/office/drawing/2014/main" id="{48CDE924-A1A8-429F-BAA5-77DC0BCEB03B}"/>
              </a:ext>
            </a:extLst>
          </p:cNvPr>
          <p:cNvPicPr>
            <a:picLocks noChangeAspect="1"/>
          </p:cNvPicPr>
          <p:nvPr/>
        </p:nvPicPr>
        <p:blipFill>
          <a:blip r:embed="rId4"/>
          <a:stretch>
            <a:fillRect/>
          </a:stretch>
        </p:blipFill>
        <p:spPr>
          <a:xfrm>
            <a:off x="4714021" y="1378312"/>
            <a:ext cx="4344006" cy="752580"/>
          </a:xfrm>
          <a:prstGeom prst="rect">
            <a:avLst/>
          </a:prstGeom>
        </p:spPr>
      </p:pic>
      <p:sp>
        <p:nvSpPr>
          <p:cNvPr id="8" name="TextBox 7">
            <a:extLst>
              <a:ext uri="{FF2B5EF4-FFF2-40B4-BE49-F238E27FC236}">
                <a16:creationId xmlns:a16="http://schemas.microsoft.com/office/drawing/2014/main" id="{3D27F964-EC07-1D9B-C4A6-C3883D379FDF}"/>
              </a:ext>
            </a:extLst>
          </p:cNvPr>
          <p:cNvSpPr txBox="1"/>
          <p:nvPr/>
        </p:nvSpPr>
        <p:spPr>
          <a:xfrm>
            <a:off x="4979309" y="2118008"/>
            <a:ext cx="3813429" cy="415498"/>
          </a:xfrm>
          <a:prstGeom prst="rect">
            <a:avLst/>
          </a:prstGeom>
          <a:noFill/>
        </p:spPr>
        <p:txBody>
          <a:bodyPr wrap="square" rtlCol="0">
            <a:spAutoFit/>
          </a:bodyPr>
          <a:lstStyle/>
          <a:p>
            <a:r>
              <a:rPr lang="en-US" sz="1050" u="sng" dirty="0"/>
              <a:t>Standard OC-voltage given evaluated under varying conditions </a:t>
            </a:r>
          </a:p>
          <a:p>
            <a:endParaRPr lang="en-IN" sz="1050" u="sng" dirty="0"/>
          </a:p>
        </p:txBody>
      </p:sp>
      <p:sp>
        <p:nvSpPr>
          <p:cNvPr id="11" name="TextBox 10">
            <a:extLst>
              <a:ext uri="{FF2B5EF4-FFF2-40B4-BE49-F238E27FC236}">
                <a16:creationId xmlns:a16="http://schemas.microsoft.com/office/drawing/2014/main" id="{D22AC0C7-A796-A6F5-158E-15B69ECD404A}"/>
              </a:ext>
            </a:extLst>
          </p:cNvPr>
          <p:cNvSpPr txBox="1"/>
          <p:nvPr/>
        </p:nvSpPr>
        <p:spPr>
          <a:xfrm>
            <a:off x="4979308" y="2464081"/>
            <a:ext cx="3813429" cy="1384995"/>
          </a:xfrm>
          <a:prstGeom prst="rect">
            <a:avLst/>
          </a:prstGeom>
          <a:noFill/>
        </p:spPr>
        <p:txBody>
          <a:bodyPr wrap="square" rtlCol="0">
            <a:spAutoFit/>
          </a:bodyPr>
          <a:lstStyle/>
          <a:p>
            <a:r>
              <a:rPr lang="en-US" sz="1050" dirty="0"/>
              <a:t>Where,</a:t>
            </a:r>
          </a:p>
          <a:p>
            <a:r>
              <a:rPr lang="en-IN" sz="1050" dirty="0"/>
              <a:t>R: Universal gas constant</a:t>
            </a:r>
          </a:p>
          <a:p>
            <a:r>
              <a:rPr lang="en-IN" sz="1050" dirty="0"/>
              <a:t>PH2 and PO2: Partial pressures of hydrogen and oxygen</a:t>
            </a:r>
          </a:p>
          <a:p>
            <a:r>
              <a:rPr lang="en-IN" sz="1050" dirty="0"/>
              <a:t>Ts: Stack temperature</a:t>
            </a:r>
          </a:p>
          <a:p>
            <a:r>
              <a:rPr lang="en-IN" sz="1050" dirty="0"/>
              <a:t>RT/2F: adjusting the reactant and product pressures</a:t>
            </a:r>
          </a:p>
          <a:p>
            <a:r>
              <a:rPr lang="en-IN" sz="1050" dirty="0">
                <a:solidFill>
                  <a:srgbClr val="FFC000"/>
                </a:solidFill>
              </a:rPr>
              <a:t>The term in orange is to adjust voltage variations due to entropy variations</a:t>
            </a:r>
          </a:p>
          <a:p>
            <a:endParaRPr lang="en-IN" sz="1050" dirty="0"/>
          </a:p>
        </p:txBody>
      </p:sp>
      <p:sp>
        <p:nvSpPr>
          <p:cNvPr id="12" name="Oval 11">
            <a:extLst>
              <a:ext uri="{FF2B5EF4-FFF2-40B4-BE49-F238E27FC236}">
                <a16:creationId xmlns:a16="http://schemas.microsoft.com/office/drawing/2014/main" id="{5FE9D2AE-8837-89FF-D04E-0668AE134C99}"/>
              </a:ext>
            </a:extLst>
          </p:cNvPr>
          <p:cNvSpPr/>
          <p:nvPr/>
        </p:nvSpPr>
        <p:spPr>
          <a:xfrm>
            <a:off x="7324436" y="1490287"/>
            <a:ext cx="1616364" cy="603244"/>
          </a:xfrm>
          <a:prstGeom prst="ellipse">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271A912-301B-E049-816C-D920FC2F18EB}"/>
                  </a:ext>
                </a:extLst>
              </p:cNvPr>
              <p:cNvSpPr txBox="1"/>
              <p:nvPr/>
            </p:nvSpPr>
            <p:spPr>
              <a:xfrm>
                <a:off x="85973" y="3341350"/>
                <a:ext cx="17606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solidFill>
                                <a:srgbClr val="836967"/>
                              </a:solidFill>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𝑡𝑜𝑡</m:t>
                          </m:r>
                        </m:sub>
                      </m:sSub>
                      <m:r>
                        <a:rPr lang="en-IN" i="0">
                          <a:latin typeface="Cambria Math" panose="02040503050406030204" pitchFamily="18" charset="0"/>
                        </a:rPr>
                        <m:t>=</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𝑒𝑥𝑡</m:t>
                          </m:r>
                        </m:sub>
                      </m:sSub>
                      <m:r>
                        <a:rPr lang="en-IN" i="0">
                          <a:latin typeface="Cambria Math" panose="02040503050406030204" pitchFamily="18" charset="0"/>
                        </a:rPr>
                        <m:t>+</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𝐿𝑜𝑠𝑠</m:t>
                          </m:r>
                        </m:sub>
                      </m:sSub>
                    </m:oMath>
                  </m:oMathPara>
                </a14:m>
                <a:endParaRPr lang="en-IN" dirty="0"/>
              </a:p>
            </p:txBody>
          </p:sp>
        </mc:Choice>
        <mc:Fallback xmlns="">
          <p:sp>
            <p:nvSpPr>
              <p:cNvPr id="13" name="TextBox 12">
                <a:extLst>
                  <a:ext uri="{FF2B5EF4-FFF2-40B4-BE49-F238E27FC236}">
                    <a16:creationId xmlns:a16="http://schemas.microsoft.com/office/drawing/2014/main" id="{C271A912-301B-E049-816C-D920FC2F18EB}"/>
                  </a:ext>
                </a:extLst>
              </p:cNvPr>
              <p:cNvSpPr txBox="1">
                <a:spLocks noRot="1" noChangeAspect="1" noMove="1" noResize="1" noEditPoints="1" noAdjustHandles="1" noChangeArrowheads="1" noChangeShapeType="1" noTextEdit="1"/>
              </p:cNvSpPr>
              <p:nvPr/>
            </p:nvSpPr>
            <p:spPr>
              <a:xfrm>
                <a:off x="85973" y="3341350"/>
                <a:ext cx="1760610" cy="276999"/>
              </a:xfrm>
              <a:prstGeom prst="rect">
                <a:avLst/>
              </a:prstGeom>
              <a:blipFill>
                <a:blip r:embed="rId5"/>
                <a:stretch>
                  <a:fillRect l="-2422" r="-1038" b="-15217"/>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006F9212-61C8-2EFE-2BF0-1CCBCA11130D}"/>
              </a:ext>
            </a:extLst>
          </p:cNvPr>
          <p:cNvSpPr txBox="1"/>
          <p:nvPr/>
        </p:nvSpPr>
        <p:spPr>
          <a:xfrm>
            <a:off x="85283" y="3875123"/>
            <a:ext cx="2460353" cy="1061829"/>
          </a:xfrm>
          <a:prstGeom prst="rect">
            <a:avLst/>
          </a:prstGeom>
          <a:noFill/>
        </p:spPr>
        <p:txBody>
          <a:bodyPr wrap="square" rtlCol="0">
            <a:spAutoFit/>
          </a:bodyPr>
          <a:lstStyle/>
          <a:p>
            <a:r>
              <a:rPr lang="en-US" sz="1050" dirty="0"/>
              <a:t>Upon application of an external load, I_ext causes a voltage drop, followed by the generation of a loss due to electrochemical reaction in the membrane, causing stray electrons to pass via. Membrane rather than the load. </a:t>
            </a:r>
            <a:endParaRPr lang="en-IN" sz="1050" dirty="0"/>
          </a:p>
        </p:txBody>
      </p:sp>
      <p:pic>
        <p:nvPicPr>
          <p:cNvPr id="16" name="Picture 15">
            <a:extLst>
              <a:ext uri="{FF2B5EF4-FFF2-40B4-BE49-F238E27FC236}">
                <a16:creationId xmlns:a16="http://schemas.microsoft.com/office/drawing/2014/main" id="{70E3AF3B-624F-DFCB-58B7-849E163B77DF}"/>
              </a:ext>
            </a:extLst>
          </p:cNvPr>
          <p:cNvPicPr>
            <a:picLocks noChangeAspect="1"/>
          </p:cNvPicPr>
          <p:nvPr/>
        </p:nvPicPr>
        <p:blipFill>
          <a:blip r:embed="rId6"/>
          <a:stretch>
            <a:fillRect/>
          </a:stretch>
        </p:blipFill>
        <p:spPr>
          <a:xfrm>
            <a:off x="4835995" y="3737045"/>
            <a:ext cx="3524742" cy="581106"/>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205A6E9-08CA-A0C0-8173-C825BDDC3B4A}"/>
                  </a:ext>
                </a:extLst>
              </p:cNvPr>
              <p:cNvSpPr txBox="1"/>
              <p:nvPr/>
            </p:nvSpPr>
            <p:spPr>
              <a:xfrm>
                <a:off x="4775868" y="4139659"/>
                <a:ext cx="3813429" cy="900246"/>
              </a:xfrm>
              <a:prstGeom prst="rect">
                <a:avLst/>
              </a:prstGeom>
              <a:noFill/>
            </p:spPr>
            <p:txBody>
              <a:bodyPr wrap="square" rtlCol="0">
                <a:spAutoFit/>
              </a:bodyPr>
              <a:lstStyle/>
              <a:p>
                <a:r>
                  <a:rPr lang="en-US" sz="1050" u="sng" dirty="0"/>
                  <a:t>Activation voltage losses representing the voltage required to keep the electrochemical reaction going on. </a:t>
                </a:r>
              </a:p>
              <a:p>
                <a:endParaRPr lang="en-US" sz="1050" u="sng" dirty="0"/>
              </a:p>
              <a:p>
                <a14:m>
                  <m:oMath xmlns:m="http://schemas.openxmlformats.org/officeDocument/2006/math">
                    <m:sSub>
                      <m:sSubPr>
                        <m:ctrlPr>
                          <a:rPr lang="en-US" sz="1050" i="1" dirty="0" smtClean="0">
                            <a:solidFill>
                              <a:srgbClr val="836967"/>
                            </a:solidFill>
                            <a:latin typeface="Cambria Math" panose="02040503050406030204" pitchFamily="18" charset="0"/>
                          </a:rPr>
                        </m:ctrlPr>
                      </m:sSubPr>
                      <m:e>
                        <m:r>
                          <a:rPr lang="en-US" sz="1050" i="1" dirty="0" smtClean="0">
                            <a:latin typeface="Cambria Math" panose="02040503050406030204" pitchFamily="18" charset="0"/>
                          </a:rPr>
                          <m:t>𝐶</m:t>
                        </m:r>
                      </m:e>
                      <m:sub>
                        <m:r>
                          <a:rPr lang="en-US" sz="1050" i="0" dirty="0" smtClean="0">
                            <a:latin typeface="Cambria Math" panose="02040503050406030204" pitchFamily="18" charset="0"/>
                          </a:rPr>
                          <m:t>02</m:t>
                        </m:r>
                      </m:sub>
                    </m:sSub>
                    <m:r>
                      <a:rPr lang="en-US" sz="1050" i="0" dirty="0" smtClean="0">
                        <a:latin typeface="Cambria Math" panose="02040503050406030204" pitchFamily="18" charset="0"/>
                      </a:rPr>
                      <m:t>=</m:t>
                    </m:r>
                  </m:oMath>
                </a14:m>
                <a:r>
                  <a:rPr lang="en-US" sz="1050" dirty="0"/>
                  <a:t> Oxygen concentration (mol/cm3)</a:t>
                </a:r>
              </a:p>
              <a:p>
                <a:endParaRPr lang="en-IN" sz="1050" u="sng" dirty="0"/>
              </a:p>
            </p:txBody>
          </p:sp>
        </mc:Choice>
        <mc:Fallback xmlns="">
          <p:sp>
            <p:nvSpPr>
              <p:cNvPr id="17" name="TextBox 16">
                <a:extLst>
                  <a:ext uri="{FF2B5EF4-FFF2-40B4-BE49-F238E27FC236}">
                    <a16:creationId xmlns:a16="http://schemas.microsoft.com/office/drawing/2014/main" id="{8205A6E9-08CA-A0C0-8173-C825BDDC3B4A}"/>
                  </a:ext>
                </a:extLst>
              </p:cNvPr>
              <p:cNvSpPr txBox="1">
                <a:spLocks noRot="1" noChangeAspect="1" noMove="1" noResize="1" noEditPoints="1" noAdjustHandles="1" noChangeArrowheads="1" noChangeShapeType="1" noTextEdit="1"/>
              </p:cNvSpPr>
              <p:nvPr/>
            </p:nvSpPr>
            <p:spPr>
              <a:xfrm>
                <a:off x="4775868" y="4139659"/>
                <a:ext cx="3813429" cy="900246"/>
              </a:xfrm>
              <a:prstGeom prst="rect">
                <a:avLst/>
              </a:prstGeom>
              <a:blipFill>
                <a:blip r:embed="rId7"/>
                <a:stretch>
                  <a:fillRect r="-319"/>
                </a:stretch>
              </a:blipFill>
            </p:spPr>
            <p:txBody>
              <a:bodyPr/>
              <a:lstStyle/>
              <a:p>
                <a:r>
                  <a:rPr lang="en-IN">
                    <a:noFill/>
                  </a:rPr>
                  <a:t> </a:t>
                </a:r>
              </a:p>
            </p:txBody>
          </p:sp>
        </mc:Fallback>
      </mc:AlternateContent>
      <p:sp>
        <p:nvSpPr>
          <p:cNvPr id="18" name="Arrow: Left-Right 17">
            <a:extLst>
              <a:ext uri="{FF2B5EF4-FFF2-40B4-BE49-F238E27FC236}">
                <a16:creationId xmlns:a16="http://schemas.microsoft.com/office/drawing/2014/main" id="{D5334D8B-554C-F16F-EFC5-C55685E1D744}"/>
              </a:ext>
            </a:extLst>
          </p:cNvPr>
          <p:cNvSpPr/>
          <p:nvPr/>
        </p:nvSpPr>
        <p:spPr>
          <a:xfrm>
            <a:off x="2185153" y="1490287"/>
            <a:ext cx="2406975" cy="417913"/>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Initial Conditions</a:t>
            </a:r>
            <a:endParaRPr lang="en-IN" dirty="0"/>
          </a:p>
        </p:txBody>
      </p:sp>
    </p:spTree>
    <p:extLst>
      <p:ext uri="{BB962C8B-B14F-4D97-AF65-F5344CB8AC3E}">
        <p14:creationId xmlns:p14="http://schemas.microsoft.com/office/powerpoint/2010/main" val="220775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1234-2A22-D8A4-24EA-CEA3BAA2C804}"/>
              </a:ext>
            </a:extLst>
          </p:cNvPr>
          <p:cNvSpPr>
            <a:spLocks noGrp="1"/>
          </p:cNvSpPr>
          <p:nvPr>
            <p:ph type="title"/>
          </p:nvPr>
        </p:nvSpPr>
        <p:spPr>
          <a:xfrm>
            <a:off x="-41564" y="548878"/>
            <a:ext cx="9227127" cy="801290"/>
          </a:xfrm>
        </p:spPr>
        <p:txBody>
          <a:bodyPr/>
          <a:lstStyle/>
          <a:p>
            <a:r>
              <a:rPr lang="en-IN" sz="2800" u="sng" dirty="0"/>
              <a:t>Mathematical Model of a Proton-Exchange Membrane (PEM) Fuel Cell – Analytical Equations</a:t>
            </a:r>
            <a:endParaRPr lang="en-IN"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32F3A51-03FA-0D8A-D25A-08E0521F4898}"/>
                  </a:ext>
                </a:extLst>
              </p:cNvPr>
              <p:cNvSpPr txBox="1"/>
              <p:nvPr/>
            </p:nvSpPr>
            <p:spPr>
              <a:xfrm>
                <a:off x="277091" y="1838128"/>
                <a:ext cx="35821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IN" smtClean="0">
                          <a:latin typeface="Cambria Math" panose="02040503050406030204" pitchFamily="18" charset="0"/>
                        </a:rPr>
                        <m:t>Δ</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𝛺</m:t>
                          </m:r>
                        </m:sub>
                      </m:sSub>
                      <m:r>
                        <a:rPr lang="en-IN" i="0">
                          <a:latin typeface="Cambria Math" panose="02040503050406030204" pitchFamily="18" charset="0"/>
                        </a:rPr>
                        <m:t>=</m:t>
                      </m:r>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𝑛</m:t>
                          </m:r>
                        </m:sub>
                      </m:sSub>
                      <m:r>
                        <a:rPr lang="en-IN" i="1">
                          <a:latin typeface="Cambria Math" panose="02040503050406030204" pitchFamily="18" charset="0"/>
                        </a:rPr>
                        <m:t>𝐼</m:t>
                      </m:r>
                      <m:r>
                        <a:rPr lang="en-IN" i="0">
                          <a:latin typeface="Cambria Math" panose="02040503050406030204" pitchFamily="18" charset="0"/>
                        </a:rPr>
                        <m:t>+</m:t>
                      </m:r>
                      <m:d>
                        <m:dPr>
                          <m:begChr m:val="["/>
                          <m:endChr m:val="]"/>
                          <m:ctrlPr>
                            <a:rPr lang="en-IN" i="1">
                              <a:solidFill>
                                <a:srgbClr val="836967"/>
                              </a:solidFill>
                              <a:latin typeface="Cambria Math" panose="02040503050406030204" pitchFamily="18" charset="0"/>
                            </a:rPr>
                          </m:ctrlPr>
                        </m:dPr>
                        <m:e>
                          <m:r>
                            <a:rPr lang="en-IN" i="1">
                              <a:latin typeface="Cambria Math" panose="02040503050406030204" pitchFamily="18" charset="0"/>
                            </a:rPr>
                            <m:t>𝑅</m:t>
                          </m:r>
                          <m:d>
                            <m:dPr>
                              <m:ctrlPr>
                                <a:rPr lang="en-IN" i="1">
                                  <a:solidFill>
                                    <a:srgbClr val="836967"/>
                                  </a:solidFill>
                                  <a:latin typeface="Cambria Math" panose="02040503050406030204" pitchFamily="18" charset="0"/>
                                </a:rPr>
                              </m:ctrlPr>
                            </m:dPr>
                            <m:e>
                              <m:r>
                                <a:rPr lang="en-IN" i="0">
                                  <a:latin typeface="Cambria Math" panose="02040503050406030204" pitchFamily="18" charset="0"/>
                                </a:rPr>
                                <m:t>ⅇ</m:t>
                              </m:r>
                              <m:r>
                                <a:rPr lang="en-IN" i="1">
                                  <a:latin typeface="Cambria Math" panose="02040503050406030204" pitchFamily="18" charset="0"/>
                                </a:rPr>
                                <m:t>𝑙</m:t>
                              </m:r>
                              <m:r>
                                <a:rPr lang="en-IN" i="0">
                                  <a:latin typeface="Cambria Math" panose="02040503050406030204" pitchFamily="18" charset="0"/>
                                </a:rPr>
                                <m:t>ⅇ</m:t>
                              </m:r>
                            </m:e>
                          </m:d>
                          <m:r>
                            <a:rPr lang="en-IN" i="0">
                              <a:latin typeface="Cambria Math" panose="02040503050406030204" pitchFamily="18" charset="0"/>
                            </a:rPr>
                            <m:t>+</m:t>
                          </m:r>
                          <m:r>
                            <a:rPr lang="en-IN" i="1">
                              <a:latin typeface="Cambria Math" panose="02040503050406030204" pitchFamily="18" charset="0"/>
                            </a:rPr>
                            <m:t>𝑅</m:t>
                          </m:r>
                          <m:d>
                            <m:dPr>
                              <m:ctrlPr>
                                <a:rPr lang="en-IN" i="1">
                                  <a:solidFill>
                                    <a:srgbClr val="836967"/>
                                  </a:solidFill>
                                  <a:latin typeface="Cambria Math" panose="02040503050406030204" pitchFamily="18" charset="0"/>
                                </a:rPr>
                              </m:ctrlPr>
                            </m:dPr>
                            <m:e>
                              <m:r>
                                <a:rPr lang="en-IN" i="1" smtClean="0">
                                  <a:latin typeface="Cambria Math" panose="02040503050406030204" pitchFamily="18" charset="0"/>
                                </a:rPr>
                                <m:t>𝐶</m:t>
                              </m:r>
                              <m:r>
                                <a:rPr lang="en-IN" i="1">
                                  <a:latin typeface="Cambria Math" panose="02040503050406030204" pitchFamily="18" charset="0"/>
                                </a:rPr>
                                <m:t>𝑜𝑛</m:t>
                              </m:r>
                            </m:e>
                          </m:d>
                        </m:e>
                      </m:d>
                      <m:sSub>
                        <m:sSubPr>
                          <m:ctrlPr>
                            <a:rPr lang="en-IN" i="1">
                              <a:solidFill>
                                <a:srgbClr val="836967"/>
                              </a:solidFill>
                              <a:latin typeface="Cambria Math" panose="02040503050406030204" pitchFamily="18" charset="0"/>
                            </a:rPr>
                          </m:ctrlPr>
                        </m:sSubPr>
                        <m:e>
                          <m:r>
                            <a:rPr lang="en-IN" i="1">
                              <a:latin typeface="Cambria Math" panose="02040503050406030204" pitchFamily="18" charset="0"/>
                            </a:rPr>
                            <m:t>𝐼</m:t>
                          </m:r>
                        </m:e>
                        <m:sub>
                          <m:r>
                            <a:rPr lang="en-IN" i="1">
                              <a:latin typeface="Cambria Math" panose="02040503050406030204" pitchFamily="18" charset="0"/>
                            </a:rPr>
                            <m:t>𝑒</m:t>
                          </m:r>
                          <m:r>
                            <m:rPr>
                              <m:sty m:val="p"/>
                            </m:rPr>
                            <a:rPr lang="en-US" b="0" i="0" smtClean="0">
                              <a:latin typeface="Cambria Math" panose="02040503050406030204" pitchFamily="18" charset="0"/>
                            </a:rPr>
                            <m:t>x</m:t>
                          </m:r>
                          <m:r>
                            <a:rPr lang="en-IN" i="1">
                              <a:latin typeface="Cambria Math" panose="02040503050406030204" pitchFamily="18" charset="0"/>
                            </a:rPr>
                            <m:t>𝑡</m:t>
                          </m:r>
                        </m:sub>
                      </m:sSub>
                    </m:oMath>
                  </m:oMathPara>
                </a14:m>
                <a:endParaRPr lang="en-IN" dirty="0"/>
              </a:p>
            </p:txBody>
          </p:sp>
        </mc:Choice>
        <mc:Fallback xmlns="">
          <p:sp>
            <p:nvSpPr>
              <p:cNvPr id="4" name="TextBox 3">
                <a:extLst>
                  <a:ext uri="{FF2B5EF4-FFF2-40B4-BE49-F238E27FC236}">
                    <a16:creationId xmlns:a16="http://schemas.microsoft.com/office/drawing/2014/main" id="{C32F3A51-03FA-0D8A-D25A-08E0521F4898}"/>
                  </a:ext>
                </a:extLst>
              </p:cNvPr>
              <p:cNvSpPr txBox="1">
                <a:spLocks noRot="1" noChangeAspect="1" noMove="1" noResize="1" noEditPoints="1" noAdjustHandles="1" noChangeArrowheads="1" noChangeShapeType="1" noTextEdit="1"/>
              </p:cNvSpPr>
              <p:nvPr/>
            </p:nvSpPr>
            <p:spPr>
              <a:xfrm>
                <a:off x="277091" y="1838128"/>
                <a:ext cx="3582134" cy="276999"/>
              </a:xfrm>
              <a:prstGeom prst="rect">
                <a:avLst/>
              </a:prstGeom>
              <a:blipFill>
                <a:blip r:embed="rId2"/>
                <a:stretch>
                  <a:fillRect l="-510" b="-15556"/>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2B92A92C-DEA6-482A-FAC5-588F0D62DAB0}"/>
              </a:ext>
            </a:extLst>
          </p:cNvPr>
          <p:cNvSpPr txBox="1"/>
          <p:nvPr/>
        </p:nvSpPr>
        <p:spPr>
          <a:xfrm>
            <a:off x="277091" y="2253673"/>
            <a:ext cx="3582134" cy="261610"/>
          </a:xfrm>
          <a:prstGeom prst="rect">
            <a:avLst/>
          </a:prstGeom>
          <a:noFill/>
        </p:spPr>
        <p:txBody>
          <a:bodyPr wrap="square" rtlCol="0">
            <a:spAutoFit/>
          </a:bodyPr>
          <a:lstStyle/>
          <a:p>
            <a:pPr algn="ctr"/>
            <a:r>
              <a:rPr lang="en-US" sz="1100" u="sng" dirty="0"/>
              <a:t>Total Ohmic voltage in the cell</a:t>
            </a:r>
            <a:endParaRPr lang="en-IN" sz="1100" u="sng" dirty="0"/>
          </a:p>
        </p:txBody>
      </p:sp>
      <p:sp>
        <p:nvSpPr>
          <p:cNvPr id="6" name="TextBox 5">
            <a:extLst>
              <a:ext uri="{FF2B5EF4-FFF2-40B4-BE49-F238E27FC236}">
                <a16:creationId xmlns:a16="http://schemas.microsoft.com/office/drawing/2014/main" id="{02EB8BCC-485A-C20F-064A-5429C3C671D8}"/>
              </a:ext>
            </a:extLst>
          </p:cNvPr>
          <p:cNvSpPr txBox="1"/>
          <p:nvPr/>
        </p:nvSpPr>
        <p:spPr>
          <a:xfrm>
            <a:off x="4643581" y="1607295"/>
            <a:ext cx="3900789"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There are various resistive equations modelled into the loss model, some of the important ones are as follows:</a:t>
            </a:r>
            <a:endParaRPr lang="en-IN" sz="1400" dirty="0"/>
          </a:p>
        </p:txBody>
      </p:sp>
      <p:pic>
        <p:nvPicPr>
          <p:cNvPr id="8" name="Picture 7">
            <a:extLst>
              <a:ext uri="{FF2B5EF4-FFF2-40B4-BE49-F238E27FC236}">
                <a16:creationId xmlns:a16="http://schemas.microsoft.com/office/drawing/2014/main" id="{6508A190-BF8E-A4A0-F209-7B578E4592A4}"/>
              </a:ext>
            </a:extLst>
          </p:cNvPr>
          <p:cNvPicPr>
            <a:picLocks noChangeAspect="1"/>
          </p:cNvPicPr>
          <p:nvPr/>
        </p:nvPicPr>
        <p:blipFill>
          <a:blip r:embed="rId3"/>
          <a:stretch>
            <a:fillRect/>
          </a:stretch>
        </p:blipFill>
        <p:spPr>
          <a:xfrm>
            <a:off x="7531947" y="2327871"/>
            <a:ext cx="1334962" cy="593317"/>
          </a:xfrm>
          <a:prstGeom prst="rect">
            <a:avLst/>
          </a:prstGeom>
        </p:spPr>
      </p:pic>
      <p:pic>
        <p:nvPicPr>
          <p:cNvPr id="10" name="Picture 9">
            <a:extLst>
              <a:ext uri="{FF2B5EF4-FFF2-40B4-BE49-F238E27FC236}">
                <a16:creationId xmlns:a16="http://schemas.microsoft.com/office/drawing/2014/main" id="{267F513D-8E38-2FCB-B926-87C4D0701142}"/>
              </a:ext>
            </a:extLst>
          </p:cNvPr>
          <p:cNvPicPr>
            <a:picLocks noChangeAspect="1"/>
          </p:cNvPicPr>
          <p:nvPr/>
        </p:nvPicPr>
        <p:blipFill>
          <a:blip r:embed="rId4"/>
          <a:stretch>
            <a:fillRect/>
          </a:stretch>
        </p:blipFill>
        <p:spPr>
          <a:xfrm>
            <a:off x="6009326" y="3032375"/>
            <a:ext cx="3249671" cy="905970"/>
          </a:xfrm>
          <a:prstGeom prst="rect">
            <a:avLst/>
          </a:prstGeom>
        </p:spPr>
      </p:pic>
      <p:pic>
        <p:nvPicPr>
          <p:cNvPr id="12" name="Picture 11">
            <a:extLst>
              <a:ext uri="{FF2B5EF4-FFF2-40B4-BE49-F238E27FC236}">
                <a16:creationId xmlns:a16="http://schemas.microsoft.com/office/drawing/2014/main" id="{C8D9529A-9DA6-1E0C-2EC0-6E41576CD0F6}"/>
              </a:ext>
            </a:extLst>
          </p:cNvPr>
          <p:cNvPicPr>
            <a:picLocks noChangeAspect="1"/>
          </p:cNvPicPr>
          <p:nvPr/>
        </p:nvPicPr>
        <p:blipFill>
          <a:blip r:embed="rId5"/>
          <a:stretch>
            <a:fillRect/>
          </a:stretch>
        </p:blipFill>
        <p:spPr>
          <a:xfrm>
            <a:off x="7422710" y="4130952"/>
            <a:ext cx="1444199" cy="603546"/>
          </a:xfrm>
          <a:prstGeom prst="rect">
            <a:avLst/>
          </a:prstGeom>
        </p:spPr>
      </p:pic>
      <p:sp>
        <p:nvSpPr>
          <p:cNvPr id="13" name="TextBox 12">
            <a:extLst>
              <a:ext uri="{FF2B5EF4-FFF2-40B4-BE49-F238E27FC236}">
                <a16:creationId xmlns:a16="http://schemas.microsoft.com/office/drawing/2014/main" id="{A55B20B2-CBB3-88C1-D931-E637BC9F5D54}"/>
              </a:ext>
            </a:extLst>
          </p:cNvPr>
          <p:cNvSpPr txBox="1"/>
          <p:nvPr/>
        </p:nvSpPr>
        <p:spPr>
          <a:xfrm>
            <a:off x="4347805" y="2543657"/>
            <a:ext cx="3582134" cy="261610"/>
          </a:xfrm>
          <a:prstGeom prst="rect">
            <a:avLst/>
          </a:prstGeom>
          <a:noFill/>
        </p:spPr>
        <p:txBody>
          <a:bodyPr wrap="square" rtlCol="0">
            <a:spAutoFit/>
          </a:bodyPr>
          <a:lstStyle/>
          <a:p>
            <a:pPr algn="ctr"/>
            <a:r>
              <a:rPr lang="en-US" sz="1100" u="sng" dirty="0"/>
              <a:t>Equivalent Activation Resistance</a:t>
            </a:r>
            <a:endParaRPr lang="en-IN" sz="1100" u="sng" dirty="0"/>
          </a:p>
        </p:txBody>
      </p:sp>
      <p:sp>
        <p:nvSpPr>
          <p:cNvPr id="14" name="TextBox 13">
            <a:extLst>
              <a:ext uri="{FF2B5EF4-FFF2-40B4-BE49-F238E27FC236}">
                <a16:creationId xmlns:a16="http://schemas.microsoft.com/office/drawing/2014/main" id="{A66BB689-63D3-3DE4-409C-C5041F29C149}"/>
              </a:ext>
            </a:extLst>
          </p:cNvPr>
          <p:cNvSpPr txBox="1"/>
          <p:nvPr/>
        </p:nvSpPr>
        <p:spPr>
          <a:xfrm>
            <a:off x="4706088" y="3230073"/>
            <a:ext cx="1356045" cy="600164"/>
          </a:xfrm>
          <a:prstGeom prst="rect">
            <a:avLst/>
          </a:prstGeom>
          <a:noFill/>
        </p:spPr>
        <p:txBody>
          <a:bodyPr wrap="square" rtlCol="0">
            <a:spAutoFit/>
          </a:bodyPr>
          <a:lstStyle/>
          <a:p>
            <a:pPr algn="ctr"/>
            <a:r>
              <a:rPr lang="en-US" sz="1100" u="sng" dirty="0"/>
              <a:t>Resistance to the flow of the ions into the membranes </a:t>
            </a:r>
            <a:endParaRPr lang="en-IN" sz="1100" u="sng" dirty="0"/>
          </a:p>
        </p:txBody>
      </p:sp>
      <p:sp>
        <p:nvSpPr>
          <p:cNvPr id="15" name="TextBox 14">
            <a:extLst>
              <a:ext uri="{FF2B5EF4-FFF2-40B4-BE49-F238E27FC236}">
                <a16:creationId xmlns:a16="http://schemas.microsoft.com/office/drawing/2014/main" id="{BBB68DB5-909F-064E-4737-7E75F208D8EE}"/>
              </a:ext>
            </a:extLst>
          </p:cNvPr>
          <p:cNvSpPr txBox="1"/>
          <p:nvPr/>
        </p:nvSpPr>
        <p:spPr>
          <a:xfrm>
            <a:off x="4218259" y="4363151"/>
            <a:ext cx="3582134" cy="261610"/>
          </a:xfrm>
          <a:prstGeom prst="rect">
            <a:avLst/>
          </a:prstGeom>
          <a:noFill/>
        </p:spPr>
        <p:txBody>
          <a:bodyPr wrap="square" rtlCol="0">
            <a:spAutoFit/>
          </a:bodyPr>
          <a:lstStyle/>
          <a:p>
            <a:pPr algn="ctr"/>
            <a:r>
              <a:rPr lang="en-US" sz="1100" u="sng" dirty="0"/>
              <a:t>Equivalent Concentration Resistance</a:t>
            </a:r>
            <a:endParaRPr lang="en-IN" sz="1100" u="sng" dirty="0"/>
          </a:p>
        </p:txBody>
      </p:sp>
      <p:sp>
        <p:nvSpPr>
          <p:cNvPr id="17" name="Left Brace 16">
            <a:extLst>
              <a:ext uri="{FF2B5EF4-FFF2-40B4-BE49-F238E27FC236}">
                <a16:creationId xmlns:a16="http://schemas.microsoft.com/office/drawing/2014/main" id="{4CEC0F97-0DBC-AD39-D3A1-3579F99AE6EB}"/>
              </a:ext>
            </a:extLst>
          </p:cNvPr>
          <p:cNvSpPr/>
          <p:nvPr/>
        </p:nvSpPr>
        <p:spPr>
          <a:xfrm>
            <a:off x="4354465" y="2624529"/>
            <a:ext cx="435068" cy="2079339"/>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20" name="Arrow: Left 19">
            <a:extLst>
              <a:ext uri="{FF2B5EF4-FFF2-40B4-BE49-F238E27FC236}">
                <a16:creationId xmlns:a16="http://schemas.microsoft.com/office/drawing/2014/main" id="{6138B9FF-11F8-D89C-6B2B-20446E6775E3}"/>
              </a:ext>
            </a:extLst>
          </p:cNvPr>
          <p:cNvSpPr/>
          <p:nvPr/>
        </p:nvSpPr>
        <p:spPr>
          <a:xfrm>
            <a:off x="3582799" y="3582795"/>
            <a:ext cx="947478" cy="162805"/>
          </a:xfrm>
          <a:prstGeom prst="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5C38C24-B5E1-AA08-D803-BE6AC8751A03}"/>
                  </a:ext>
                </a:extLst>
              </p:cNvPr>
              <p:cNvSpPr txBox="1"/>
              <p:nvPr/>
            </p:nvSpPr>
            <p:spPr>
              <a:xfrm>
                <a:off x="277091" y="2921188"/>
                <a:ext cx="3028296" cy="101566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IN" sz="1200" i="1" smtClean="0">
                              <a:solidFill>
                                <a:srgbClr val="836967"/>
                              </a:solidFill>
                              <a:latin typeface="Cambria Math" panose="02040503050406030204" pitchFamily="18" charset="0"/>
                            </a:rPr>
                          </m:ctrlPr>
                        </m:sSubPr>
                        <m:e>
                          <m:r>
                            <a:rPr lang="en-IN" sz="1200" i="1" smtClean="0">
                              <a:latin typeface="Cambria Math" panose="02040503050406030204" pitchFamily="18" charset="0"/>
                            </a:rPr>
                            <m:t>𝑛</m:t>
                          </m:r>
                        </m:e>
                        <m:sub>
                          <m:r>
                            <a:rPr lang="en-IN" sz="1200" i="1" smtClean="0">
                              <a:latin typeface="Cambria Math" panose="02040503050406030204" pitchFamily="18" charset="0"/>
                            </a:rPr>
                            <m:t>𝐶𝑒𝑙𝑙</m:t>
                          </m:r>
                        </m:sub>
                      </m:sSub>
                      <m:r>
                        <a:rPr lang="en-IN" sz="1200" i="1" smtClean="0">
                          <a:latin typeface="Cambria Math" panose="02040503050406030204" pitchFamily="18" charset="0"/>
                        </a:rPr>
                        <m:t>:</m:t>
                      </m:r>
                      <m:r>
                        <a:rPr lang="en-US" sz="1200" b="0" i="1" smtClean="0">
                          <a:latin typeface="Cambria Math" panose="02040503050406030204" pitchFamily="18" charset="0"/>
                        </a:rPr>
                        <m:t>𝑛𝑢𝑚𝑏𝑒𝑟</m:t>
                      </m:r>
                      <m:r>
                        <a:rPr lang="en-US" sz="1200" b="0" i="1" smtClean="0">
                          <a:latin typeface="Cambria Math" panose="02040503050406030204" pitchFamily="18" charset="0"/>
                        </a:rPr>
                        <m:t> </m:t>
                      </m:r>
                      <m:r>
                        <a:rPr lang="en-US" sz="1200" b="0" i="1" smtClean="0">
                          <a:latin typeface="Cambria Math" panose="02040503050406030204" pitchFamily="18" charset="0"/>
                        </a:rPr>
                        <m:t>𝑜𝑓</m:t>
                      </m:r>
                      <m:r>
                        <a:rPr lang="en-US" sz="1200" b="0" i="1" smtClean="0">
                          <a:latin typeface="Cambria Math" panose="02040503050406030204" pitchFamily="18" charset="0"/>
                        </a:rPr>
                        <m:t> </m:t>
                      </m:r>
                      <m:r>
                        <a:rPr lang="en-US" sz="1200" b="0" i="1" smtClean="0">
                          <a:latin typeface="Cambria Math" panose="02040503050406030204" pitchFamily="18" charset="0"/>
                        </a:rPr>
                        <m:t>𝑐𝑒𝑙𝑙𝑠</m:t>
                      </m:r>
                    </m:oMath>
                  </m:oMathPara>
                </a14:m>
                <a:endParaRPr lang="en-US" sz="1200" b="0" dirty="0">
                  <a:latin typeface="Arial" panose="020B0604020202020204" pitchFamily="34" charset="0"/>
                  <a:cs typeface="Arial" panose="020B0604020202020204" pitchFamily="34" charset="0"/>
                </a:endParaRPr>
              </a:p>
              <a:p>
                <a:pPr algn="just"/>
                <a14:m>
                  <m:oMath xmlns:m="http://schemas.openxmlformats.org/officeDocument/2006/math">
                    <m:sSub>
                      <m:sSubPr>
                        <m:ctrlPr>
                          <a:rPr lang="en-IN" sz="1200" i="1" dirty="0" smtClean="0">
                            <a:solidFill>
                              <a:srgbClr val="836967"/>
                            </a:solidFill>
                            <a:latin typeface="Cambria Math" panose="02040503050406030204" pitchFamily="18" charset="0"/>
                          </a:rPr>
                        </m:ctrlPr>
                      </m:sSubPr>
                      <m:e>
                        <m:r>
                          <a:rPr lang="en-IN" sz="1200" i="1" dirty="0">
                            <a:latin typeface="Cambria Math" panose="02040503050406030204" pitchFamily="18" charset="0"/>
                          </a:rPr>
                          <m:t>𝜏</m:t>
                        </m:r>
                      </m:e>
                      <m:sub>
                        <m:r>
                          <a:rPr lang="en-IN" sz="1200" i="1" dirty="0">
                            <a:latin typeface="Cambria Math" panose="02040503050406030204" pitchFamily="18" charset="0"/>
                          </a:rPr>
                          <m:t>𝑚</m:t>
                        </m:r>
                      </m:sub>
                    </m:sSub>
                    <m:r>
                      <a:rPr lang="en-US" sz="1200" b="0" i="0" dirty="0" smtClean="0">
                        <a:latin typeface="Cambria Math" panose="02040503050406030204" pitchFamily="18" charset="0"/>
                      </a:rPr>
                      <m:t> &amp;</m:t>
                    </m:r>
                    <m:sSub>
                      <m:sSubPr>
                        <m:ctrlPr>
                          <a:rPr lang="en-IN" sz="1200" i="1" dirty="0">
                            <a:solidFill>
                              <a:srgbClr val="836967"/>
                            </a:solidFill>
                            <a:latin typeface="Cambria Math" panose="02040503050406030204" pitchFamily="18" charset="0"/>
                          </a:rPr>
                        </m:ctrlPr>
                      </m:sSubPr>
                      <m:e>
                        <m:r>
                          <a:rPr lang="en-US" sz="1200" b="0" i="1" dirty="0" smtClean="0">
                            <a:solidFill>
                              <a:srgbClr val="836967"/>
                            </a:solidFill>
                            <a:latin typeface="Cambria Math" panose="02040503050406030204" pitchFamily="18" charset="0"/>
                          </a:rPr>
                          <m:t> </m:t>
                        </m:r>
                        <m:r>
                          <a:rPr lang="en-IN" sz="1200" i="1" dirty="0">
                            <a:latin typeface="Cambria Math" panose="02040503050406030204" pitchFamily="18" charset="0"/>
                          </a:rPr>
                          <m:t>𝜎</m:t>
                        </m:r>
                      </m:e>
                      <m:sub>
                        <m:r>
                          <a:rPr lang="en-IN" sz="1200" i="1" dirty="0">
                            <a:latin typeface="Cambria Math" panose="02040503050406030204" pitchFamily="18" charset="0"/>
                          </a:rPr>
                          <m:t>𝑚</m:t>
                        </m:r>
                        <m:r>
                          <a:rPr lang="en-US" sz="1200" b="0" i="1" dirty="0" smtClean="0">
                            <a:latin typeface="Cambria Math" panose="02040503050406030204" pitchFamily="18" charset="0"/>
                          </a:rPr>
                          <m:t>  </m:t>
                        </m:r>
                      </m:sub>
                    </m:sSub>
                  </m:oMath>
                </a14:m>
                <a:r>
                  <a:rPr lang="en-IN" sz="1200" dirty="0"/>
                  <a:t>: Thickness and ionic conductivity of the membrane</a:t>
                </a:r>
              </a:p>
              <a:p>
                <a:pPr algn="just"/>
                <a:r>
                  <a:rPr lang="en-IN" sz="1200" dirty="0"/>
                  <a:t>A: Single cell active area</a:t>
                </a:r>
              </a:p>
              <a:p>
                <a:pPr algn="just"/>
                <a14:m>
                  <m:oMath xmlns:m="http://schemas.openxmlformats.org/officeDocument/2006/math">
                    <m:sSub>
                      <m:sSubPr>
                        <m:ctrlPr>
                          <a:rPr lang="en-IN" sz="1200" i="1" dirty="0" smtClean="0">
                            <a:solidFill>
                              <a:srgbClr val="836967"/>
                            </a:solidFill>
                            <a:latin typeface="Cambria Math" panose="02040503050406030204" pitchFamily="18" charset="0"/>
                          </a:rPr>
                        </m:ctrlPr>
                      </m:sSubPr>
                      <m:e>
                        <m:r>
                          <a:rPr lang="en-IN" sz="1200" i="1" dirty="0">
                            <a:latin typeface="Cambria Math" panose="02040503050406030204" pitchFamily="18" charset="0"/>
                          </a:rPr>
                          <m:t>𝜆</m:t>
                        </m:r>
                      </m:e>
                      <m:sub>
                        <m:r>
                          <a:rPr lang="en-IN" sz="1200" i="1" dirty="0">
                            <a:latin typeface="Cambria Math" panose="02040503050406030204" pitchFamily="18" charset="0"/>
                          </a:rPr>
                          <m:t>𝑚</m:t>
                        </m:r>
                      </m:sub>
                    </m:sSub>
                  </m:oMath>
                </a14:m>
                <a:r>
                  <a:rPr lang="en-IN" sz="1200" dirty="0"/>
                  <a:t>: Average water content in the membrane</a:t>
                </a:r>
              </a:p>
            </p:txBody>
          </p:sp>
        </mc:Choice>
        <mc:Fallback xmlns="">
          <p:sp>
            <p:nvSpPr>
              <p:cNvPr id="22" name="TextBox 21">
                <a:extLst>
                  <a:ext uri="{FF2B5EF4-FFF2-40B4-BE49-F238E27FC236}">
                    <a16:creationId xmlns:a16="http://schemas.microsoft.com/office/drawing/2014/main" id="{E5C38C24-B5E1-AA08-D803-BE6AC8751A03}"/>
                  </a:ext>
                </a:extLst>
              </p:cNvPr>
              <p:cNvSpPr txBox="1">
                <a:spLocks noRot="1" noChangeAspect="1" noMove="1" noResize="1" noEditPoints="1" noAdjustHandles="1" noChangeArrowheads="1" noChangeShapeType="1" noTextEdit="1"/>
              </p:cNvSpPr>
              <p:nvPr/>
            </p:nvSpPr>
            <p:spPr>
              <a:xfrm>
                <a:off x="277091" y="2921188"/>
                <a:ext cx="3028296" cy="1015663"/>
              </a:xfrm>
              <a:prstGeom prst="rect">
                <a:avLst/>
              </a:prstGeom>
              <a:blipFill>
                <a:blip r:embed="rId6"/>
                <a:stretch>
                  <a:fillRect r="-201" b="-3593"/>
                </a:stretch>
              </a:blipFill>
            </p:spPr>
            <p:txBody>
              <a:bodyPr/>
              <a:lstStyle/>
              <a:p>
                <a:r>
                  <a:rPr lang="en-IN">
                    <a:noFill/>
                  </a:rPr>
                  <a:t> </a:t>
                </a:r>
              </a:p>
            </p:txBody>
          </p:sp>
        </mc:Fallback>
      </mc:AlternateContent>
    </p:spTree>
    <p:extLst>
      <p:ext uri="{BB962C8B-B14F-4D97-AF65-F5344CB8AC3E}">
        <p14:creationId xmlns:p14="http://schemas.microsoft.com/office/powerpoint/2010/main" val="2902317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1E48D-30AB-E8AD-F47D-ECAFBE88449A}"/>
              </a:ext>
            </a:extLst>
          </p:cNvPr>
          <p:cNvSpPr>
            <a:spLocks noGrp="1"/>
          </p:cNvSpPr>
          <p:nvPr>
            <p:ph type="title"/>
          </p:nvPr>
        </p:nvSpPr>
        <p:spPr>
          <a:xfrm>
            <a:off x="0" y="465111"/>
            <a:ext cx="9144000" cy="801290"/>
          </a:xfrm>
        </p:spPr>
        <p:txBody>
          <a:bodyPr/>
          <a:lstStyle/>
          <a:p>
            <a:r>
              <a:rPr lang="en-IN" sz="3200" u="sng" dirty="0"/>
              <a:t>Mathematical Model of a Proton-Exchange Membrane (PEM) Fuel Cell – Boost Converter</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A0D67D-136D-D8B9-4545-F3F9EEB3F925}"/>
                  </a:ext>
                </a:extLst>
              </p:cNvPr>
              <p:cNvSpPr>
                <a:spLocks noGrp="1"/>
              </p:cNvSpPr>
              <p:nvPr>
                <p:ph sz="half" idx="1"/>
              </p:nvPr>
            </p:nvSpPr>
            <p:spPr>
              <a:xfrm>
                <a:off x="0" y="1476377"/>
                <a:ext cx="4038600" cy="3461383"/>
              </a:xfrm>
            </p:spPr>
            <p:txBody>
              <a:bodyPr/>
              <a:lstStyle/>
              <a:p>
                <a:r>
                  <a:rPr lang="en-US" sz="1100" dirty="0"/>
                  <a:t>The boost converter </a:t>
                </a:r>
                <a:r>
                  <a:rPr lang="en-US" sz="1100" b="1" dirty="0"/>
                  <a:t>enhances the output voltage </a:t>
                </a:r>
                <a:r>
                  <a:rPr lang="en-US" sz="1100" dirty="0"/>
                  <a:t>of 48V at the load side. </a:t>
                </a:r>
              </a:p>
              <a:p>
                <a:pPr>
                  <a:buFont typeface="Arial" panose="020B0604020202020204" pitchFamily="34" charset="0"/>
                  <a:buChar char="•"/>
                </a:pPr>
                <a:r>
                  <a:rPr lang="en-US" sz="1100" dirty="0"/>
                  <a:t>A </a:t>
                </a:r>
                <a:r>
                  <a:rPr lang="en-US" sz="1100" b="1" dirty="0"/>
                  <a:t>PWM signal</a:t>
                </a:r>
                <a:r>
                  <a:rPr lang="en-US" sz="1100" dirty="0"/>
                  <a:t>, regulated by a PI controller, </a:t>
                </a:r>
                <a:r>
                  <a:rPr lang="en-US" sz="1100" b="1" dirty="0"/>
                  <a:t>adjusts </a:t>
                </a:r>
                <a:r>
                  <a:rPr lang="en-US" sz="1100" dirty="0"/>
                  <a:t>the boost converter's </a:t>
                </a:r>
                <a:r>
                  <a:rPr lang="en-US" sz="1100" b="1" dirty="0"/>
                  <a:t>duty cycle.</a:t>
                </a:r>
              </a:p>
              <a:p>
                <a:pPr>
                  <a:buFont typeface="Arial" panose="020B0604020202020204" pitchFamily="34" charset="0"/>
                  <a:buChar char="•"/>
                </a:pPr>
                <a:r>
                  <a:rPr lang="en-US" sz="1100" dirty="0"/>
                  <a:t>A </a:t>
                </a:r>
                <a:r>
                  <a:rPr lang="en-US" sz="1100" b="1" dirty="0"/>
                  <a:t>controlled current source </a:t>
                </a:r>
                <a:r>
                  <a:rPr lang="en-US" sz="1100" dirty="0"/>
                  <a:t>models auxiliary power consumption, varying with stack temperature from 36.5W at 296.15 K to 52W at 338.15 K to account for fan power variations.</a:t>
                </a:r>
              </a:p>
              <a:p>
                <a14:m>
                  <m:oMath xmlns:m="http://schemas.openxmlformats.org/officeDocument/2006/math">
                    <m:f>
                      <m:fPr>
                        <m:ctrlPr>
                          <a:rPr lang="en-IN" sz="1100" i="1" dirty="0" smtClean="0">
                            <a:solidFill>
                              <a:srgbClr val="836967"/>
                            </a:solidFill>
                            <a:latin typeface="Cambria Math" panose="02040503050406030204" pitchFamily="18" charset="0"/>
                          </a:rPr>
                        </m:ctrlPr>
                      </m:fPr>
                      <m:num>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𝑣</m:t>
                            </m:r>
                          </m:e>
                          <m:sub>
                            <m:r>
                              <a:rPr lang="en-IN" sz="1100" i="0" dirty="0">
                                <a:latin typeface="Cambria Math" panose="02040503050406030204" pitchFamily="18" charset="0"/>
                              </a:rPr>
                              <m:t>0</m:t>
                            </m:r>
                          </m:sub>
                        </m:sSub>
                      </m:num>
                      <m:den>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𝑣</m:t>
                            </m:r>
                          </m:e>
                          <m:sub>
                            <m:r>
                              <a:rPr lang="en-IN" sz="1100" i="1" dirty="0">
                                <a:latin typeface="Cambria Math" panose="02040503050406030204" pitchFamily="18" charset="0"/>
                              </a:rPr>
                              <m:t>𝑖</m:t>
                            </m:r>
                          </m:sub>
                        </m:sSub>
                      </m:den>
                    </m:f>
                    <m:r>
                      <a:rPr lang="en-IN" sz="1100" i="0" dirty="0">
                        <a:latin typeface="Cambria Math" panose="02040503050406030204" pitchFamily="18" charset="0"/>
                      </a:rPr>
                      <m:t>=</m:t>
                    </m:r>
                    <m:f>
                      <m:fPr>
                        <m:ctrlPr>
                          <a:rPr lang="en-IN" sz="1100" i="1" dirty="0">
                            <a:solidFill>
                              <a:srgbClr val="836967"/>
                            </a:solidFill>
                            <a:latin typeface="Cambria Math" panose="02040503050406030204" pitchFamily="18" charset="0"/>
                          </a:rPr>
                        </m:ctrlPr>
                      </m:fPr>
                      <m:num>
                        <m:r>
                          <a:rPr lang="en-IN" sz="1100" i="0" dirty="0">
                            <a:latin typeface="Cambria Math" panose="02040503050406030204" pitchFamily="18" charset="0"/>
                          </a:rPr>
                          <m:t>1</m:t>
                        </m:r>
                      </m:num>
                      <m:den>
                        <m:r>
                          <a:rPr lang="en-IN" sz="1100" i="0" dirty="0">
                            <a:latin typeface="Cambria Math" panose="02040503050406030204" pitchFamily="18" charset="0"/>
                          </a:rPr>
                          <m:t>1−</m:t>
                        </m:r>
                        <m:r>
                          <a:rPr lang="en-IN" sz="1100" i="1" dirty="0">
                            <a:latin typeface="Cambria Math" panose="02040503050406030204" pitchFamily="18" charset="0"/>
                          </a:rPr>
                          <m:t>𝐷</m:t>
                        </m:r>
                      </m:den>
                    </m:f>
                  </m:oMath>
                </a14:m>
                <a:endParaRPr lang="en-IN" sz="1100" dirty="0"/>
              </a:p>
              <a:p>
                <a14:m>
                  <m:oMath xmlns:m="http://schemas.openxmlformats.org/officeDocument/2006/math">
                    <m:f>
                      <m:fPr>
                        <m:ctrlPr>
                          <a:rPr lang="en-IN" sz="1100" i="1" dirty="0" smtClean="0">
                            <a:solidFill>
                              <a:srgbClr val="836967"/>
                            </a:solidFill>
                            <a:latin typeface="Cambria Math" panose="02040503050406030204" pitchFamily="18" charset="0"/>
                          </a:rPr>
                        </m:ctrlPr>
                      </m:fPr>
                      <m:num>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𝐼</m:t>
                            </m:r>
                          </m:e>
                          <m:sub>
                            <m:r>
                              <a:rPr lang="en-IN" sz="1100" i="0" dirty="0">
                                <a:latin typeface="Cambria Math" panose="02040503050406030204" pitchFamily="18" charset="0"/>
                              </a:rPr>
                              <m:t>0</m:t>
                            </m:r>
                          </m:sub>
                        </m:sSub>
                      </m:num>
                      <m:den>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𝐼</m:t>
                            </m:r>
                          </m:e>
                          <m:sub>
                            <m:r>
                              <a:rPr lang="en-IN" sz="1100" i="1" dirty="0">
                                <a:latin typeface="Cambria Math" panose="02040503050406030204" pitchFamily="18" charset="0"/>
                              </a:rPr>
                              <m:t>𝑖</m:t>
                            </m:r>
                          </m:sub>
                        </m:sSub>
                      </m:den>
                    </m:f>
                    <m:r>
                      <a:rPr lang="en-IN" sz="1100" i="0" dirty="0">
                        <a:latin typeface="Cambria Math" panose="02040503050406030204" pitchFamily="18" charset="0"/>
                      </a:rPr>
                      <m:t>=1−</m:t>
                    </m:r>
                    <m:r>
                      <a:rPr lang="en-IN" sz="1100" i="1" dirty="0">
                        <a:latin typeface="Cambria Math" panose="02040503050406030204" pitchFamily="18" charset="0"/>
                      </a:rPr>
                      <m:t>𝐷</m:t>
                    </m:r>
                  </m:oMath>
                </a14:m>
                <a:endParaRPr lang="en-IN" sz="1100" dirty="0"/>
              </a:p>
              <a:p>
                <a:r>
                  <a:rPr lang="en-IN" sz="1100" dirty="0"/>
                  <a:t>The external load resistance and the equivalent resistance of the cell is consequently given by:</a:t>
                </a:r>
              </a:p>
              <a:p>
                <a14:m>
                  <m:oMath xmlns:m="http://schemas.openxmlformats.org/officeDocument/2006/math">
                    <m:sSub>
                      <m:sSubPr>
                        <m:ctrlPr>
                          <a:rPr lang="en-IN" sz="1100" i="1" dirty="0" smtClean="0">
                            <a:solidFill>
                              <a:srgbClr val="836967"/>
                            </a:solidFill>
                            <a:latin typeface="Cambria Math" panose="02040503050406030204" pitchFamily="18" charset="0"/>
                          </a:rPr>
                        </m:ctrlPr>
                      </m:sSubPr>
                      <m:e>
                        <m:r>
                          <a:rPr lang="en-IN" sz="1100" i="1" dirty="0">
                            <a:latin typeface="Cambria Math" panose="02040503050406030204" pitchFamily="18" charset="0"/>
                          </a:rPr>
                          <m:t>𝑅</m:t>
                        </m:r>
                      </m:e>
                      <m:sub>
                        <m:r>
                          <a:rPr lang="en-IN" sz="1100" i="1" dirty="0">
                            <a:latin typeface="Cambria Math" panose="02040503050406030204" pitchFamily="18" charset="0"/>
                          </a:rPr>
                          <m:t>𝑖𝑑</m:t>
                        </m:r>
                      </m:sub>
                    </m:sSub>
                    <m:r>
                      <a:rPr lang="en-IN" sz="1100" i="0" dirty="0">
                        <a:latin typeface="Cambria Math" panose="02040503050406030204" pitchFamily="18" charset="0"/>
                      </a:rPr>
                      <m:t>=</m:t>
                    </m:r>
                    <m:f>
                      <m:fPr>
                        <m:ctrlPr>
                          <a:rPr lang="en-IN" sz="1100" i="1" dirty="0">
                            <a:solidFill>
                              <a:srgbClr val="836967"/>
                            </a:solidFill>
                            <a:latin typeface="Cambria Math" panose="02040503050406030204" pitchFamily="18" charset="0"/>
                          </a:rPr>
                        </m:ctrlPr>
                      </m:fPr>
                      <m:num>
                        <m:f>
                          <m:fPr>
                            <m:type m:val="lin"/>
                            <m:ctrlPr>
                              <a:rPr lang="en-IN" sz="1100" i="1" dirty="0">
                                <a:latin typeface="Cambria Math" panose="02040503050406030204" pitchFamily="18" charset="0"/>
                              </a:rPr>
                            </m:ctrlPr>
                          </m:fPr>
                          <m:num>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𝑣</m:t>
                                </m:r>
                              </m:e>
                              <m:sub>
                                <m:r>
                                  <a:rPr lang="en-IN" sz="1100" i="1" dirty="0">
                                    <a:latin typeface="Cambria Math" panose="02040503050406030204" pitchFamily="18" charset="0"/>
                                  </a:rPr>
                                  <m:t>𝑖</m:t>
                                </m:r>
                              </m:sub>
                            </m:sSub>
                          </m:num>
                          <m:den>
                            <m:r>
                              <a:rPr lang="en-IN" sz="1100" i="0" dirty="0">
                                <a:latin typeface="Cambria Math" panose="02040503050406030204" pitchFamily="18" charset="0"/>
                              </a:rPr>
                              <m:t>1</m:t>
                            </m:r>
                          </m:den>
                        </m:f>
                        <m:r>
                          <a:rPr lang="en-IN" sz="1100" i="0" dirty="0">
                            <a:latin typeface="Cambria Math" panose="02040503050406030204" pitchFamily="18" charset="0"/>
                          </a:rPr>
                          <m:t>−</m:t>
                        </m:r>
                        <m:r>
                          <a:rPr lang="en-IN" sz="1100" i="1" dirty="0">
                            <a:latin typeface="Cambria Math" panose="02040503050406030204" pitchFamily="18" charset="0"/>
                          </a:rPr>
                          <m:t>𝐷</m:t>
                        </m:r>
                      </m:num>
                      <m:den>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𝐼</m:t>
                            </m:r>
                          </m:e>
                          <m:sub>
                            <m:r>
                              <a:rPr lang="en-IN" sz="1100" i="1" dirty="0">
                                <a:latin typeface="Cambria Math" panose="02040503050406030204" pitchFamily="18" charset="0"/>
                              </a:rPr>
                              <m:t>𝑖</m:t>
                            </m:r>
                          </m:sub>
                        </m:sSub>
                        <m:r>
                          <a:rPr lang="en-IN" sz="1100" i="0" dirty="0">
                            <a:latin typeface="Cambria Math" panose="02040503050406030204" pitchFamily="18" charset="0"/>
                          </a:rPr>
                          <m:t>⋅</m:t>
                        </m:r>
                        <m:d>
                          <m:dPr>
                            <m:ctrlPr>
                              <a:rPr lang="en-IN" sz="1100" i="1" dirty="0">
                                <a:solidFill>
                                  <a:srgbClr val="836967"/>
                                </a:solidFill>
                                <a:latin typeface="Cambria Math" panose="02040503050406030204" pitchFamily="18" charset="0"/>
                              </a:rPr>
                            </m:ctrlPr>
                          </m:dPr>
                          <m:e>
                            <m:r>
                              <a:rPr lang="en-IN" sz="1100" i="0" dirty="0">
                                <a:latin typeface="Cambria Math" panose="02040503050406030204" pitchFamily="18" charset="0"/>
                              </a:rPr>
                              <m:t>1−</m:t>
                            </m:r>
                            <m:r>
                              <a:rPr lang="en-IN" sz="1100" i="1" dirty="0">
                                <a:latin typeface="Cambria Math" panose="02040503050406030204" pitchFamily="18" charset="0"/>
                              </a:rPr>
                              <m:t>𝐷</m:t>
                            </m:r>
                          </m:e>
                        </m:d>
                      </m:den>
                    </m:f>
                  </m:oMath>
                </a14:m>
                <a:endParaRPr lang="en-IN" sz="1100" dirty="0"/>
              </a:p>
              <a:p>
                <a14:m>
                  <m:oMath xmlns:m="http://schemas.openxmlformats.org/officeDocument/2006/math">
                    <m:sSub>
                      <m:sSubPr>
                        <m:ctrlPr>
                          <a:rPr lang="en-IN" sz="1100" i="1" dirty="0" smtClean="0">
                            <a:solidFill>
                              <a:srgbClr val="836967"/>
                            </a:solidFill>
                            <a:latin typeface="Cambria Math" panose="02040503050406030204" pitchFamily="18" charset="0"/>
                          </a:rPr>
                        </m:ctrlPr>
                      </m:sSubPr>
                      <m:e>
                        <m:r>
                          <a:rPr lang="en-IN" sz="1100" i="1" dirty="0">
                            <a:latin typeface="Cambria Math" panose="02040503050406030204" pitchFamily="18" charset="0"/>
                          </a:rPr>
                          <m:t>𝑅</m:t>
                        </m:r>
                      </m:e>
                      <m:sub>
                        <m:r>
                          <a:rPr lang="en-IN" sz="1100" i="1" dirty="0">
                            <a:latin typeface="Cambria Math" panose="02040503050406030204" pitchFamily="18" charset="0"/>
                          </a:rPr>
                          <m:t>𝑒</m:t>
                        </m:r>
                        <m:r>
                          <a:rPr lang="en-US" sz="1100" b="0" i="1" dirty="0" smtClean="0">
                            <a:latin typeface="Cambria Math" panose="02040503050406030204" pitchFamily="18" charset="0"/>
                          </a:rPr>
                          <m:t>𝑞</m:t>
                        </m:r>
                      </m:sub>
                    </m:sSub>
                    <m:r>
                      <a:rPr lang="en-IN" sz="1100" i="0" dirty="0">
                        <a:latin typeface="Cambria Math" panose="02040503050406030204" pitchFamily="18" charset="0"/>
                      </a:rPr>
                      <m:t>=</m:t>
                    </m:r>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𝑅</m:t>
                        </m:r>
                      </m:e>
                      <m:sub>
                        <m:r>
                          <a:rPr lang="en-IN" sz="1100" i="1" dirty="0">
                            <a:latin typeface="Cambria Math" panose="02040503050406030204" pitchFamily="18" charset="0"/>
                          </a:rPr>
                          <m:t>𝑖𝑑</m:t>
                        </m:r>
                      </m:sub>
                    </m:sSub>
                    <m:sSup>
                      <m:sSupPr>
                        <m:ctrlPr>
                          <a:rPr lang="en-IN" sz="1100" i="1" dirty="0">
                            <a:solidFill>
                              <a:srgbClr val="836967"/>
                            </a:solidFill>
                            <a:latin typeface="Cambria Math" panose="02040503050406030204" pitchFamily="18" charset="0"/>
                          </a:rPr>
                        </m:ctrlPr>
                      </m:sSupPr>
                      <m:e>
                        <m:d>
                          <m:dPr>
                            <m:ctrlPr>
                              <a:rPr lang="en-IN" sz="1100" i="1" dirty="0">
                                <a:solidFill>
                                  <a:srgbClr val="836967"/>
                                </a:solidFill>
                                <a:latin typeface="Cambria Math" panose="02040503050406030204" pitchFamily="18" charset="0"/>
                              </a:rPr>
                            </m:ctrlPr>
                          </m:dPr>
                          <m:e>
                            <m:r>
                              <a:rPr lang="en-IN" sz="1100" i="0" dirty="0">
                                <a:latin typeface="Cambria Math" panose="02040503050406030204" pitchFamily="18" charset="0"/>
                              </a:rPr>
                              <m:t>1−</m:t>
                            </m:r>
                            <m:r>
                              <a:rPr lang="en-IN" sz="1100" i="1" dirty="0">
                                <a:latin typeface="Cambria Math" panose="02040503050406030204" pitchFamily="18" charset="0"/>
                              </a:rPr>
                              <m:t>𝐷</m:t>
                            </m:r>
                          </m:e>
                        </m:d>
                      </m:e>
                      <m:sup>
                        <m:r>
                          <a:rPr lang="en-IN" sz="1100" i="0" dirty="0">
                            <a:latin typeface="Cambria Math" panose="02040503050406030204" pitchFamily="18" charset="0"/>
                          </a:rPr>
                          <m:t>2</m:t>
                        </m:r>
                      </m:sup>
                    </m:sSup>
                  </m:oMath>
                </a14:m>
                <a:endParaRPr lang="en-IN" sz="1100" dirty="0"/>
              </a:p>
              <a:p>
                <a14:m>
                  <m:oMath xmlns:m="http://schemas.openxmlformats.org/officeDocument/2006/math">
                    <m:sSub>
                      <m:sSubPr>
                        <m:ctrlPr>
                          <a:rPr lang="en-IN" sz="1100" i="1" dirty="0" smtClean="0">
                            <a:solidFill>
                              <a:srgbClr val="836967"/>
                            </a:solidFill>
                            <a:latin typeface="Cambria Math" panose="02040503050406030204" pitchFamily="18" charset="0"/>
                          </a:rPr>
                        </m:ctrlPr>
                      </m:sSubPr>
                      <m:e>
                        <m:r>
                          <a:rPr lang="en-IN" sz="1100" i="1" dirty="0">
                            <a:latin typeface="Cambria Math" panose="02040503050406030204" pitchFamily="18" charset="0"/>
                          </a:rPr>
                          <m:t>𝑝</m:t>
                        </m:r>
                      </m:e>
                      <m:sub>
                        <m:r>
                          <a:rPr lang="en-IN" sz="1100" i="1" dirty="0">
                            <a:latin typeface="Cambria Math" panose="02040503050406030204" pitchFamily="18" charset="0"/>
                          </a:rPr>
                          <m:t>𝑖𝑑</m:t>
                        </m:r>
                      </m:sub>
                    </m:sSub>
                    <m:r>
                      <a:rPr lang="en-IN" sz="1100" i="0" dirty="0">
                        <a:latin typeface="Cambria Math" panose="02040503050406030204" pitchFamily="18" charset="0"/>
                      </a:rPr>
                      <m:t>=</m:t>
                    </m:r>
                    <m:f>
                      <m:fPr>
                        <m:type m:val="lin"/>
                        <m:ctrlPr>
                          <a:rPr lang="en-IN" sz="1100" i="1" dirty="0">
                            <a:latin typeface="Cambria Math" panose="02040503050406030204" pitchFamily="18" charset="0"/>
                          </a:rPr>
                        </m:ctrlPr>
                      </m:fPr>
                      <m:num>
                        <m:sSub>
                          <m:sSubPr>
                            <m:ctrlPr>
                              <a:rPr lang="en-IN" sz="1100" i="1" dirty="0">
                                <a:solidFill>
                                  <a:srgbClr val="836967"/>
                                </a:solidFill>
                                <a:latin typeface="Cambria Math" panose="02040503050406030204" pitchFamily="18" charset="0"/>
                              </a:rPr>
                            </m:ctrlPr>
                          </m:sSubPr>
                          <m:e>
                            <m:r>
                              <a:rPr lang="en-IN" sz="1100" i="1" dirty="0">
                                <a:latin typeface="Cambria Math" panose="02040503050406030204" pitchFamily="18" charset="0"/>
                              </a:rPr>
                              <m:t>𝑉</m:t>
                            </m:r>
                          </m:e>
                          <m:sub>
                            <m:r>
                              <a:rPr lang="en-IN" sz="1100" i="1" dirty="0">
                                <a:latin typeface="Cambria Math" panose="02040503050406030204" pitchFamily="18" charset="0"/>
                              </a:rPr>
                              <m:t>𝑖𝑑</m:t>
                            </m:r>
                          </m:sub>
                        </m:sSub>
                      </m:num>
                      <m:den>
                        <m:sSubSup>
                          <m:sSubSupPr>
                            <m:ctrlPr>
                              <a:rPr lang="en-IN" sz="1100" i="1" dirty="0">
                                <a:solidFill>
                                  <a:srgbClr val="836967"/>
                                </a:solidFill>
                                <a:latin typeface="Cambria Math" panose="02040503050406030204" pitchFamily="18" charset="0"/>
                              </a:rPr>
                            </m:ctrlPr>
                          </m:sSubSupPr>
                          <m:e>
                            <m:r>
                              <a:rPr lang="en-IN" sz="1100" i="1" dirty="0">
                                <a:latin typeface="Cambria Math" panose="02040503050406030204" pitchFamily="18" charset="0"/>
                              </a:rPr>
                              <m:t>𝑅</m:t>
                            </m:r>
                          </m:e>
                          <m:sub>
                            <m:r>
                              <a:rPr lang="en-IN" sz="1100" i="0" dirty="0">
                                <a:latin typeface="Cambria Math" panose="02040503050406030204" pitchFamily="18" charset="0"/>
                              </a:rPr>
                              <m:t>ⅈ</m:t>
                            </m:r>
                            <m:r>
                              <a:rPr lang="en-IN" sz="1100" i="1" dirty="0">
                                <a:latin typeface="Cambria Math" panose="02040503050406030204" pitchFamily="18" charset="0"/>
                              </a:rPr>
                              <m:t>𝑑</m:t>
                            </m:r>
                          </m:sub>
                          <m:sup>
                            <m:r>
                              <a:rPr lang="en-IN" sz="1100" i="0" dirty="0">
                                <a:latin typeface="Cambria Math" panose="02040503050406030204" pitchFamily="18" charset="0"/>
                              </a:rPr>
                              <m:t>2</m:t>
                            </m:r>
                          </m:sup>
                        </m:sSubSup>
                      </m:den>
                    </m:f>
                  </m:oMath>
                </a14:m>
                <a:r>
                  <a:rPr lang="en-IN" sz="1100" dirty="0"/>
                  <a:t> is the corresponding power from the stack.</a:t>
                </a:r>
              </a:p>
            </p:txBody>
          </p:sp>
        </mc:Choice>
        <mc:Fallback xmlns="">
          <p:sp>
            <p:nvSpPr>
              <p:cNvPr id="3" name="Content Placeholder 2">
                <a:extLst>
                  <a:ext uri="{FF2B5EF4-FFF2-40B4-BE49-F238E27FC236}">
                    <a16:creationId xmlns:a16="http://schemas.microsoft.com/office/drawing/2014/main" id="{71A0D67D-136D-D8B9-4545-F3F9EEB3F925}"/>
                  </a:ext>
                </a:extLst>
              </p:cNvPr>
              <p:cNvSpPr>
                <a:spLocks noGrp="1" noRot="1" noChangeAspect="1" noMove="1" noResize="1" noEditPoints="1" noAdjustHandles="1" noChangeArrowheads="1" noChangeShapeType="1" noTextEdit="1"/>
              </p:cNvSpPr>
              <p:nvPr>
                <p:ph sz="half" idx="1"/>
              </p:nvPr>
            </p:nvSpPr>
            <p:spPr>
              <a:xfrm>
                <a:off x="0" y="1476377"/>
                <a:ext cx="4038600" cy="3461383"/>
              </a:xfrm>
              <a:blipFill>
                <a:blip r:embed="rId2"/>
                <a:stretch>
                  <a:fillRect t="-176" r="-302" b="-4401"/>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EB903A4E-DAD1-AA85-6FC7-6A622C8B68AA}"/>
              </a:ext>
            </a:extLst>
          </p:cNvPr>
          <p:cNvPicPr>
            <a:picLocks noChangeAspect="1"/>
          </p:cNvPicPr>
          <p:nvPr/>
        </p:nvPicPr>
        <p:blipFill>
          <a:blip r:embed="rId3"/>
          <a:stretch>
            <a:fillRect/>
          </a:stretch>
        </p:blipFill>
        <p:spPr>
          <a:xfrm>
            <a:off x="4883574" y="1506946"/>
            <a:ext cx="3251200" cy="1427018"/>
          </a:xfrm>
          <a:prstGeom prst="rect">
            <a:avLst/>
          </a:prstGeom>
        </p:spPr>
      </p:pic>
      <p:sp>
        <p:nvSpPr>
          <p:cNvPr id="8" name="TextBox 7">
            <a:extLst>
              <a:ext uri="{FF2B5EF4-FFF2-40B4-BE49-F238E27FC236}">
                <a16:creationId xmlns:a16="http://schemas.microsoft.com/office/drawing/2014/main" id="{C907EBB9-35F8-B7A1-273D-7B272F2CC4B2}"/>
              </a:ext>
            </a:extLst>
          </p:cNvPr>
          <p:cNvSpPr txBox="1"/>
          <p:nvPr/>
        </p:nvSpPr>
        <p:spPr>
          <a:xfrm>
            <a:off x="4863253" y="2959947"/>
            <a:ext cx="4091094"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efficiency of the boost converter is given as:</a:t>
            </a:r>
          </a:p>
          <a:p>
            <a:pPr marL="171450" indent="-171450">
              <a:buFont typeface="Arial" panose="020B0604020202020204" pitchFamily="34" charset="0"/>
              <a:buChar char="•"/>
            </a:pPr>
            <a:endParaRPr lang="en-IN" sz="1100" dirty="0"/>
          </a:p>
        </p:txBody>
      </p:sp>
      <p:pic>
        <p:nvPicPr>
          <p:cNvPr id="10" name="Picture 9">
            <a:extLst>
              <a:ext uri="{FF2B5EF4-FFF2-40B4-BE49-F238E27FC236}">
                <a16:creationId xmlns:a16="http://schemas.microsoft.com/office/drawing/2014/main" id="{BE8F31BC-092B-D38C-D3B2-BA16DF536102}"/>
              </a:ext>
            </a:extLst>
          </p:cNvPr>
          <p:cNvPicPr>
            <a:picLocks noChangeAspect="1"/>
          </p:cNvPicPr>
          <p:nvPr/>
        </p:nvPicPr>
        <p:blipFill>
          <a:blip r:embed="rId4"/>
          <a:stretch>
            <a:fillRect/>
          </a:stretch>
        </p:blipFill>
        <p:spPr>
          <a:xfrm>
            <a:off x="5778447" y="3148097"/>
            <a:ext cx="2356327" cy="485474"/>
          </a:xfrm>
          <a:prstGeom prst="rect">
            <a:avLst/>
          </a:prstGeom>
        </p:spPr>
      </p:pic>
      <p:sp>
        <p:nvSpPr>
          <p:cNvPr id="11" name="TextBox 10">
            <a:extLst>
              <a:ext uri="{FF2B5EF4-FFF2-40B4-BE49-F238E27FC236}">
                <a16:creationId xmlns:a16="http://schemas.microsoft.com/office/drawing/2014/main" id="{B04D04EF-10FC-DFD0-5249-15D577439121}"/>
              </a:ext>
            </a:extLst>
          </p:cNvPr>
          <p:cNvSpPr txBox="1"/>
          <p:nvPr/>
        </p:nvSpPr>
        <p:spPr>
          <a:xfrm>
            <a:off x="4863253" y="3633571"/>
            <a:ext cx="4091094"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Where, efficiency of the cell stack is given by:</a:t>
            </a:r>
          </a:p>
          <a:p>
            <a:pPr marL="171450" indent="-171450">
              <a:buFont typeface="Arial" panose="020B0604020202020204" pitchFamily="34" charset="0"/>
              <a:buChar char="•"/>
            </a:pPr>
            <a:endParaRPr lang="en-IN" sz="1100" dirty="0"/>
          </a:p>
        </p:txBody>
      </p:sp>
      <p:pic>
        <p:nvPicPr>
          <p:cNvPr id="13" name="Picture 12">
            <a:extLst>
              <a:ext uri="{FF2B5EF4-FFF2-40B4-BE49-F238E27FC236}">
                <a16:creationId xmlns:a16="http://schemas.microsoft.com/office/drawing/2014/main" id="{E5EB96AA-430B-E827-DE43-14D9AB384C5B}"/>
              </a:ext>
            </a:extLst>
          </p:cNvPr>
          <p:cNvPicPr>
            <a:picLocks noChangeAspect="1"/>
          </p:cNvPicPr>
          <p:nvPr/>
        </p:nvPicPr>
        <p:blipFill>
          <a:blip r:embed="rId5"/>
          <a:stretch>
            <a:fillRect/>
          </a:stretch>
        </p:blipFill>
        <p:spPr>
          <a:xfrm>
            <a:off x="5778447" y="3850351"/>
            <a:ext cx="2274155" cy="468393"/>
          </a:xfrm>
          <a:prstGeom prst="rect">
            <a:avLst/>
          </a:prstGeom>
        </p:spPr>
      </p:pic>
      <p:sp>
        <p:nvSpPr>
          <p:cNvPr id="14" name="TextBox 13">
            <a:extLst>
              <a:ext uri="{FF2B5EF4-FFF2-40B4-BE49-F238E27FC236}">
                <a16:creationId xmlns:a16="http://schemas.microsoft.com/office/drawing/2014/main" id="{6886E82A-1F06-2A02-6DD6-8E6BC99770E1}"/>
              </a:ext>
            </a:extLst>
          </p:cNvPr>
          <p:cNvSpPr txBox="1"/>
          <p:nvPr/>
        </p:nvSpPr>
        <p:spPr>
          <a:xfrm>
            <a:off x="4863253" y="4268801"/>
            <a:ext cx="4091094"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overall efficiency of the system is given as:</a:t>
            </a:r>
          </a:p>
          <a:p>
            <a:pPr marL="171450" indent="-171450">
              <a:buFont typeface="Arial" panose="020B0604020202020204" pitchFamily="34" charset="0"/>
              <a:buChar char="•"/>
            </a:pPr>
            <a:endParaRPr lang="en-IN" sz="1100" dirty="0"/>
          </a:p>
        </p:txBody>
      </p:sp>
      <p:pic>
        <p:nvPicPr>
          <p:cNvPr id="16" name="Picture 15">
            <a:extLst>
              <a:ext uri="{FF2B5EF4-FFF2-40B4-BE49-F238E27FC236}">
                <a16:creationId xmlns:a16="http://schemas.microsoft.com/office/drawing/2014/main" id="{4F51CAE7-3A45-5617-7552-CFC73A5407CC}"/>
              </a:ext>
            </a:extLst>
          </p:cNvPr>
          <p:cNvPicPr>
            <a:picLocks noChangeAspect="1"/>
          </p:cNvPicPr>
          <p:nvPr/>
        </p:nvPicPr>
        <p:blipFill>
          <a:blip r:embed="rId6"/>
          <a:stretch>
            <a:fillRect/>
          </a:stretch>
        </p:blipFill>
        <p:spPr>
          <a:xfrm>
            <a:off x="5778447" y="4513269"/>
            <a:ext cx="2417286" cy="6224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20867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0EAE17A-AD2C-11C6-78B8-FFF5F51A5E6A}"/>
              </a:ext>
            </a:extLst>
          </p:cNvPr>
          <p:cNvSpPr>
            <a:spLocks noGrp="1"/>
          </p:cNvSpPr>
          <p:nvPr>
            <p:ph type="title"/>
          </p:nvPr>
        </p:nvSpPr>
        <p:spPr>
          <a:xfrm>
            <a:off x="0" y="465111"/>
            <a:ext cx="9144000" cy="801290"/>
          </a:xfrm>
        </p:spPr>
        <p:txBody>
          <a:bodyPr/>
          <a:lstStyle/>
          <a:p>
            <a:r>
              <a:rPr lang="en-IN" sz="3200" u="sng" dirty="0"/>
              <a:t>Mathematical Model of a Proton-Exchange Membrane (PEM) Fuel Cell – Test Setup</a:t>
            </a:r>
            <a:endParaRPr lang="en-IN" dirty="0"/>
          </a:p>
        </p:txBody>
      </p:sp>
      <p:sp>
        <p:nvSpPr>
          <p:cNvPr id="4" name="TextBox 3">
            <a:extLst>
              <a:ext uri="{FF2B5EF4-FFF2-40B4-BE49-F238E27FC236}">
                <a16:creationId xmlns:a16="http://schemas.microsoft.com/office/drawing/2014/main" id="{AFFE50A4-69CF-583D-4834-D1BCCAEFD816}"/>
              </a:ext>
            </a:extLst>
          </p:cNvPr>
          <p:cNvSpPr txBox="1"/>
          <p:nvPr/>
        </p:nvSpPr>
        <p:spPr>
          <a:xfrm>
            <a:off x="203200" y="1429173"/>
            <a:ext cx="3379893" cy="3416320"/>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H-500XP PEM fuel cell stack has 30 cells, delivering up to 600 W, with an operating current range of 0–33.5 A and a voltage range of 15–28.8 V.</a:t>
            </a:r>
          </a:p>
          <a:p>
            <a:pPr marL="171450" indent="-171450">
              <a:buFont typeface="Arial" panose="020B0604020202020204" pitchFamily="34" charset="0"/>
              <a:buChar char="•"/>
            </a:pPr>
            <a:r>
              <a:rPr lang="en-US" sz="1200" dirty="0"/>
              <a:t>The stack is self-humidified, using high-purity hydrogen (99.99% dry H₂) and air for the reaction, with cooling provided by two axial fans.</a:t>
            </a:r>
          </a:p>
          <a:p>
            <a:pPr marL="171450" indent="-171450">
              <a:buFont typeface="Arial" panose="020B0604020202020204" pitchFamily="34" charset="0"/>
              <a:buChar char="•"/>
            </a:pPr>
            <a:r>
              <a:rPr lang="en-US" sz="1200" dirty="0"/>
              <a:t>Key components include a hydrogen cylinder, purging valves, battery, supercapacitor bank, boost converter, external load bank, and system controller.</a:t>
            </a:r>
          </a:p>
          <a:p>
            <a:pPr marL="171450" indent="-171450">
              <a:buFont typeface="Arial" panose="020B0604020202020204" pitchFamily="34" charset="0"/>
              <a:buChar char="•"/>
            </a:pPr>
            <a:r>
              <a:rPr lang="en-US" sz="1200" dirty="0"/>
              <a:t>The controller regulates stack temperature via fan speed, manages fuel purging and supply, and prevents over-current, low voltage, and overheating.</a:t>
            </a:r>
          </a:p>
          <a:p>
            <a:pPr marL="171450" indent="-171450">
              <a:buFont typeface="Arial" panose="020B0604020202020204" pitchFamily="34" charset="0"/>
              <a:buChar char="•"/>
            </a:pPr>
            <a:r>
              <a:rPr lang="en-US" sz="1200" dirty="0"/>
              <a:t>A DC boost converter maintains a stable 48 V output across the load, with power dissipated as heat in resistive loads through the Joule effect.</a:t>
            </a:r>
            <a:endParaRPr lang="en-IN" sz="1200" dirty="0"/>
          </a:p>
        </p:txBody>
      </p:sp>
      <p:pic>
        <p:nvPicPr>
          <p:cNvPr id="6" name="Picture 5">
            <a:extLst>
              <a:ext uri="{FF2B5EF4-FFF2-40B4-BE49-F238E27FC236}">
                <a16:creationId xmlns:a16="http://schemas.microsoft.com/office/drawing/2014/main" id="{8CF40C70-FDCA-2E82-E878-73433B5AA19A}"/>
              </a:ext>
            </a:extLst>
          </p:cNvPr>
          <p:cNvPicPr>
            <a:picLocks noChangeAspect="1"/>
          </p:cNvPicPr>
          <p:nvPr/>
        </p:nvPicPr>
        <p:blipFill>
          <a:blip r:embed="rId2"/>
          <a:stretch>
            <a:fillRect/>
          </a:stretch>
        </p:blipFill>
        <p:spPr>
          <a:xfrm>
            <a:off x="3583093" y="1524491"/>
            <a:ext cx="5559777" cy="2424361"/>
          </a:xfrm>
          <a:prstGeom prst="rect">
            <a:avLst/>
          </a:prstGeom>
        </p:spPr>
      </p:pic>
    </p:spTree>
    <p:extLst>
      <p:ext uri="{BB962C8B-B14F-4D97-AF65-F5344CB8AC3E}">
        <p14:creationId xmlns:p14="http://schemas.microsoft.com/office/powerpoint/2010/main" val="420889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6B532-A3A4-62B3-41E1-54D3317C146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00CEEE5-DAAB-117F-7837-3E296A631034}"/>
              </a:ext>
            </a:extLst>
          </p:cNvPr>
          <p:cNvSpPr>
            <a:spLocks noGrp="1"/>
          </p:cNvSpPr>
          <p:nvPr>
            <p:ph type="title"/>
          </p:nvPr>
        </p:nvSpPr>
        <p:spPr>
          <a:xfrm>
            <a:off x="0" y="465111"/>
            <a:ext cx="9144000" cy="801290"/>
          </a:xfrm>
        </p:spPr>
        <p:txBody>
          <a:bodyPr/>
          <a:lstStyle/>
          <a:p>
            <a:r>
              <a:rPr lang="en-IN" sz="3200" u="sng" dirty="0"/>
              <a:t>Mathematical Model of a Proton-Exchange Membrane (PEM) Fuel Cell – Test Method</a:t>
            </a:r>
            <a:endParaRPr lang="en-IN" dirty="0"/>
          </a:p>
        </p:txBody>
      </p:sp>
      <p:sp>
        <p:nvSpPr>
          <p:cNvPr id="4" name="TextBox 3">
            <a:extLst>
              <a:ext uri="{FF2B5EF4-FFF2-40B4-BE49-F238E27FC236}">
                <a16:creationId xmlns:a16="http://schemas.microsoft.com/office/drawing/2014/main" id="{7371112D-F577-4F6E-7052-8A60D8B6850B}"/>
              </a:ext>
            </a:extLst>
          </p:cNvPr>
          <p:cNvSpPr txBox="1"/>
          <p:nvPr/>
        </p:nvSpPr>
        <p:spPr>
          <a:xfrm>
            <a:off x="203200" y="1429173"/>
            <a:ext cx="4165600" cy="1938992"/>
          </a:xfrm>
          <a:prstGeom prst="rect">
            <a:avLst/>
          </a:prstGeom>
          <a:noFill/>
        </p:spPr>
        <p:txBody>
          <a:bodyPr wrap="square" rtlCol="0">
            <a:spAutoFit/>
          </a:bodyPr>
          <a:lstStyle/>
          <a:p>
            <a:pPr marL="171450" indent="-171450">
              <a:buFont typeface="Arial" panose="020B0604020202020204" pitchFamily="34" charset="0"/>
              <a:buChar char="•"/>
            </a:pPr>
            <a:r>
              <a:rPr lang="en-US" sz="1200" dirty="0"/>
              <a:t>The hydrogen supply is regulated at 1.5 bar absolute, and the system is monitored using dedicated software.</a:t>
            </a:r>
          </a:p>
          <a:p>
            <a:pPr marL="171450" indent="-171450">
              <a:buFont typeface="Arial" panose="020B0604020202020204" pitchFamily="34" charset="0"/>
              <a:buChar char="•"/>
            </a:pPr>
            <a:r>
              <a:rPr lang="en-US" sz="1200" dirty="0"/>
              <a:t>Load variation is controlled from open circuit to a minimum resistance of 4.63 Ω, with a 1-minute stabilization period before recording data.</a:t>
            </a:r>
          </a:p>
          <a:p>
            <a:pPr marL="171450" indent="-171450">
              <a:buFont typeface="Arial" panose="020B0604020202020204" pitchFamily="34" charset="0"/>
              <a:buChar char="•"/>
            </a:pPr>
            <a:r>
              <a:rPr lang="en-US" sz="1200" dirty="0"/>
              <a:t>Measurements are taken over 5 minutes per load, including stack voltage, current, power, temperature, and battery voltage.</a:t>
            </a:r>
          </a:p>
          <a:p>
            <a:pPr marL="171450" indent="-171450">
              <a:buFont typeface="Arial" panose="020B0604020202020204" pitchFamily="34" charset="0"/>
              <a:buChar char="•"/>
            </a:pPr>
            <a:r>
              <a:rPr lang="en-US" sz="1200" dirty="0"/>
              <a:t>A digital flowmeter records the hydrogen flow rate between the cylinder and the stack inlet.</a:t>
            </a:r>
            <a:endParaRPr lang="en-IN" sz="1200" dirty="0"/>
          </a:p>
        </p:txBody>
      </p:sp>
      <p:pic>
        <p:nvPicPr>
          <p:cNvPr id="7" name="Picture 6">
            <a:extLst>
              <a:ext uri="{FF2B5EF4-FFF2-40B4-BE49-F238E27FC236}">
                <a16:creationId xmlns:a16="http://schemas.microsoft.com/office/drawing/2014/main" id="{10834D5B-3692-DA0C-E6E6-E5A310A57BCA}"/>
              </a:ext>
            </a:extLst>
          </p:cNvPr>
          <p:cNvPicPr>
            <a:picLocks noChangeAspect="1"/>
          </p:cNvPicPr>
          <p:nvPr/>
        </p:nvPicPr>
        <p:blipFill>
          <a:blip r:embed="rId2"/>
          <a:stretch>
            <a:fillRect/>
          </a:stretch>
        </p:blipFill>
        <p:spPr>
          <a:xfrm>
            <a:off x="4368800" y="2079413"/>
            <a:ext cx="4654481" cy="2338040"/>
          </a:xfrm>
          <a:prstGeom prst="rect">
            <a:avLst/>
          </a:prstGeom>
        </p:spPr>
      </p:pic>
    </p:spTree>
    <p:extLst>
      <p:ext uri="{BB962C8B-B14F-4D97-AF65-F5344CB8AC3E}">
        <p14:creationId xmlns:p14="http://schemas.microsoft.com/office/powerpoint/2010/main" val="3676144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7E5A7-693E-D460-BA2A-F9D2120565D8}"/>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2B0002A-B242-60A9-3C3D-642A0173D96F}"/>
              </a:ext>
            </a:extLst>
          </p:cNvPr>
          <p:cNvSpPr>
            <a:spLocks noGrp="1"/>
          </p:cNvSpPr>
          <p:nvPr>
            <p:ph type="title"/>
          </p:nvPr>
        </p:nvSpPr>
        <p:spPr>
          <a:xfrm>
            <a:off x="0" y="465111"/>
            <a:ext cx="9144000" cy="801290"/>
          </a:xfrm>
        </p:spPr>
        <p:txBody>
          <a:bodyPr/>
          <a:lstStyle/>
          <a:p>
            <a:r>
              <a:rPr lang="en-IN" sz="3200" u="sng" dirty="0"/>
              <a:t>Mathematical Model of a Proton-Exchange Membrane (PEM) Fuel Cell – Results</a:t>
            </a:r>
            <a:endParaRPr lang="en-IN" dirty="0"/>
          </a:p>
        </p:txBody>
      </p:sp>
      <p:pic>
        <p:nvPicPr>
          <p:cNvPr id="5" name="Picture 4">
            <a:extLst>
              <a:ext uri="{FF2B5EF4-FFF2-40B4-BE49-F238E27FC236}">
                <a16:creationId xmlns:a16="http://schemas.microsoft.com/office/drawing/2014/main" id="{EC08458B-47CF-875D-8BC1-0D84045B2C54}"/>
              </a:ext>
            </a:extLst>
          </p:cNvPr>
          <p:cNvPicPr>
            <a:picLocks noChangeAspect="1"/>
          </p:cNvPicPr>
          <p:nvPr/>
        </p:nvPicPr>
        <p:blipFill>
          <a:blip r:embed="rId2"/>
          <a:stretch>
            <a:fillRect/>
          </a:stretch>
        </p:blipFill>
        <p:spPr>
          <a:xfrm>
            <a:off x="0" y="1354666"/>
            <a:ext cx="2252631" cy="1971053"/>
          </a:xfrm>
          <a:prstGeom prst="rect">
            <a:avLst/>
          </a:prstGeom>
        </p:spPr>
      </p:pic>
      <p:pic>
        <p:nvPicPr>
          <p:cNvPr id="8" name="Picture 7">
            <a:extLst>
              <a:ext uri="{FF2B5EF4-FFF2-40B4-BE49-F238E27FC236}">
                <a16:creationId xmlns:a16="http://schemas.microsoft.com/office/drawing/2014/main" id="{87A1A45E-A76D-B86C-4124-23B299AAD1F7}"/>
              </a:ext>
            </a:extLst>
          </p:cNvPr>
          <p:cNvPicPr>
            <a:picLocks noChangeAspect="1"/>
          </p:cNvPicPr>
          <p:nvPr/>
        </p:nvPicPr>
        <p:blipFill>
          <a:blip r:embed="rId3"/>
          <a:stretch>
            <a:fillRect/>
          </a:stretch>
        </p:blipFill>
        <p:spPr>
          <a:xfrm>
            <a:off x="3445684" y="1399735"/>
            <a:ext cx="2252631" cy="1949043"/>
          </a:xfrm>
          <a:prstGeom prst="rect">
            <a:avLst/>
          </a:prstGeom>
        </p:spPr>
      </p:pic>
      <p:pic>
        <p:nvPicPr>
          <p:cNvPr id="10" name="Picture 9">
            <a:extLst>
              <a:ext uri="{FF2B5EF4-FFF2-40B4-BE49-F238E27FC236}">
                <a16:creationId xmlns:a16="http://schemas.microsoft.com/office/drawing/2014/main" id="{3C730CD6-59AA-C9D1-6A31-D89AA9E4BE74}"/>
              </a:ext>
            </a:extLst>
          </p:cNvPr>
          <p:cNvPicPr>
            <a:picLocks noChangeAspect="1"/>
          </p:cNvPicPr>
          <p:nvPr/>
        </p:nvPicPr>
        <p:blipFill>
          <a:blip r:embed="rId4"/>
          <a:stretch>
            <a:fillRect/>
          </a:stretch>
        </p:blipFill>
        <p:spPr>
          <a:xfrm>
            <a:off x="6764569" y="1377726"/>
            <a:ext cx="2379431" cy="1949043"/>
          </a:xfrm>
          <a:prstGeom prst="rect">
            <a:avLst/>
          </a:prstGeom>
        </p:spPr>
      </p:pic>
      <p:sp>
        <p:nvSpPr>
          <p:cNvPr id="15" name="TextBox 14">
            <a:extLst>
              <a:ext uri="{FF2B5EF4-FFF2-40B4-BE49-F238E27FC236}">
                <a16:creationId xmlns:a16="http://schemas.microsoft.com/office/drawing/2014/main" id="{02584853-248F-A760-ADB8-5DF35D8F9B7A}"/>
              </a:ext>
            </a:extLst>
          </p:cNvPr>
          <p:cNvSpPr txBox="1"/>
          <p:nvPr/>
        </p:nvSpPr>
        <p:spPr>
          <a:xfrm>
            <a:off x="0" y="3326769"/>
            <a:ext cx="2953173" cy="1708160"/>
          </a:xfrm>
          <a:prstGeom prst="rect">
            <a:avLst/>
          </a:prstGeom>
          <a:noFill/>
        </p:spPr>
        <p:txBody>
          <a:bodyPr wrap="square" rtlCol="0">
            <a:spAutoFit/>
          </a:bodyPr>
          <a:lstStyle/>
          <a:p>
            <a:pPr marL="171450" indent="-171450">
              <a:buFont typeface="Arial" panose="020B0604020202020204" pitchFamily="34" charset="0"/>
              <a:buChar char="•"/>
            </a:pPr>
            <a:r>
              <a:rPr lang="en-US" sz="1050" dirty="0"/>
              <a:t>The polarization curve represents the steady-state behavior of the fuel cell, showing a close match between model predictions and experimental results.</a:t>
            </a:r>
          </a:p>
          <a:p>
            <a:pPr marL="171450" indent="-171450">
              <a:buFont typeface="Arial" panose="020B0604020202020204" pitchFamily="34" charset="0"/>
              <a:buChar char="•"/>
            </a:pPr>
            <a:r>
              <a:rPr lang="en-US" sz="1050" dirty="0"/>
              <a:t>The maximum discrepancy between the model and experiments is 3.1%, indicating good agreement.</a:t>
            </a:r>
          </a:p>
          <a:p>
            <a:pPr marL="171450" indent="-171450">
              <a:buFont typeface="Arial" panose="020B0604020202020204" pitchFamily="34" charset="0"/>
              <a:buChar char="•"/>
            </a:pPr>
            <a:r>
              <a:rPr lang="en-US" sz="1050" dirty="0"/>
              <a:t>At the lowest external load resistance of 4.63 Ω, the fuel cell reaches a maximum current of 29.2 A at 19.67 V, producing 574.4 W of power.</a:t>
            </a:r>
            <a:endParaRPr lang="en-IN" sz="1050" dirty="0"/>
          </a:p>
        </p:txBody>
      </p:sp>
      <p:sp>
        <p:nvSpPr>
          <p:cNvPr id="18" name="TextBox 17">
            <a:extLst>
              <a:ext uri="{FF2B5EF4-FFF2-40B4-BE49-F238E27FC236}">
                <a16:creationId xmlns:a16="http://schemas.microsoft.com/office/drawing/2014/main" id="{AA364644-C50F-600C-B22E-FC570E32DBEB}"/>
              </a:ext>
            </a:extLst>
          </p:cNvPr>
          <p:cNvSpPr txBox="1"/>
          <p:nvPr/>
        </p:nvSpPr>
        <p:spPr>
          <a:xfrm>
            <a:off x="2953173" y="3326769"/>
            <a:ext cx="2953173" cy="1708160"/>
          </a:xfrm>
          <a:prstGeom prst="rect">
            <a:avLst/>
          </a:prstGeom>
          <a:noFill/>
        </p:spPr>
        <p:txBody>
          <a:bodyPr wrap="square" rtlCol="0">
            <a:spAutoFit/>
          </a:bodyPr>
          <a:lstStyle/>
          <a:p>
            <a:pPr marL="171450" indent="-171450">
              <a:buFont typeface="Arial" panose="020B0604020202020204" pitchFamily="34" charset="0"/>
              <a:buChar char="•"/>
            </a:pPr>
            <a:r>
              <a:rPr lang="en-US" sz="1050" dirty="0"/>
              <a:t>As the external load resistance decreases, the stack output power increases, following similar trends in both model and experimental results.</a:t>
            </a:r>
          </a:p>
          <a:p>
            <a:pPr marL="171450" indent="-171450">
              <a:buFont typeface="Arial" panose="020B0604020202020204" pitchFamily="34" charset="0"/>
              <a:buChar char="•"/>
            </a:pPr>
            <a:r>
              <a:rPr lang="en-US" sz="1050" dirty="0"/>
              <a:t>The maximum discrepancy observed between the model and experiments is 5.7%, showing reasonably accurate predictions.</a:t>
            </a:r>
          </a:p>
          <a:p>
            <a:pPr marL="171450" indent="-171450">
              <a:buFont typeface="Arial" panose="020B0604020202020204" pitchFamily="34" charset="0"/>
              <a:buChar char="•"/>
            </a:pPr>
            <a:r>
              <a:rPr lang="en-US" sz="1050" dirty="0"/>
              <a:t>Higher power demand results in increased hydrogen consumption, with a linear dependence between stack current and hydrogen flow rate.</a:t>
            </a:r>
            <a:endParaRPr lang="en-IN" sz="1050" dirty="0"/>
          </a:p>
        </p:txBody>
      </p:sp>
      <p:sp>
        <p:nvSpPr>
          <p:cNvPr id="19" name="TextBox 18">
            <a:extLst>
              <a:ext uri="{FF2B5EF4-FFF2-40B4-BE49-F238E27FC236}">
                <a16:creationId xmlns:a16="http://schemas.microsoft.com/office/drawing/2014/main" id="{087F4645-02E4-8099-1833-86B825FC5F8B}"/>
              </a:ext>
            </a:extLst>
          </p:cNvPr>
          <p:cNvSpPr txBox="1"/>
          <p:nvPr/>
        </p:nvSpPr>
        <p:spPr>
          <a:xfrm>
            <a:off x="6018107" y="3326769"/>
            <a:ext cx="2953173" cy="2677656"/>
          </a:xfrm>
          <a:prstGeom prst="rect">
            <a:avLst/>
          </a:prstGeom>
          <a:noFill/>
        </p:spPr>
        <p:txBody>
          <a:bodyPr wrap="square" rtlCol="0">
            <a:spAutoFit/>
          </a:bodyPr>
          <a:lstStyle/>
          <a:p>
            <a:pPr marL="171450" indent="-171450">
              <a:buFont typeface="Arial" panose="020B0604020202020204" pitchFamily="34" charset="0"/>
              <a:buChar char="•"/>
            </a:pPr>
            <a:r>
              <a:rPr lang="en-US" sz="1050" dirty="0"/>
              <a:t>The peak efficiency is observed at around 50% of the rated power output, reaching 47.6% (model) and 48.6% (experiment).</a:t>
            </a:r>
          </a:p>
          <a:p>
            <a:pPr marL="171450" indent="-171450">
              <a:buFont typeface="Arial" panose="020B0604020202020204" pitchFamily="34" charset="0"/>
              <a:buChar char="•"/>
            </a:pPr>
            <a:r>
              <a:rPr lang="en-US" sz="1050" dirty="0"/>
              <a:t>Efficiency declines at higher power levels due to increased system losses, but the model remains within a 4.6% discrepancy from experimental data.</a:t>
            </a:r>
          </a:p>
          <a:p>
            <a:pPr marL="171450" indent="-171450">
              <a:buFont typeface="Arial" panose="020B0604020202020204" pitchFamily="34" charset="0"/>
              <a:buChar char="•"/>
            </a:pPr>
            <a:r>
              <a:rPr lang="en-US" sz="1050" dirty="0"/>
              <a:t>Further improvements, such as optimizing stack temperature, could enhance efficiency while balancing operational costs.</a:t>
            </a:r>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endParaRPr lang="en-US" sz="1050" dirty="0"/>
          </a:p>
          <a:p>
            <a:pPr marL="171450" indent="-171450">
              <a:buFont typeface="Arial" panose="020B0604020202020204" pitchFamily="34" charset="0"/>
              <a:buChar char="•"/>
            </a:pPr>
            <a:endParaRPr lang="en-US" sz="1050" dirty="0"/>
          </a:p>
          <a:p>
            <a:endParaRPr lang="en-US" sz="1050" dirty="0"/>
          </a:p>
        </p:txBody>
      </p:sp>
    </p:spTree>
    <p:extLst>
      <p:ext uri="{BB962C8B-B14F-4D97-AF65-F5344CB8AC3E}">
        <p14:creationId xmlns:p14="http://schemas.microsoft.com/office/powerpoint/2010/main" val="3883653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78B3C-6EAA-C789-3CC0-31439049FE65}"/>
              </a:ext>
            </a:extLst>
          </p:cNvPr>
          <p:cNvSpPr>
            <a:spLocks noGrp="1"/>
          </p:cNvSpPr>
          <p:nvPr>
            <p:ph type="title"/>
          </p:nvPr>
        </p:nvSpPr>
        <p:spPr>
          <a:xfrm>
            <a:off x="457200" y="546662"/>
            <a:ext cx="2632841" cy="801290"/>
          </a:xfrm>
        </p:spPr>
        <p:txBody>
          <a:bodyPr/>
          <a:lstStyle/>
          <a:p>
            <a:r>
              <a:rPr lang="en-US" u="sng" dirty="0"/>
              <a:t>References:</a:t>
            </a:r>
            <a:endParaRPr lang="en-IN" u="sng" dirty="0"/>
          </a:p>
        </p:txBody>
      </p:sp>
      <p:sp>
        <p:nvSpPr>
          <p:cNvPr id="3" name="Content Placeholder 2">
            <a:extLst>
              <a:ext uri="{FF2B5EF4-FFF2-40B4-BE49-F238E27FC236}">
                <a16:creationId xmlns:a16="http://schemas.microsoft.com/office/drawing/2014/main" id="{0508B4F8-FFD0-9F7E-46BB-E15A01513AB2}"/>
              </a:ext>
            </a:extLst>
          </p:cNvPr>
          <p:cNvSpPr>
            <a:spLocks noGrp="1"/>
          </p:cNvSpPr>
          <p:nvPr>
            <p:ph idx="1"/>
          </p:nvPr>
        </p:nvSpPr>
        <p:spPr>
          <a:xfrm>
            <a:off x="457200" y="1347952"/>
            <a:ext cx="8229600" cy="3246670"/>
          </a:xfrm>
        </p:spPr>
        <p:txBody>
          <a:bodyPr/>
          <a:lstStyle/>
          <a:p>
            <a:pPr>
              <a:buFont typeface="+mj-lt"/>
              <a:buAutoNum type="arabicPeriod"/>
            </a:pPr>
            <a:r>
              <a:rPr lang="en-IN" sz="1100" dirty="0">
                <a:hlinkClick r:id="rId2"/>
              </a:rPr>
              <a:t>https://www.materialsciencejournal.org/vol17no2/effect-of-temperature-on-the-performance-factors-and-durability-of-proton-exchange-membrane-of-hydrogen-fuel-cell-a-narrative-review/</a:t>
            </a:r>
            <a:endParaRPr lang="en-IN" sz="1100" dirty="0"/>
          </a:p>
          <a:p>
            <a:pPr>
              <a:buFont typeface="+mj-lt"/>
              <a:buAutoNum type="arabicPeriod"/>
            </a:pPr>
            <a:r>
              <a:rPr lang="en-IN" sz="1100" dirty="0">
                <a:hlinkClick r:id="rId3"/>
              </a:rPr>
              <a:t>https://www.mathworks.com/help/simscape-battery/ref/battery_equivalent_circuit_eq_circ.png</a:t>
            </a:r>
            <a:endParaRPr lang="en-IN" sz="1100" dirty="0"/>
          </a:p>
          <a:p>
            <a:pPr>
              <a:buFont typeface="+mj-lt"/>
              <a:buAutoNum type="arabicPeriod"/>
            </a:pPr>
            <a:r>
              <a:rPr lang="en-IN" sz="1100" dirty="0">
                <a:hlinkClick r:id="rId4"/>
              </a:rPr>
              <a:t>https://www.ufinebattery.com/blog/drone-batteries-everything-you-need-to-know/</a:t>
            </a:r>
            <a:endParaRPr lang="en-IN" sz="1100" dirty="0"/>
          </a:p>
          <a:p>
            <a:pPr>
              <a:buFont typeface="+mj-lt"/>
              <a:buAutoNum type="arabicPeriod"/>
            </a:pPr>
            <a:r>
              <a:rPr lang="en-IN" sz="1100" dirty="0">
                <a:hlinkClick r:id="rId5"/>
              </a:rPr>
              <a:t>https://encrypted-tbn0.gstatic.com/images?q=tbn:ANd9GcT6kA8P3x9AP0CHlhJGe0KIkXjnj0ySXrv_Ng&amp;s</a:t>
            </a:r>
            <a:endParaRPr lang="en-IN" sz="1100" dirty="0"/>
          </a:p>
          <a:p>
            <a:pPr>
              <a:buFont typeface="+mj-lt"/>
              <a:buAutoNum type="arabicPeriod"/>
            </a:pPr>
            <a:r>
              <a:rPr lang="en-IN" sz="1100" dirty="0">
                <a:hlinkClick r:id="rId6"/>
              </a:rPr>
              <a:t>https://papers.ssrn.com/sol3/papers.cfm?abstract_id=4324196</a:t>
            </a:r>
            <a:endParaRPr lang="en-IN" sz="1100" dirty="0"/>
          </a:p>
          <a:p>
            <a:pPr>
              <a:buFont typeface="+mj-lt"/>
              <a:buAutoNum type="arabicPeriod"/>
            </a:pPr>
            <a:r>
              <a:rPr lang="en-IN" sz="1100" dirty="0">
                <a:hlinkClick r:id="rId7"/>
              </a:rPr>
              <a:t>https://www.researchgate.net/publication/224160572_DC-bus_power_quality_for_UAV_systems_during_generator_fault_conditions</a:t>
            </a:r>
            <a:endParaRPr lang="en-IN" sz="1100" dirty="0"/>
          </a:p>
          <a:p>
            <a:pPr>
              <a:buFont typeface="+mj-lt"/>
              <a:buAutoNum type="arabicPeriod"/>
            </a:pPr>
            <a:r>
              <a:rPr lang="en-IN" sz="1100" dirty="0">
                <a:hlinkClick r:id="rId8"/>
              </a:rPr>
              <a:t>https://ieeexplore.ieee.org/stamp/stamp.jsp?tp=&amp;arnumber=8790566</a:t>
            </a:r>
            <a:endParaRPr lang="en-IN" sz="1100" dirty="0"/>
          </a:p>
          <a:p>
            <a:pPr>
              <a:buFont typeface="+mj-lt"/>
              <a:buAutoNum type="arabicPeriod"/>
            </a:pPr>
            <a:r>
              <a:rPr lang="en-IN" sz="1100" dirty="0">
                <a:hlinkClick r:id="rId9"/>
              </a:rPr>
              <a:t>https://www.sciencedirect.com/science/article/pii/S1361920920308531</a:t>
            </a:r>
            <a:endParaRPr lang="en-IN" sz="1100" dirty="0"/>
          </a:p>
          <a:p>
            <a:pPr>
              <a:buFont typeface="+mj-lt"/>
              <a:buAutoNum type="arabicPeriod"/>
            </a:pPr>
            <a:r>
              <a:rPr lang="en-IN" sz="1100" dirty="0">
                <a:hlinkClick r:id="rId10"/>
              </a:rPr>
              <a:t>https://www.mdpi.com/1996-1073/16/3/1306#:~:text=SPMSMs%20use%20only%20magnetic%20torque,wide%20compared%20with%20the%20SPMSM</a:t>
            </a:r>
            <a:endParaRPr lang="en-IN" sz="1100" dirty="0"/>
          </a:p>
          <a:p>
            <a:pPr>
              <a:buFont typeface="+mj-lt"/>
              <a:buAutoNum type="arabicPeriod"/>
            </a:pPr>
            <a:r>
              <a:rPr lang="en-IN" sz="1100" dirty="0">
                <a:hlinkClick r:id="rId9"/>
              </a:rPr>
              <a:t>https://www.sciencedirect.com/science/article/pii/S1361920920308531</a:t>
            </a:r>
            <a:endParaRPr lang="en-IN" sz="1100" dirty="0"/>
          </a:p>
          <a:p>
            <a:pPr>
              <a:buFont typeface="+mj-lt"/>
              <a:buAutoNum type="arabicPeriod"/>
            </a:pPr>
            <a:r>
              <a:rPr lang="en-IN" sz="1100" dirty="0">
                <a:hlinkClick r:id="rId11"/>
              </a:rPr>
              <a:t>https://www.sciencedirect.com/science/article/pii/S2666202721000483?ref=pdf_download&amp;fr=RR-2&amp;rr=909f81bf0d50b06f</a:t>
            </a:r>
            <a:endParaRPr lang="en-IN" sz="1100" dirty="0"/>
          </a:p>
          <a:p>
            <a:pPr marL="0" indent="0">
              <a:buNone/>
            </a:pPr>
            <a:endParaRPr lang="en-IN" sz="1100" dirty="0"/>
          </a:p>
          <a:p>
            <a:pPr>
              <a:buFont typeface="+mj-lt"/>
              <a:buAutoNum type="arabicPeriod"/>
            </a:pPr>
            <a:endParaRPr lang="en-IN" sz="1100" dirty="0"/>
          </a:p>
          <a:p>
            <a:pPr>
              <a:buFont typeface="+mj-lt"/>
              <a:buAutoNum type="arabicPeriod"/>
            </a:pPr>
            <a:endParaRPr lang="en-IN" sz="1100" dirty="0"/>
          </a:p>
          <a:p>
            <a:pPr>
              <a:buFont typeface="+mj-lt"/>
              <a:buAutoNum type="arabicPeriod"/>
            </a:pPr>
            <a:endParaRPr lang="en-IN" sz="1100" dirty="0"/>
          </a:p>
          <a:p>
            <a:pPr>
              <a:buFont typeface="+mj-lt"/>
              <a:buAutoNum type="arabicPeriod"/>
            </a:pPr>
            <a:endParaRPr lang="en-IN" sz="1100" dirty="0"/>
          </a:p>
          <a:p>
            <a:pPr>
              <a:buFont typeface="+mj-lt"/>
              <a:buAutoNum type="arabicPeriod"/>
            </a:pPr>
            <a:endParaRPr lang="en-IN" sz="1100" dirty="0"/>
          </a:p>
        </p:txBody>
      </p:sp>
    </p:spTree>
    <p:extLst>
      <p:ext uri="{BB962C8B-B14F-4D97-AF65-F5344CB8AC3E}">
        <p14:creationId xmlns:p14="http://schemas.microsoft.com/office/powerpoint/2010/main" val="2116648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73B0FF-A25E-C12B-CF53-71CAF74911B1}"/>
              </a:ext>
            </a:extLst>
          </p:cNvPr>
          <p:cNvPicPr>
            <a:picLocks noChangeAspect="1"/>
          </p:cNvPicPr>
          <p:nvPr/>
        </p:nvPicPr>
        <p:blipFill>
          <a:blip r:embed="rId2"/>
          <a:stretch>
            <a:fillRect/>
          </a:stretch>
        </p:blipFill>
        <p:spPr>
          <a:xfrm>
            <a:off x="1904403" y="1038153"/>
            <a:ext cx="5005161" cy="3525858"/>
          </a:xfrm>
          <a:prstGeom prst="rect">
            <a:avLst/>
          </a:prstGeom>
        </p:spPr>
      </p:pic>
    </p:spTree>
    <p:extLst>
      <p:ext uri="{BB962C8B-B14F-4D97-AF65-F5344CB8AC3E}">
        <p14:creationId xmlns:p14="http://schemas.microsoft.com/office/powerpoint/2010/main" val="1550164044"/>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ncstate-ppt-template-16x9-horizontal-left-brick</Template>
  <TotalTime>2012</TotalTime>
  <Words>3783</Words>
  <Application>Microsoft Office PowerPoint</Application>
  <PresentationFormat>On-screen Show (16:9)</PresentationFormat>
  <Paragraphs>319</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 Math</vt:lpstr>
      <vt:lpstr>Wingdings</vt:lpstr>
      <vt:lpstr>NCStateU-horizontal-left-logo</vt:lpstr>
      <vt:lpstr>Powering The Modern UAV Architecture</vt:lpstr>
      <vt:lpstr>General Architecture</vt:lpstr>
      <vt:lpstr>The AIM for Research</vt:lpstr>
      <vt:lpstr>Power Management Architecture</vt:lpstr>
      <vt:lpstr>Energy Consumption Systems for UAV’s</vt:lpstr>
      <vt:lpstr>The Power Source</vt:lpstr>
      <vt:lpstr>Power Delivery</vt:lpstr>
      <vt:lpstr>Motors and Associated Modelling</vt:lpstr>
      <vt:lpstr>PowerPoint Presentation</vt:lpstr>
      <vt:lpstr>PowerPoint Presentation</vt:lpstr>
      <vt:lpstr>Analysis and Modeling of UAV Power System Architectures - Introduction</vt:lpstr>
      <vt:lpstr>Analysis and Modeling of UAV Power System Architectures – PMSM Motor Analysis</vt:lpstr>
      <vt:lpstr>Analysis and Modeling of UAV Power System Architectures – DC-AC Inverter Analysis</vt:lpstr>
      <vt:lpstr>Analysis and Modeling of UAV Power System Architectures – Boost and Half Converter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Mathematical model of a proton-exchange membrane (PEM) fuel cell</vt:lpstr>
      <vt:lpstr>Mathematical Model of a Proton-Exchange Membrane (PEM) Fuel Cell</vt:lpstr>
      <vt:lpstr>Mathematical Model of a Proton-Exchange Membrane (PEM) Fuel Cell – Analytical Equations</vt:lpstr>
      <vt:lpstr>Mathematical Model of a Proton-Exchange Membrane (PEM) Fuel Cell – Analytical Equations</vt:lpstr>
      <vt:lpstr>Mathematical Model of a Proton-Exchange Membrane (PEM) Fuel Cell – Boost Converter</vt:lpstr>
      <vt:lpstr>Mathematical Model of a Proton-Exchange Membrane (PEM) Fuel Cell – Test Setup</vt:lpstr>
      <vt:lpstr>Mathematical Model of a Proton-Exchange Membrane (PEM) Fuel Cell – Test Method</vt:lpstr>
      <vt:lpstr>Mathematical Model of a Proton-Exchange Membrane (PEM) Fuel Cell – Results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Deshpande</dc:creator>
  <cp:lastModifiedBy>Abhishek Deshpande</cp:lastModifiedBy>
  <cp:revision>16</cp:revision>
  <dcterms:created xsi:type="dcterms:W3CDTF">2025-01-24T02:54:45Z</dcterms:created>
  <dcterms:modified xsi:type="dcterms:W3CDTF">2025-02-05T17:12:00Z</dcterms:modified>
</cp:coreProperties>
</file>